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3" r:id="rId13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1e19153e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1e19153e3_2_75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1e19153e3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1e19153e3_2_98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1e19153e3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1e19153e3_2_203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1e19153e3_2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1e19153e3_2_25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1e19153e3_2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1e19153e3_2_31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1e19153e3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1e19153e3_2_384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1e19153e3_2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1e19153e3_2_44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381000" y="1047750"/>
            <a:ext cx="83820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4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Scaling Care at Fakeeh.</a:t>
            </a:r>
            <a:endParaRPr b="0" sz="4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28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rPr>
              <a:t>Powered by Amigo.</a:t>
            </a:r>
            <a:endParaRPr b="0" sz="28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0"/>
              </a:spcBef>
              <a:spcAft>
                <a:spcPts val="750"/>
              </a:spcAft>
              <a:buNone/>
            </a:pPr>
            <a:r>
              <a:rPr b="0" lang="en" sz="13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How Amigo's patient-facing clinical AI agents can multiply Fakeeh Care Group's capacity without scaling headcount.</a:t>
            </a:r>
            <a:endParaRPr b="0" sz="13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81000" y="3619500"/>
            <a:ext cx="2476500" cy="514500"/>
            <a:chOff x="0" y="0"/>
            <a:chExt cx="2476500" cy="5145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Fakeeh Care Group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3"/>
          <p:cNvGrpSpPr/>
          <p:nvPr/>
        </p:nvGrpSpPr>
        <p:grpSpPr>
          <a:xfrm>
            <a:off x="3048000" y="3619500"/>
            <a:ext cx="2476500" cy="514500"/>
            <a:chOff x="0" y="0"/>
            <a:chExt cx="2476500" cy="514500"/>
          </a:xfrm>
        </p:grpSpPr>
        <p:sp>
          <p:nvSpPr>
            <p:cNvPr id="91" name="Google Shape;91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Amigo AI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5715000" y="3619500"/>
            <a:ext cx="2476500" cy="514500"/>
            <a:chOff x="0" y="0"/>
            <a:chExt cx="2476500" cy="5145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Dubai Vision 2030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3D"/>
                </a:solidFill>
                <a:latin typeface="Georgia"/>
              </a:rPr>
              <a:t>Fakeeh Care Group —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8"/>
                </a:solidFill>
                <a:latin typeface="Calibri"/>
              </a:rPr>
              <a:t>Dubai's leading private healthcare network — delivering world-class care since 1978.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52144"/>
            <a:ext cx="8503920" cy="13800"/>
          </a:xfrm>
          <a:prstGeom prst="rect">
            <a:avLst/>
          </a:prstGeom>
          <a:solidFill>
            <a:srgbClr val="CCC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1.89M+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Patients/year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2304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4,500+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Beds &amp; growing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4568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Doctors, 50+ specialties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2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31+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Facilities across UAE &amp;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What They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Multi-specialty tertiary &amp; quaternary care across medicine, surgery, oncology, neuroscience, and women's health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Primary care network — 22 Medicentres clinics across Dubai and the Northern Emirates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Advanced diagnostics: CAP-accredited labs, imaging, and robotic surgery programs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Academic &amp; research hospital: Fakeeh University Hospital (Dubai Silicon Oasis) — DHA accredited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Telehealth &amp; digital health programs serving remote and expatriate populations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Scale &amp;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Flagship: Fakeeh University Hospital, Dubai — 450+ beds, 24/7 emergency &amp; ICU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4 hospitals today → 7 hospitals by 2028 (1,675 beds target)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AED 500M+ HEAL Neuroscience Centre under construction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JCI Accredited (6th consecutive time) · ANCC Magnet Nursing Recognition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Listed on Tadawul (4017/FAKEEHCA) since June 2024 — SAR 3.1B revenue FY2025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27448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A78"/>
                </a:solidFill>
                <a:latin typeface="Calibri"/>
              </a:rPr>
              <a:t>Fakeeh Care Group is expanding rapidly across Dubai and the GCC — with the patient volume, infrastructure, and ambition to make AI-powered care transformation both timely and impactful.</a:t>
            </a:r>
          </a:p>
        </p:txBody>
      </p: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308687" y="445770"/>
            <a:ext cx="4801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About Amigo</a:t>
            </a:r>
            <a:endParaRPr sz="1100"/>
          </a:p>
        </p:txBody>
      </p:sp>
      <p:sp>
        <p:nvSpPr>
          <p:cNvPr id="106" name="Google Shape;106;p14"/>
          <p:cNvSpPr txBox="1"/>
          <p:nvPr/>
        </p:nvSpPr>
        <p:spPr>
          <a:xfrm>
            <a:off x="308687" y="857250"/>
            <a:ext cx="514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 u="none" cap="none" strike="noStrike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The trusted platform for building, training, and deploying patient-facing clinical AI agents.</a:t>
            </a:r>
            <a:endParaRPr sz="1100"/>
          </a:p>
        </p:txBody>
      </p:sp>
      <p:sp>
        <p:nvSpPr>
          <p:cNvPr id="107" name="Google Shape;107;p14"/>
          <p:cNvSpPr/>
          <p:nvPr/>
        </p:nvSpPr>
        <p:spPr>
          <a:xfrm>
            <a:off x="308687" y="1220724"/>
            <a:ext cx="8505900" cy="1380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304800" y="1314450"/>
            <a:ext cx="3981600" cy="3162300"/>
            <a:chOff x="0" y="0"/>
            <a:chExt cx="3981600" cy="3162300"/>
          </a:xfrm>
        </p:grpSpPr>
        <p:grpSp>
          <p:nvGrpSpPr>
            <p:cNvPr id="109" name="Google Shape;109;p14"/>
            <p:cNvGrpSpPr/>
            <p:nvPr/>
          </p:nvGrpSpPr>
          <p:grpSpPr>
            <a:xfrm>
              <a:off x="0" y="0"/>
              <a:ext cx="3981600" cy="571500"/>
              <a:chOff x="0" y="0"/>
              <a:chExt cx="3981600" cy="571500"/>
            </a:xfrm>
          </p:grpSpPr>
          <p:sp>
            <p:nvSpPr>
              <p:cNvPr id="110" name="Google Shape;11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capacity outpaced by demand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$1M / yr / provider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4" name="Google Shape;114;p14"/>
            <p:cNvGrpSpPr/>
            <p:nvPr/>
          </p:nvGrpSpPr>
          <p:grpSpPr>
            <a:xfrm>
              <a:off x="0" y="647700"/>
              <a:ext cx="3981600" cy="571500"/>
              <a:chOff x="0" y="0"/>
              <a:chExt cx="3981600" cy="571500"/>
            </a:xfrm>
          </p:grpSpPr>
          <p:sp>
            <p:nvSpPr>
              <p:cNvPr id="115" name="Google Shape;11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43% physician burnout rate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$500K replacement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0" y="1295400"/>
              <a:ext cx="3981600" cy="571500"/>
              <a:chOff x="0" y="0"/>
              <a:chExt cx="3981600" cy="571500"/>
            </a:xfrm>
          </p:grpSpPr>
          <p:sp>
            <p:nvSpPr>
              <p:cNvPr id="120" name="Google Shape;12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 hrs wasted per hour of care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inefficiency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14"/>
            <p:cNvGrpSpPr/>
            <p:nvPr/>
          </p:nvGrpSpPr>
          <p:grpSpPr>
            <a:xfrm>
              <a:off x="0" y="1943100"/>
              <a:ext cx="3981600" cy="571500"/>
              <a:chOff x="0" y="0"/>
              <a:chExt cx="3981600" cy="571500"/>
            </a:xfrm>
          </p:grpSpPr>
          <p:sp>
            <p:nvSpPr>
              <p:cNvPr id="125" name="Google Shape;12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No-shows &amp; cancellations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$200 lost / visit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4"/>
            <p:cNvGrpSpPr/>
            <p:nvPr/>
          </p:nvGrpSpPr>
          <p:grpSpPr>
            <a:xfrm>
              <a:off x="0" y="2590800"/>
              <a:ext cx="3981600" cy="571500"/>
              <a:chOff x="0" y="0"/>
              <a:chExt cx="3981600" cy="571500"/>
            </a:xfrm>
          </p:grpSpPr>
          <p:sp>
            <p:nvSpPr>
              <p:cNvPr id="130" name="Google Shape;13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Cannot influence experience outside visit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$15K LTV lost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34;p14"/>
          <p:cNvGrpSpPr/>
          <p:nvPr/>
        </p:nvGrpSpPr>
        <p:grpSpPr>
          <a:xfrm>
            <a:off x="4533900" y="1314450"/>
            <a:ext cx="4305300" cy="3162300"/>
            <a:chOff x="0" y="0"/>
            <a:chExt cx="4305300" cy="3162300"/>
          </a:xfrm>
        </p:grpSpPr>
        <p:sp>
          <p:nvSpPr>
            <p:cNvPr id="135" name="Google Shape;135;p14"/>
            <p:cNvSpPr/>
            <p:nvPr/>
          </p:nvSpPr>
          <p:spPr>
            <a:xfrm>
              <a:off x="0" y="0"/>
              <a:ext cx="4305300" cy="3162300"/>
            </a:xfrm>
            <a:prstGeom prst="roundRect">
              <a:avLst>
                <a:gd fmla="val 2409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4"/>
            <p:cNvSpPr txBox="1"/>
            <p:nvPr/>
          </p:nvSpPr>
          <p:spPr>
            <a:xfrm>
              <a:off x="228600" y="228600"/>
              <a:ext cx="3848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 expands provider capacity.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7" name="Google Shape;137;p14"/>
            <p:cNvGrpSpPr/>
            <p:nvPr/>
          </p:nvGrpSpPr>
          <p:grpSpPr>
            <a:xfrm>
              <a:off x="228600" y="762000"/>
              <a:ext cx="1809600" cy="952500"/>
              <a:chOff x="0" y="0"/>
              <a:chExt cx="1809600" cy="952500"/>
            </a:xfrm>
          </p:grpSpPr>
          <p:sp>
            <p:nvSpPr>
              <p:cNvPr id="138" name="Google Shape;138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CAPACITY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capacity per provider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4"/>
            <p:cNvGrpSpPr/>
            <p:nvPr/>
          </p:nvGrpSpPr>
          <p:grpSpPr>
            <a:xfrm>
              <a:off x="2266950" y="762000"/>
              <a:ext cx="1809600" cy="952500"/>
              <a:chOff x="0" y="0"/>
              <a:chExt cx="1809600" cy="952500"/>
            </a:xfrm>
          </p:grpSpPr>
          <p:sp>
            <p:nvSpPr>
              <p:cNvPr id="144" name="Google Shape;144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REVENUE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400%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increase in billable revenue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9" name="Google Shape;149;p14"/>
            <p:cNvGrpSpPr/>
            <p:nvPr/>
          </p:nvGrpSpPr>
          <p:grpSpPr>
            <a:xfrm>
              <a:off x="228600" y="1905000"/>
              <a:ext cx="1809600" cy="952500"/>
              <a:chOff x="0" y="0"/>
              <a:chExt cx="1809600" cy="952500"/>
            </a:xfrm>
          </p:grpSpPr>
          <p:sp>
            <p:nvSpPr>
              <p:cNvPr id="150" name="Google Shape;150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2C6E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OUTCOMES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25%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lift in outcome measures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4"/>
            <p:cNvGrpSpPr/>
            <p:nvPr/>
          </p:nvGrpSpPr>
          <p:grpSpPr>
            <a:xfrm>
              <a:off x="2266950" y="1905000"/>
              <a:ext cx="1809600" cy="952500"/>
              <a:chOff x="0" y="0"/>
              <a:chExt cx="1809600" cy="952500"/>
            </a:xfrm>
          </p:grpSpPr>
          <p:sp>
            <p:nvSpPr>
              <p:cNvPr id="156" name="Google Shape;156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4A3A7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ROI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22.2x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total return on investment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61" name="Google Shape;161;p14"/>
          <p:cNvSpPr txBox="1"/>
          <p:nvPr/>
        </p:nvSpPr>
        <p:spPr>
          <a:xfrm>
            <a:off x="274389" y="4924044"/>
            <a:ext cx="857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  ·  Backed by General Catalyst, GSV Ventures, Madrona Ventures &amp; United Healthcare  ·  $20M raised</a:t>
            </a:r>
            <a:endParaRPr sz="1100"/>
          </a:p>
        </p:txBody>
      </p:sp>
      <p:pic>
        <p:nvPicPr>
          <p:cNvPr id="162" name="Google Shape;162;p14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304800" y="187263"/>
            <a:ext cx="8534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Fakeeh faces deep, systemic challenges — and these are just a few</a:t>
            </a:r>
            <a:endParaRPr b="0" sz="2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Beyond capacity constraints, Fakeeh navigates complexity across patient engagement, multilingual care, chronic disease, home health, and rapid multi-site expansion — each requiring a tailored, scalable solution.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5"/>
          <p:cNvGrpSpPr/>
          <p:nvPr/>
        </p:nvGrpSpPr>
        <p:grpSpPr>
          <a:xfrm>
            <a:off x="304800" y="1285875"/>
            <a:ext cx="8534400" cy="3286200"/>
            <a:chOff x="0" y="0"/>
            <a:chExt cx="8534400" cy="3286200"/>
          </a:xfrm>
        </p:grpSpPr>
        <p:grpSp>
          <p:nvGrpSpPr>
            <p:cNvPr id="171" name="Google Shape;171;p15"/>
            <p:cNvGrpSpPr/>
            <p:nvPr/>
          </p:nvGrpSpPr>
          <p:grpSpPr>
            <a:xfrm>
              <a:off x="0" y="0"/>
              <a:ext cx="2743200" cy="1571700"/>
              <a:chOff x="0" y="0"/>
              <a:chExt cx="2743200" cy="1571700"/>
            </a:xfrm>
          </p:grpSpPr>
          <p:sp>
            <p:nvSpPr>
              <p:cNvPr id="172" name="Google Shape;17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Explosive Patient Volume Growth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patients growing 8%+ YoY. Clinical staff cannot scale at the same pace.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$1M annual revenue lost / provider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5"/>
            <p:cNvGrpSpPr/>
            <p:nvPr/>
          </p:nvGrpSpPr>
          <p:grpSpPr>
            <a:xfrm>
              <a:off x="2895600" y="0"/>
              <a:ext cx="2743200" cy="1571700"/>
              <a:chOff x="0" y="0"/>
              <a:chExt cx="2743200" cy="1571700"/>
            </a:xfrm>
          </p:grpSpPr>
          <p:sp>
            <p:nvSpPr>
              <p:cNvPr id="176" name="Google Shape;176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 Gap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discharges annually. Systematic follow-ups for recovery are operationally impossible.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$200 lost per unfilled visit from no-shows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9" name="Google Shape;179;p15"/>
            <p:cNvGrpSpPr/>
            <p:nvPr/>
          </p:nvGrpSpPr>
          <p:grpSpPr>
            <a:xfrm>
              <a:off x="5791200" y="0"/>
              <a:ext cx="2743200" cy="1571700"/>
              <a:chOff x="0" y="0"/>
              <a:chExt cx="2743200" cy="1571700"/>
            </a:xfrm>
          </p:grpSpPr>
          <p:sp>
            <p:nvSpPr>
              <p:cNvPr id="180" name="Google Shape;180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Multi-Language Population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Dubai serves a highly diverse population requiring care in Arabic, English, Urdu, Tagalog, and Hindi.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2 hours wasted per hour of patient care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" name="Google Shape;183;p15"/>
            <p:cNvGrpSpPr/>
            <p:nvPr/>
          </p:nvGrpSpPr>
          <p:grpSpPr>
            <a:xfrm>
              <a:off x="0" y="1714500"/>
              <a:ext cx="2743200" cy="1571700"/>
              <a:chOff x="0" y="0"/>
              <a:chExt cx="2743200" cy="1571700"/>
            </a:xfrm>
          </p:grpSpPr>
          <p:sp>
            <p:nvSpPr>
              <p:cNvPr id="184" name="Google Shape;184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Rapid Multi-Site Expansion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c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aling to 7 hospitals and 9 medical centers by 2028 requires replicating engagement operations.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43% physician burnout rate nationally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7" name="Google Shape;187;p15"/>
            <p:cNvGrpSpPr/>
            <p:nvPr/>
          </p:nvGrpSpPr>
          <p:grpSpPr>
            <a:xfrm>
              <a:off x="2895600" y="1714500"/>
              <a:ext cx="2743200" cy="1571700"/>
              <a:chOff x="0" y="0"/>
              <a:chExt cx="2743200" cy="1571700"/>
            </a:xfrm>
          </p:grpSpPr>
          <p:sp>
            <p:nvSpPr>
              <p:cNvPr id="188" name="Google Shape;188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Chronic Disease Management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With 50+ specialties, managing ongoing engagement for chronic conditions consumes excessive bandwidth.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$15K LTV lost per patient drop-off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" name="Google Shape;191;p15"/>
            <p:cNvGrpSpPr/>
            <p:nvPr/>
          </p:nvGrpSpPr>
          <p:grpSpPr>
            <a:xfrm>
              <a:off x="5791200" y="1714500"/>
              <a:ext cx="2743200" cy="1571700"/>
              <a:chOff x="0" y="0"/>
              <a:chExt cx="2743200" cy="1571700"/>
            </a:xfrm>
          </p:grpSpPr>
          <p:sp>
            <p:nvSpPr>
              <p:cNvPr id="192" name="Google Shape;19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Missed Quality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 Healthcare Coordination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panning 6 cities, remote monitoring relies on manual outreach, creating inconsistent experiences.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Missed quality measures from care gaps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95" name="Google Shape;195;p15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Rectangle 19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20040" y="46634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These 6 challenges are the tip of the iceberg — Fakeeh also contends with referral leakage, insurance pre-authorization delays, provider onboarding complexity, and post-discharge readmission risk. Amigo's platform is built to address the full spectrum.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304800" y="438150"/>
            <a:ext cx="8534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Amigo's answer to every Fakeeh challenge</a:t>
            </a:r>
            <a:endParaRPr b="0" sz="21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Each AI agent is purpose-built to solve a specific operational or clinical pain point identified at Fakeeh.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6"/>
          <p:cNvGrpSpPr/>
          <p:nvPr/>
        </p:nvGrpSpPr>
        <p:grpSpPr>
          <a:xfrm>
            <a:off x="304800" y="1190625"/>
            <a:ext cx="8534400" cy="1666800"/>
            <a:chOff x="0" y="0"/>
            <a:chExt cx="8534400" cy="1666800"/>
          </a:xfrm>
        </p:grpSpPr>
        <p:grpSp>
          <p:nvGrpSpPr>
            <p:cNvPr id="203" name="Google Shape;203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04" name="Google Shape;204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Proactive Outreach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Lost Revenue &amp; Unfilled Schedules — AI reactivates dormant patients, fills gaps, and books appointments without front-desk involvement.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Scheduling &amp; Reminders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Explosive Volume Growth — cuts no-shows by 50% and absorbs 1.89M+ annual patients without adding headcount.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1" name="Google Shape;211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12" name="Google Shape;212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Intake &amp; Triage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Costs &amp; Inefficiency — eliminates 2 hrs of admin waste per patient hour; routes to the right specialty in seconds.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" name="Google Shape;215;p16"/>
            <p:cNvGrpSpPr/>
            <p:nvPr/>
          </p:nvGrpSpPr>
          <p:grpSpPr>
            <a:xfrm>
              <a:off x="6515100" y="0"/>
              <a:ext cx="2019300" cy="1666800"/>
              <a:chOff x="0" y="0"/>
              <a:chExt cx="2019300" cy="1666800"/>
            </a:xfrm>
          </p:grpSpPr>
          <p:sp>
            <p:nvSpPr>
              <p:cNvPr id="216" name="Google Shape;216;p16"/>
              <p:cNvSpPr/>
              <p:nvPr/>
            </p:nvSpPr>
            <p:spPr>
              <a:xfrm>
                <a:off x="0" y="0"/>
                <a:ext cx="20193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Multilingual Patient Education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Multi-Language Population — delivers pre-visit prep in Arabic, English, Urdu, Tagalog, Hindi and 100+ languages.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9" name="Google Shape;219;p16"/>
          <p:cNvGrpSpPr/>
          <p:nvPr/>
        </p:nvGrpSpPr>
        <p:grpSpPr>
          <a:xfrm>
            <a:off x="304800" y="3000375"/>
            <a:ext cx="8391675" cy="1666800"/>
            <a:chOff x="0" y="0"/>
            <a:chExt cx="8391675" cy="1666800"/>
          </a:xfrm>
        </p:grpSpPr>
        <p:grpSp>
          <p:nvGrpSpPr>
            <p:cNvPr id="220" name="Google Shape;220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21" name="Google Shape;221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05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Copilot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Turnover &amp; Burnout — arms 900+ Fakeeh doctors with AI clinical decision support, cutting cognitive load and reducing 43% burnout rate.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4" name="Google Shape;224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06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Patient Drop-Off &amp; Referral Leakage — automated follow-ups capture the $15K LTV lost per drop-off and close referral loops.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8" name="Google Shape;228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29" name="Google Shape;229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07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24/7 Chronic Disease Care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Chronic Disease Management — continuous engagement for high-volume chronic patients across 50+ specialties without consuming provider bandwidth.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16"/>
            <p:cNvGrpSpPr/>
            <p:nvPr/>
          </p:nvGrpSpPr>
          <p:grpSpPr>
            <a:xfrm>
              <a:off x="6515100" y="0"/>
              <a:ext cx="1876575" cy="1666800"/>
              <a:chOff x="0" y="0"/>
              <a:chExt cx="1876575" cy="1666800"/>
            </a:xfrm>
          </p:grpSpPr>
          <p:sp>
            <p:nvSpPr>
              <p:cNvPr id="233" name="Google Shape;23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08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RPM &amp; Home Health AI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Home Healthcare Coordination &amp; Readmission Risk — remote monitoring across 6 cities with proactive flagging of at-risk patients.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6" name="Google Shape;236;p16"/>
          <p:cNvSpPr txBox="1"/>
          <p:nvPr/>
        </p:nvSpPr>
        <p:spPr>
          <a:xfrm>
            <a:off x="274320" y="4924425"/>
            <a:ext cx="8595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</a:t>
            </a:r>
            <a:endParaRPr sz="8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6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17"/>
          <p:cNvGrpSpPr/>
          <p:nvPr/>
        </p:nvGrpSpPr>
        <p:grpSpPr>
          <a:xfrm>
            <a:off x="304725" y="211038"/>
            <a:ext cx="8534550" cy="809700"/>
            <a:chOff x="0" y="0"/>
            <a:chExt cx="8534550" cy="809700"/>
          </a:xfrm>
        </p:grpSpPr>
        <p:sp>
          <p:nvSpPr>
            <p:cNvPr id="245" name="Google Shape;245;p17"/>
            <p:cNvSpPr txBox="1"/>
            <p:nvPr/>
          </p:nvSpPr>
          <p:spPr>
            <a:xfrm>
              <a:off x="0" y="0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Care Journey</a:t>
              </a:r>
              <a:endParaRPr b="1" sz="10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One patient. Six slide-4 challenges. Resolved at every touchpoint.</a:t>
              </a:r>
              <a:endParaRPr b="1" sz="2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7"/>
            <p:cNvSpPr/>
            <p:nvPr/>
          </p:nvSpPr>
          <p:spPr>
            <a:xfrm>
              <a:off x="4476750" y="0"/>
              <a:ext cx="4057800" cy="743100"/>
            </a:xfrm>
            <a:prstGeom prst="roundRect">
              <a:avLst>
                <a:gd fmla="val 7692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7"/>
            <p:cNvSpPr txBox="1"/>
            <p:nvPr/>
          </p:nvSpPr>
          <p:spPr>
            <a:xfrm>
              <a:off x="4619625" y="95250"/>
              <a:ext cx="3771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Ahmed's journey shows Amigo's agents eliminating Fakeeh's exact pain points — step by step.</a:t>
              </a:r>
              <a:endParaRPr b="1" sz="9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Ahmed, 58 • Diabetic &amp; hypertensive • Regular patient</a:t>
              </a:r>
              <a:endParaRPr sz="8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Powered by Amigo</a:t>
              </a:r>
              <a:endParaRPr i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p17"/>
          <p:cNvGrpSpPr/>
          <p:nvPr/>
        </p:nvGrpSpPr>
        <p:grpSpPr>
          <a:xfrm>
            <a:off x="304800" y="1190625"/>
            <a:ext cx="1600200" cy="3257700"/>
            <a:chOff x="0" y="0"/>
            <a:chExt cx="1600200" cy="3257700"/>
          </a:xfrm>
        </p:grpSpPr>
        <p:sp>
          <p:nvSpPr>
            <p:cNvPr id="249" name="Google Shape;249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/ Outreach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"Ahmed, you're overdue for a diabetes check. I've found a Thursday slot at Fakeeh University Hospital — want me to book it?"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Lost Revenue: dormant patient reactivated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Unfilled Schedules: slot filled with no front-desk effort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Proactive Outreach (Slide 5 · #01)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38350" y="1190625"/>
            <a:ext cx="1600200" cy="3257700"/>
            <a:chOff x="0" y="0"/>
            <a:chExt cx="1600200" cy="3257700"/>
          </a:xfrm>
        </p:grpSpPr>
        <p:sp>
          <p:nvSpPr>
            <p:cNvPr id="255" name="Google Shape;255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/ Pre-Visit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appointment is tomorrow, Ahmed. Any new symptoms? Here's your prep checklist in Arabic — Dr. Al-Mansoori will be ready."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Volume Growth: intake automated, front-desk freed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Multi-Language: prep delivered in Arabic, auto-detected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Scheduling #02 · Multilingual Education #04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7"/>
          <p:cNvGrpSpPr/>
          <p:nvPr/>
        </p:nvGrpSpPr>
        <p:grpSpPr>
          <a:xfrm>
            <a:off x="3771900" y="1190625"/>
            <a:ext cx="1600200" cy="3257700"/>
            <a:chOff x="0" y="0"/>
            <a:chExt cx="1600200" cy="3257700"/>
          </a:xfrm>
        </p:grpSpPr>
        <p:sp>
          <p:nvSpPr>
            <p:cNvPr id="261" name="Google Shape;261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/ 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Clinical Team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Dr. Al-Mansoori walks in fully briefed — HbA1c trend, flagged care gaps, and suggested next steps already surfaced by Amigo.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Burnout: cognitive load offloaded from physician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High Turnover: new doctors onboard faster with AI support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Provider Copilot (Slide 5 · #05)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p17"/>
          <p:cNvGrpSpPr/>
          <p:nvPr/>
        </p:nvGrpSpPr>
        <p:grpSpPr>
          <a:xfrm>
            <a:off x="5505450" y="1190625"/>
            <a:ext cx="1600200" cy="3257700"/>
            <a:chOff x="0" y="0"/>
            <a:chExt cx="1600200" cy="3257700"/>
          </a:xfrm>
        </p:grpSpPr>
        <p:sp>
          <p:nvSpPr>
            <p:cNvPr id="267" name="Google Shape;267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/ Post-Visit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A1C is 7.2 — manageable, Ahmed! Dr. Al-Mansoori adjusted your Metformin. Dietitian appointment booked. Reply anytime."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Drop-Off: $15K LTV retained per patient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Referral Leakage: dietitian referral closed in the same conversation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Post-Visit Follow-Up (Slide 5 · #06)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2" name="Google Shape;272;p17"/>
          <p:cNvGrpSpPr/>
          <p:nvPr/>
        </p:nvGrpSpPr>
        <p:grpSpPr>
          <a:xfrm>
            <a:off x="7239000" y="1190625"/>
            <a:ext cx="1600200" cy="3257700"/>
            <a:chOff x="0" y="0"/>
            <a:chExt cx="1600200" cy="3257700"/>
          </a:xfrm>
        </p:grpSpPr>
        <p:sp>
          <p:nvSpPr>
            <p:cNvPr id="273" name="Google Shape;273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/ Ongoing &amp; Remote Care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"Great week, Ahmed — steps goal hit! HbA1c trending down. Any issues with the new dose? Your home-monitoring data looks stable."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Chronic Disease: continuous engagement without provider bandwidth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Home Health: RPM data from 6 cities monitored, at-risk flagged early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24/7 Chronic Care #07 · RPM &amp; Home Health AI #08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78" name="Google Shape;278;p17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381000" y="29115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The Amigo advantage</a:t>
            </a:r>
            <a:endParaRPr b="1" sz="24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Why Amigo — not a generic chatbot, not a point solution.</a:t>
            </a:r>
            <a:endParaRPr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p18"/>
          <p:cNvGrpSpPr/>
          <p:nvPr/>
        </p:nvGrpSpPr>
        <p:grpSpPr>
          <a:xfrm>
            <a:off x="381000" y="1190625"/>
            <a:ext cx="8382000" cy="3200550"/>
            <a:chOff x="0" y="0"/>
            <a:chExt cx="8382000" cy="3200550"/>
          </a:xfrm>
        </p:grpSpPr>
        <p:sp>
          <p:nvSpPr>
            <p:cNvPr id="286" name="Google Shape;286;p18"/>
            <p:cNvSpPr/>
            <p:nvPr/>
          </p:nvSpPr>
          <p:spPr>
            <a:xfrm>
              <a:off x="0" y="0"/>
              <a:ext cx="8382000" cy="285900"/>
            </a:xfrm>
            <a:prstGeom prst="roundRect">
              <a:avLst>
                <a:gd fmla="val 13333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 txBox="1"/>
            <p:nvPr/>
          </p:nvSpPr>
          <p:spPr>
            <a:xfrm>
              <a:off x="190500" y="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 Capability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18"/>
            <p:cNvSpPr txBox="1"/>
            <p:nvPr/>
          </p:nvSpPr>
          <p:spPr>
            <a:xfrm>
              <a:off x="51435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18"/>
            <p:cNvSpPr txBox="1"/>
            <p:nvPr/>
          </p:nvSpPr>
          <p:spPr>
            <a:xfrm>
              <a:off x="68580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A0B0C0"/>
                  </a:solidFill>
                  <a:latin typeface="Calibri"/>
                  <a:ea typeface="Calibri"/>
                  <a:cs typeface="Calibri"/>
                  <a:sym typeface="Calibri"/>
                </a:rPr>
                <a:t>Other Agents</a:t>
              </a:r>
              <a:endParaRPr b="1" sz="1100">
                <a:solidFill>
                  <a:srgbClr val="A0B0C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0" name="Google Shape;290;p18"/>
            <p:cNvGrpSpPr/>
            <p:nvPr/>
          </p:nvGrpSpPr>
          <p:grpSpPr>
            <a:xfrm>
              <a:off x="0" y="342900"/>
              <a:ext cx="8382000" cy="324000"/>
              <a:chOff x="0" y="0"/>
              <a:chExt cx="8382000" cy="324000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One unified platform for all agent use cases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7" name="Google Shape;297;p18"/>
            <p:cNvGrpSpPr/>
            <p:nvPr/>
          </p:nvGrpSpPr>
          <p:grpSpPr>
            <a:xfrm>
              <a:off x="0" y="704850"/>
              <a:ext cx="8382000" cy="324000"/>
              <a:chOff x="0" y="0"/>
              <a:chExt cx="8382000" cy="324000"/>
            </a:xfrm>
          </p:grpSpPr>
          <p:sp>
            <p:nvSpPr>
              <p:cNvPr id="298" name="Google Shape;298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Custom-built for your patient population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0" name="Google Shape;300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4" name="Google Shape;304;p18"/>
            <p:cNvGrpSpPr/>
            <p:nvPr/>
          </p:nvGrpSpPr>
          <p:grpSpPr>
            <a:xfrm>
              <a:off x="0" y="1066800"/>
              <a:ext cx="8382000" cy="324000"/>
              <a:chOff x="0" y="0"/>
              <a:chExt cx="8382000" cy="324000"/>
            </a:xfrm>
          </p:grpSpPr>
          <p:sp>
            <p:nvSpPr>
              <p:cNvPr id="305" name="Google Shape;305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Deploy in weeks with deep EHR integrations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8"/>
            <p:cNvGrpSpPr/>
            <p:nvPr/>
          </p:nvGrpSpPr>
          <p:grpSpPr>
            <a:xfrm>
              <a:off x="0" y="1428750"/>
              <a:ext cx="8382000" cy="324000"/>
              <a:chOff x="0" y="0"/>
              <a:chExt cx="8382000" cy="324000"/>
            </a:xfrm>
          </p:grpSpPr>
          <p:sp>
            <p:nvSpPr>
              <p:cNvPr id="312" name="Google Shape;312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Dedicated Agent Engineer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5" name="Google Shape;315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7" name="Google Shape;317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8" name="Google Shape;318;p18"/>
            <p:cNvGrpSpPr/>
            <p:nvPr/>
          </p:nvGrpSpPr>
          <p:grpSpPr>
            <a:xfrm>
              <a:off x="0" y="1790700"/>
              <a:ext cx="8382000" cy="324000"/>
              <a:chOff x="0" y="0"/>
              <a:chExt cx="8382000" cy="324000"/>
            </a:xfrm>
          </p:grpSpPr>
          <p:sp>
            <p:nvSpPr>
              <p:cNvPr id="319" name="Google Shape;319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Transparent and auditable reasoning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" name="Google Shape;323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5" name="Google Shape;325;p18"/>
            <p:cNvGrpSpPr/>
            <p:nvPr/>
          </p:nvGrpSpPr>
          <p:grpSpPr>
            <a:xfrm>
              <a:off x="0" y="2152650"/>
              <a:ext cx="8382000" cy="324000"/>
              <a:chOff x="0" y="0"/>
              <a:chExt cx="8382000" cy="324000"/>
            </a:xfrm>
          </p:grpSpPr>
          <p:sp>
            <p:nvSpPr>
              <p:cNvPr id="326" name="Google Shape;326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Simulation-validated evaluations (Digital Residency™)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8" name="Google Shape;328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18"/>
            <p:cNvGrpSpPr/>
            <p:nvPr/>
          </p:nvGrpSpPr>
          <p:grpSpPr>
            <a:xfrm>
              <a:off x="0" y="2514600"/>
              <a:ext cx="8382000" cy="324000"/>
              <a:chOff x="0" y="0"/>
              <a:chExt cx="8382000" cy="324000"/>
            </a:xfrm>
          </p:grpSpPr>
          <p:sp>
            <p:nvSpPr>
              <p:cNvPr id="333" name="Google Shape;333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Continuous agent self-improvement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0" y="2876550"/>
              <a:ext cx="8382000" cy="324000"/>
              <a:chOff x="0" y="0"/>
              <a:chExt cx="8382000" cy="3240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own all agent IP and patient data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346" name="Google Shape;346;p18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550" y="4791875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476250" y="1333500"/>
            <a:ext cx="2571900" cy="1095300"/>
            <a:chOff x="0" y="0"/>
            <a:chExt cx="2571900" cy="1095300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286125" y="1333500"/>
            <a:ext cx="2571900" cy="1095300"/>
            <a:chOff x="0" y="0"/>
            <a:chExt cx="2571900" cy="1095300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6096000" y="1333500"/>
            <a:ext cx="2571900" cy="1095300"/>
            <a:chOff x="0" y="0"/>
            <a:chExt cx="2571900" cy="1095300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476250" y="2619375"/>
            <a:ext cx="2571900" cy="1095300"/>
            <a:chOff x="0" y="0"/>
            <a:chExt cx="2571900" cy="1095300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3286125" y="2619375"/>
            <a:ext cx="2571900" cy="1095300"/>
            <a:chOff x="0" y="0"/>
            <a:chExt cx="2571900" cy="1095300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6096000" y="2619375"/>
            <a:ext cx="2571900" cy="1095300"/>
            <a:chOff x="0" y="0"/>
            <a:chExt cx="2571900" cy="1095300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Fakeeh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