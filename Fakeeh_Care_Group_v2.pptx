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Relationship Id="rId14" Type="http://schemas.openxmlformats.org/officeDocument/2006/relationships/slide" Target="slides/slide9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Amigo's answer to every Fakeeh challenge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Each AI agent is purpose-built to solve a specific operational or clinical pain point identified at Fakeeh.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Lost Revenue &amp; Unfilled Schedules — AI reactivates dormant patients, fills gaps, and books appointments without front-desk involvement.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Explosive Volume Growth — cuts no-shows by 50% and absorbs 1.89M+ annual patients without adding headcount.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Costs &amp; Inefficiency — eliminates 2 hrs of admin waste per patient hour; routes to the right specialty in seconds.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Multilingual 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Multi-Language Population — delivers pre-visit prep in Arabic, English, Urdu, Tagalog, Hindi and 100+ languages.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Turnover &amp; Burnout — arms 900+ Fakeeh doctors with AI clinical decision support, cutting cognitive load and reducing 43% burnout rate.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Patient Drop-Off &amp; Referral Leakage — automated follow-ups capture the $15K LTV lost per drop-off and close referral loops.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24/7 Chronic Disease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Chronic Disease Management — continuous engagement for high-volume chronic patients across 50+ specialties without consuming provider bandwidth.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Home Health AI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Home Healthcare Coordination &amp; Readmission Risk — remote monitoring across 6 cities with proactive flagging of at-risk patients.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patient. Six slide-4 challenges. Resolved at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journey shows Amigo's agents eliminating Fakeeh's exact pain points — step by step.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Outreach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Thursday slot at Fakeeh University Hospital —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Lost Revenue: dormant patient reactivated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Unfilled Schedules: slot filled with no front-desk effort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Proactive Outreach (Slide 5 · #01)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tomorrow, Ahmed. Any new symptoms? Here's your prep checklist in Arabic — Dr. Al-Mansoori will be ready."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Volume Growth: intake automated, front-desk freed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Multi-Language: prep delivered in Arabic, auto-detected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Scheduling #02 · Multilingual Education #04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walks in fully briefed — HbA1c trend, flagged care gaps, and suggested next steps already surfaced by Amigo.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Burnout: cognitive load offloaded from physician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High Turnover: new doctors onboard faster with AI support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Provider Copilot (Slide 5 · #05)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manageable, Ahmed! Dr. Al-Mansoori adjusted your Metformin. Dietitian appointment booked. Reply anytime."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Drop-Off: $15K LTV retained per patient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Referral Leakage: dietitian referral closed in the same conversation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Post-Visit Follow-Up (Slide 5 · #06)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&amp; Remote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"Great week, Ahmed — steps goal hit! HbA1c trending down. Any issues with the new dose? Your home-monitoring data looks stable."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Chronic Disease: continuous engagement without provider bandwidth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Home Health: RPM data from 6 cities monitored, at-risk flagged early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24/7 Chronic Care #07 · RPM &amp; Home Health AI #08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347472" y="914400"/>
            <a:ext cx="2395728" cy="1115568"/>
            <a:chOff x="0" y="0"/>
            <a:chExt cx="2395728" cy="1115568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47472" y="2148840"/>
            <a:ext cx="2395728" cy="1115568"/>
            <a:chOff x="0" y="0"/>
            <a:chExt cx="2395728" cy="1115568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347472" y="3383280"/>
            <a:ext cx="2395728" cy="1115568"/>
            <a:chOff x="0" y="0"/>
            <a:chExt cx="2395728" cy="1115568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2907792" y="914400"/>
            <a:ext cx="2395728" cy="1115568"/>
            <a:chOff x="0" y="0"/>
            <a:chExt cx="2395728" cy="1115568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2907792" y="2148840"/>
            <a:ext cx="2395728" cy="1115568"/>
            <a:chOff x="0" y="0"/>
            <a:chExt cx="2395728" cy="1115568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2907792" y="3383280"/>
            <a:ext cx="2395728" cy="1115568"/>
            <a:chOff x="0" y="0"/>
            <a:chExt cx="2395728" cy="1115568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you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623560" name="deco_5623560_0"/>
          <p:cNvSpPr>
            <a:spLocks noGrp="1"/>
          </p:cNvSpPr>
          <p:nvPr/>
        </p:nvSpPr>
        <p:spPr>
          <a:xfrm>
            <a:off x="5623560" y="0"/>
            <a:ext cx="3520440" cy="5143500"/>
          </a:xfrm>
          <a:prstGeom prst="rect">
            <a:avLst/>
          </a:prstGeom>
          <a:solidFill>
            <a:srgbClr val="F0EAE6"/>
          </a:solidFill>
          <a:ln>
            <a:noFill/>
          </a:ln>
        </p:spPr>
        <p:txBody>
          <a:bodyPr/>
          <a:lstStyle/>
          <a:p/>
        </p:txBody>
      </p:sp>
      <p:sp>
        <p:nvSpPr>
          <p:cNvPr id="96583680" name="deco_6583680_182880"/>
          <p:cNvSpPr>
            <a:spLocks noGrp="1"/>
          </p:cNvSpPr>
          <p:nvPr/>
        </p:nvSpPr>
        <p:spPr>
          <a:xfrm>
            <a:off x="6583680" y="182880"/>
            <a:ext cx="2377440" cy="2286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989320" name="deco_5989320_1097280"/>
          <p:cNvSpPr>
            <a:spLocks noGrp="1"/>
          </p:cNvSpPr>
          <p:nvPr/>
        </p:nvSpPr>
        <p:spPr>
          <a:xfrm>
            <a:off x="5989320" y="1097280"/>
            <a:ext cx="2011680" cy="182880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2194560"/>
          <p:cNvSpPr>
            <a:spLocks noGrp="1"/>
          </p:cNvSpPr>
          <p:nvPr/>
        </p:nvSpPr>
        <p:spPr>
          <a:xfrm>
            <a:off x="5623560" y="2194560"/>
            <a:ext cx="1737360" cy="164592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182880"/>
          <p:cNvSpPr>
            <a:spLocks noGrp="1"/>
          </p:cNvSpPr>
          <p:nvPr/>
        </p:nvSpPr>
        <p:spPr>
          <a:xfrm>
            <a:off x="5623560" y="182880"/>
            <a:ext cx="822960" cy="100584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3840480"/>
          <p:cNvSpPr>
            <a:spLocks noGrp="1"/>
          </p:cNvSpPr>
          <p:nvPr/>
        </p:nvSpPr>
        <p:spPr>
          <a:xfrm>
            <a:off x="5623560" y="3840480"/>
            <a:ext cx="3520440" cy="128016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6858000" name="deco_6858000_2926080"/>
          <p:cNvSpPr>
            <a:spLocks noGrp="1"/>
          </p:cNvSpPr>
          <p:nvPr/>
        </p:nvSpPr>
        <p:spPr>
          <a:xfrm>
            <a:off x="6858000" y="2926080"/>
            <a:ext cx="2286000" cy="1828800"/>
          </a:xfrm>
          <a:prstGeom prst="rect">
            <a:avLst/>
          </a:prstGeom>
          <a:solidFill>
            <a:srgbClr val="D4604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476250" y="1333500"/>
            <a:ext cx="2571900" cy="1095300"/>
            <a:chOff x="0" y="0"/>
            <a:chExt cx="2571900" cy="1095300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286125" y="1333500"/>
            <a:ext cx="2571900" cy="1095300"/>
            <a:chOff x="0" y="0"/>
            <a:chExt cx="2571900" cy="1095300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6096000" y="1333500"/>
            <a:ext cx="2571900" cy="1095300"/>
            <a:chOff x="0" y="0"/>
            <a:chExt cx="2571900" cy="1095300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476250" y="2619375"/>
            <a:ext cx="2571900" cy="1095300"/>
            <a:chOff x="0" y="0"/>
            <a:chExt cx="2571900" cy="10953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3286125" y="2619375"/>
            <a:ext cx="2571900" cy="1095300"/>
            <a:chOff x="0" y="0"/>
            <a:chExt cx="2571900" cy="10953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6096000" y="2619375"/>
            <a:ext cx="2571900" cy="1095300"/>
            <a:chOff x="0" y="0"/>
            <a:chExt cx="2571900" cy="1095300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Fakeeh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476250" y="1333500"/>
            <a:ext cx="2571900" cy="1095300"/>
            <a:chOff x="0" y="0"/>
            <a:chExt cx="2571900" cy="1095300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286125" y="1333500"/>
            <a:ext cx="2571900" cy="1095300"/>
            <a:chOff x="0" y="0"/>
            <a:chExt cx="2571900" cy="1095300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6096000" y="1333500"/>
            <a:ext cx="2571900" cy="1095300"/>
            <a:chOff x="0" y="0"/>
            <a:chExt cx="2571900" cy="1095300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476250" y="2619375"/>
            <a:ext cx="2571900" cy="1095300"/>
            <a:chOff x="0" y="0"/>
            <a:chExt cx="2571900" cy="10953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3286125" y="2619375"/>
            <a:ext cx="2571900" cy="1095300"/>
            <a:chOff x="0" y="0"/>
            <a:chExt cx="2571900" cy="10953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6096000" y="2619375"/>
            <a:ext cx="2571900" cy="1095300"/>
            <a:chOff x="0" y="0"/>
            <a:chExt cx="2571900" cy="1095300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Fakeeh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