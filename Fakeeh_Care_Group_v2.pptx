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3" r:id="rId13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1e19153e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1e19153e3_2_75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1e19153e3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1e19153e3_2_98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1e19153e3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1e19153e3_2_203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e19153e3_2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1e19153e3_2_259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1e19153e3_2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1e19153e3_2_319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1e19153e3_2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1e19153e3_2_384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1e19153e3_2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1e19153e3_2_449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81000" y="1047750"/>
            <a:ext cx="83820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Scaling Care at Fakeeh.</a:t>
            </a:r>
            <a:endParaRPr b="0" sz="4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B44030"/>
                </a:solidFill>
                <a:latin typeface="Calibri"/>
                <a:ea typeface="Calibri"/>
                <a:cs typeface="Calibri"/>
                <a:sym typeface="Calibri"/>
              </a:rPr>
              <a:t>Powered by Amigo.</a:t>
            </a:r>
            <a:endParaRPr b="0" sz="2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750"/>
              </a:spcAft>
              <a:buNone/>
            </a:pPr>
            <a:r>
              <a:rPr b="0" lang="en" sz="13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How Amigo's patient-facing clinical AI agents can multiply Fakeeh Care Group's capacity without scaling headcount.</a:t>
            </a:r>
            <a:endParaRPr b="0" sz="13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381000" y="3619500"/>
            <a:ext cx="2476500" cy="514500"/>
            <a:chOff x="0" y="0"/>
            <a:chExt cx="2476500" cy="514500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2476500" cy="514500"/>
            </a:xfrm>
            <a:prstGeom prst="roundRect">
              <a:avLst>
                <a:gd fmla="val 11110" name="adj"/>
              </a:avLst>
            </a:prstGeom>
            <a:solidFill>
              <a:srgbClr val="EEEAE2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0" y="0"/>
              <a:ext cx="38100" cy="514500"/>
            </a:xfrm>
            <a:prstGeom prst="roundRect">
              <a:avLst>
                <a:gd fmla="val 50000" name="adj"/>
              </a:avLst>
            </a:prstGeom>
            <a:solidFill>
              <a:srgbClr val="B44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142875" y="0"/>
              <a:ext cx="2190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 Fakeeh Care Group</a:t>
              </a:r>
              <a:endParaRPr b="1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3"/>
          <p:cNvGrpSpPr/>
          <p:nvPr/>
        </p:nvGrpSpPr>
        <p:grpSpPr>
          <a:xfrm>
            <a:off x="3048000" y="3619500"/>
            <a:ext cx="2476500" cy="514500"/>
            <a:chOff x="0" y="0"/>
            <a:chExt cx="2476500" cy="514500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2476500" cy="514500"/>
            </a:xfrm>
            <a:prstGeom prst="roundRect">
              <a:avLst>
                <a:gd fmla="val 11110" name="adj"/>
              </a:avLst>
            </a:prstGeom>
            <a:solidFill>
              <a:srgbClr val="EEEAE2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0" y="0"/>
              <a:ext cx="38100" cy="514500"/>
            </a:xfrm>
            <a:prstGeom prst="roundRect">
              <a:avLst>
                <a:gd fmla="val 50000" name="adj"/>
              </a:avLst>
            </a:prstGeom>
            <a:solidFill>
              <a:srgbClr val="B44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142875" y="0"/>
              <a:ext cx="2190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 Amigo AI</a:t>
              </a:r>
              <a:endParaRPr b="1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5715000" y="3619500"/>
            <a:ext cx="2476500" cy="514500"/>
            <a:chOff x="0" y="0"/>
            <a:chExt cx="2476500" cy="514500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2476500" cy="514500"/>
            </a:xfrm>
            <a:prstGeom prst="roundRect">
              <a:avLst>
                <a:gd fmla="val 11110" name="adj"/>
              </a:avLst>
            </a:prstGeom>
            <a:solidFill>
              <a:srgbClr val="EEEAE2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0" y="0"/>
              <a:ext cx="38100" cy="514500"/>
            </a:xfrm>
            <a:prstGeom prst="roundRect">
              <a:avLst>
                <a:gd fmla="val 50000" name="adj"/>
              </a:avLst>
            </a:prstGeom>
            <a:solidFill>
              <a:srgbClr val="B44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142875" y="0"/>
              <a:ext cx="2190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Dubai Vision 2030</a:t>
              </a:r>
              <a:endParaRPr b="1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3" title="download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1600" y="4628100"/>
            <a:ext cx="966625" cy="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B4403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08687" y="445770"/>
            <a:ext cx="4801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About Amigo</a:t>
            </a:r>
            <a:endParaRPr sz="1100"/>
          </a:p>
        </p:txBody>
      </p:sp>
      <p:sp>
        <p:nvSpPr>
          <p:cNvPr id="106" name="Google Shape;106;p14"/>
          <p:cNvSpPr txBox="1"/>
          <p:nvPr/>
        </p:nvSpPr>
        <p:spPr>
          <a:xfrm>
            <a:off x="308687" y="857250"/>
            <a:ext cx="5144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The trusted platform for building, training, and deploying patient-facing clinical AI agents.</a:t>
            </a:r>
            <a:endParaRPr sz="1100"/>
          </a:p>
        </p:txBody>
      </p:sp>
      <p:sp>
        <p:nvSpPr>
          <p:cNvPr id="107" name="Google Shape;107;p14"/>
          <p:cNvSpPr/>
          <p:nvPr/>
        </p:nvSpPr>
        <p:spPr>
          <a:xfrm>
            <a:off x="308687" y="1220724"/>
            <a:ext cx="8505900" cy="13800"/>
          </a:xfrm>
          <a:prstGeom prst="rect">
            <a:avLst/>
          </a:prstGeom>
          <a:solidFill>
            <a:srgbClr val="C8D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14"/>
          <p:cNvGrpSpPr/>
          <p:nvPr/>
        </p:nvGrpSpPr>
        <p:grpSpPr>
          <a:xfrm>
            <a:off x="304800" y="1314450"/>
            <a:ext cx="3981600" cy="3162300"/>
            <a:chOff x="0" y="0"/>
            <a:chExt cx="3981600" cy="3162300"/>
          </a:xfrm>
        </p:grpSpPr>
        <p:grpSp>
          <p:nvGrpSpPr>
            <p:cNvPr id="109" name="Google Shape;109;p14"/>
            <p:cNvGrpSpPr/>
            <p:nvPr/>
          </p:nvGrpSpPr>
          <p:grpSpPr>
            <a:xfrm>
              <a:off x="0" y="0"/>
              <a:ext cx="3981600" cy="571500"/>
              <a:chOff x="0" y="0"/>
              <a:chExt cx="3981600" cy="571500"/>
            </a:xfrm>
          </p:grpSpPr>
          <p:sp>
            <p:nvSpPr>
              <p:cNvPr id="110" name="Google Shape;110;p14"/>
              <p:cNvSpPr/>
              <p:nvPr/>
            </p:nvSpPr>
            <p:spPr>
              <a:xfrm>
                <a:off x="0" y="0"/>
                <a:ext cx="39816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0" y="0"/>
                <a:ext cx="381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4"/>
              <p:cNvSpPr txBox="1"/>
              <p:nvPr/>
            </p:nvSpPr>
            <p:spPr>
              <a:xfrm>
                <a:off x="152400" y="76200"/>
                <a:ext cx="2286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Lost Revenue</a:t>
                </a:r>
                <a:endParaRPr b="1" sz="100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Provider capacity outpaced by demand</a:t>
                </a:r>
                <a:endParaRPr sz="8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4"/>
              <p:cNvSpPr txBox="1"/>
              <p:nvPr/>
            </p:nvSpPr>
            <p:spPr>
              <a:xfrm>
                <a:off x="2476500" y="76200"/>
                <a:ext cx="1390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$1M / yr / provider</a:t>
                </a:r>
                <a:endParaRPr b="1" sz="10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4"/>
            <p:cNvGrpSpPr/>
            <p:nvPr/>
          </p:nvGrpSpPr>
          <p:grpSpPr>
            <a:xfrm>
              <a:off x="0" y="647700"/>
              <a:ext cx="3981600" cy="571500"/>
              <a:chOff x="0" y="0"/>
              <a:chExt cx="3981600" cy="571500"/>
            </a:xfrm>
          </p:grpSpPr>
          <p:sp>
            <p:nvSpPr>
              <p:cNvPr id="115" name="Google Shape;115;p14"/>
              <p:cNvSpPr/>
              <p:nvPr/>
            </p:nvSpPr>
            <p:spPr>
              <a:xfrm>
                <a:off x="0" y="0"/>
                <a:ext cx="39816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0" y="0"/>
                <a:ext cx="381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4"/>
              <p:cNvSpPr txBox="1"/>
              <p:nvPr/>
            </p:nvSpPr>
            <p:spPr>
              <a:xfrm>
                <a:off x="152400" y="76200"/>
                <a:ext cx="2286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High Turnover</a:t>
                </a:r>
                <a:endParaRPr b="1" sz="100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43% physician burnout rate</a:t>
                </a:r>
                <a:endParaRPr sz="8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4"/>
              <p:cNvSpPr txBox="1"/>
              <p:nvPr/>
            </p:nvSpPr>
            <p:spPr>
              <a:xfrm>
                <a:off x="2476500" y="76200"/>
                <a:ext cx="1390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$500K replacement</a:t>
                </a:r>
                <a:endParaRPr b="1" sz="10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0" y="1295400"/>
              <a:ext cx="3981600" cy="571500"/>
              <a:chOff x="0" y="0"/>
              <a:chExt cx="3981600" cy="571500"/>
            </a:xfrm>
          </p:grpSpPr>
          <p:sp>
            <p:nvSpPr>
              <p:cNvPr id="120" name="Google Shape;120;p14"/>
              <p:cNvSpPr/>
              <p:nvPr/>
            </p:nvSpPr>
            <p:spPr>
              <a:xfrm>
                <a:off x="0" y="0"/>
                <a:ext cx="39816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4"/>
              <p:cNvSpPr/>
              <p:nvPr/>
            </p:nvSpPr>
            <p:spPr>
              <a:xfrm>
                <a:off x="0" y="0"/>
                <a:ext cx="381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4"/>
              <p:cNvSpPr txBox="1"/>
              <p:nvPr/>
            </p:nvSpPr>
            <p:spPr>
              <a:xfrm>
                <a:off x="152400" y="76200"/>
                <a:ext cx="2286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High Costs</a:t>
                </a:r>
                <a:endParaRPr b="1" sz="100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 hrs wasted per hour of care</a:t>
                </a:r>
                <a:endParaRPr sz="8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4"/>
              <p:cNvSpPr txBox="1"/>
              <p:nvPr/>
            </p:nvSpPr>
            <p:spPr>
              <a:xfrm>
                <a:off x="2476500" y="76200"/>
                <a:ext cx="1390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Clinical inefficiency</a:t>
                </a:r>
                <a:endParaRPr b="1" sz="10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14"/>
            <p:cNvGrpSpPr/>
            <p:nvPr/>
          </p:nvGrpSpPr>
          <p:grpSpPr>
            <a:xfrm>
              <a:off x="0" y="1943100"/>
              <a:ext cx="3981600" cy="571500"/>
              <a:chOff x="0" y="0"/>
              <a:chExt cx="3981600" cy="571500"/>
            </a:xfrm>
          </p:grpSpPr>
          <p:sp>
            <p:nvSpPr>
              <p:cNvPr id="125" name="Google Shape;125;p14"/>
              <p:cNvSpPr/>
              <p:nvPr/>
            </p:nvSpPr>
            <p:spPr>
              <a:xfrm>
                <a:off x="0" y="0"/>
                <a:ext cx="39816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4"/>
              <p:cNvSpPr/>
              <p:nvPr/>
            </p:nvSpPr>
            <p:spPr>
              <a:xfrm>
                <a:off x="0" y="0"/>
                <a:ext cx="381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4"/>
              <p:cNvSpPr txBox="1"/>
              <p:nvPr/>
            </p:nvSpPr>
            <p:spPr>
              <a:xfrm>
                <a:off x="152400" y="76200"/>
                <a:ext cx="2286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Unfilled Schedules</a:t>
                </a:r>
                <a:endParaRPr b="1" sz="100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No-shows &amp; cancellations</a:t>
                </a:r>
                <a:endParaRPr sz="8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4"/>
              <p:cNvSpPr txBox="1"/>
              <p:nvPr/>
            </p:nvSpPr>
            <p:spPr>
              <a:xfrm>
                <a:off x="2476500" y="76200"/>
                <a:ext cx="1390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$200 lost / visit</a:t>
                </a:r>
                <a:endParaRPr b="1" sz="10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" name="Google Shape;129;p14"/>
            <p:cNvGrpSpPr/>
            <p:nvPr/>
          </p:nvGrpSpPr>
          <p:grpSpPr>
            <a:xfrm>
              <a:off x="0" y="2590800"/>
              <a:ext cx="3981600" cy="571500"/>
              <a:chOff x="0" y="0"/>
              <a:chExt cx="3981600" cy="571500"/>
            </a:xfrm>
          </p:grpSpPr>
          <p:sp>
            <p:nvSpPr>
              <p:cNvPr id="130" name="Google Shape;130;p14"/>
              <p:cNvSpPr/>
              <p:nvPr/>
            </p:nvSpPr>
            <p:spPr>
              <a:xfrm>
                <a:off x="0" y="0"/>
                <a:ext cx="39816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>
                <a:off x="0" y="0"/>
                <a:ext cx="381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4"/>
              <p:cNvSpPr txBox="1"/>
              <p:nvPr/>
            </p:nvSpPr>
            <p:spPr>
              <a:xfrm>
                <a:off x="152400" y="76200"/>
                <a:ext cx="2286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Patient Drop-Off</a:t>
                </a:r>
                <a:endParaRPr b="1" sz="100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Cannot influence experience outside visit</a:t>
                </a:r>
                <a:endParaRPr sz="8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4"/>
              <p:cNvSpPr txBox="1"/>
              <p:nvPr/>
            </p:nvSpPr>
            <p:spPr>
              <a:xfrm>
                <a:off x="2476500" y="76200"/>
                <a:ext cx="1390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$15K LTV lost</a:t>
                </a:r>
                <a:endParaRPr b="1" sz="10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" name="Google Shape;134;p14"/>
          <p:cNvGrpSpPr/>
          <p:nvPr/>
        </p:nvGrpSpPr>
        <p:grpSpPr>
          <a:xfrm>
            <a:off x="4533900" y="1314450"/>
            <a:ext cx="4305300" cy="3162300"/>
            <a:chOff x="0" y="0"/>
            <a:chExt cx="4305300" cy="3162300"/>
          </a:xfrm>
        </p:grpSpPr>
        <p:sp>
          <p:nvSpPr>
            <p:cNvPr id="135" name="Google Shape;135;p14"/>
            <p:cNvSpPr/>
            <p:nvPr/>
          </p:nvSpPr>
          <p:spPr>
            <a:xfrm>
              <a:off x="0" y="0"/>
              <a:ext cx="4305300" cy="3162300"/>
            </a:xfrm>
            <a:prstGeom prst="roundRect">
              <a:avLst>
                <a:gd fmla="val 2409" name="adj"/>
              </a:avLst>
            </a:prstGeom>
            <a:solidFill>
              <a:srgbClr val="0D2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 txBox="1"/>
            <p:nvPr/>
          </p:nvSpPr>
          <p:spPr>
            <a:xfrm>
              <a:off x="228600" y="228600"/>
              <a:ext cx="3848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Amigo expands provider capacity.</a:t>
              </a:r>
              <a:endParaRPr b="1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7" name="Google Shape;137;p14"/>
            <p:cNvGrpSpPr/>
            <p:nvPr/>
          </p:nvGrpSpPr>
          <p:grpSpPr>
            <a:xfrm>
              <a:off x="228600" y="762000"/>
              <a:ext cx="1809600" cy="952500"/>
              <a:chOff x="0" y="0"/>
              <a:chExt cx="1809600" cy="952500"/>
            </a:xfrm>
          </p:grpSpPr>
          <p:sp>
            <p:nvSpPr>
              <p:cNvPr id="138" name="Google Shape;138;p14"/>
              <p:cNvSpPr/>
              <p:nvPr/>
            </p:nvSpPr>
            <p:spPr>
              <a:xfrm>
                <a:off x="0" y="0"/>
                <a:ext cx="18096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143248"/>
              </a:solidFill>
              <a:ln cap="flat" cmpd="sng" w="9525">
                <a:solidFill>
                  <a:srgbClr val="2550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114300" y="114300"/>
                <a:ext cx="523800" cy="171600"/>
              </a:xfrm>
              <a:prstGeom prst="roundRect">
                <a:avLst>
                  <a:gd fmla="val 16666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4"/>
              <p:cNvSpPr txBox="1"/>
              <p:nvPr/>
            </p:nvSpPr>
            <p:spPr>
              <a:xfrm>
                <a:off x="114300" y="114300"/>
                <a:ext cx="523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CAPACITY</a:t>
                </a:r>
                <a:endParaRPr b="1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4"/>
              <p:cNvSpPr txBox="1"/>
              <p:nvPr/>
            </p:nvSpPr>
            <p:spPr>
              <a:xfrm>
                <a:off x="114300" y="323850"/>
                <a:ext cx="1581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4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5X</a:t>
                </a:r>
                <a:endParaRPr b="1" sz="204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4"/>
              <p:cNvSpPr txBox="1"/>
              <p:nvPr/>
            </p:nvSpPr>
            <p:spPr>
              <a:xfrm>
                <a:off x="114300" y="647700"/>
                <a:ext cx="1581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C8D0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patient capacity per provider</a:t>
                </a:r>
                <a:endParaRPr sz="800">
                  <a:solidFill>
                    <a:srgbClr val="C8D0D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14"/>
            <p:cNvGrpSpPr/>
            <p:nvPr/>
          </p:nvGrpSpPr>
          <p:grpSpPr>
            <a:xfrm>
              <a:off x="2266950" y="762000"/>
              <a:ext cx="1809600" cy="952500"/>
              <a:chOff x="0" y="0"/>
              <a:chExt cx="1809600" cy="952500"/>
            </a:xfrm>
          </p:grpSpPr>
          <p:sp>
            <p:nvSpPr>
              <p:cNvPr id="144" name="Google Shape;144;p14"/>
              <p:cNvSpPr/>
              <p:nvPr/>
            </p:nvSpPr>
            <p:spPr>
              <a:xfrm>
                <a:off x="0" y="0"/>
                <a:ext cx="18096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143248"/>
              </a:solidFill>
              <a:ln cap="flat" cmpd="sng" w="9525">
                <a:solidFill>
                  <a:srgbClr val="2550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4"/>
              <p:cNvSpPr/>
              <p:nvPr/>
            </p:nvSpPr>
            <p:spPr>
              <a:xfrm>
                <a:off x="114300" y="114300"/>
                <a:ext cx="523800" cy="171600"/>
              </a:xfrm>
              <a:prstGeom prst="roundRect">
                <a:avLst>
                  <a:gd fmla="val 16666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4"/>
              <p:cNvSpPr txBox="1"/>
              <p:nvPr/>
            </p:nvSpPr>
            <p:spPr>
              <a:xfrm>
                <a:off x="114300" y="114300"/>
                <a:ext cx="523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REVENUE</a:t>
                </a:r>
                <a:endParaRPr b="1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4"/>
              <p:cNvSpPr txBox="1"/>
              <p:nvPr/>
            </p:nvSpPr>
            <p:spPr>
              <a:xfrm>
                <a:off x="114300" y="323850"/>
                <a:ext cx="1581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4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400%</a:t>
                </a:r>
                <a:endParaRPr b="1" sz="204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4"/>
              <p:cNvSpPr txBox="1"/>
              <p:nvPr/>
            </p:nvSpPr>
            <p:spPr>
              <a:xfrm>
                <a:off x="114300" y="647700"/>
                <a:ext cx="1581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C8D0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increase in billable revenue</a:t>
                </a:r>
                <a:endParaRPr sz="800">
                  <a:solidFill>
                    <a:srgbClr val="C8D0D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14"/>
            <p:cNvGrpSpPr/>
            <p:nvPr/>
          </p:nvGrpSpPr>
          <p:grpSpPr>
            <a:xfrm>
              <a:off x="228600" y="1905000"/>
              <a:ext cx="1809600" cy="952500"/>
              <a:chOff x="0" y="0"/>
              <a:chExt cx="1809600" cy="952500"/>
            </a:xfrm>
          </p:grpSpPr>
          <p:sp>
            <p:nvSpPr>
              <p:cNvPr id="150" name="Google Shape;150;p14"/>
              <p:cNvSpPr/>
              <p:nvPr/>
            </p:nvSpPr>
            <p:spPr>
              <a:xfrm>
                <a:off x="0" y="0"/>
                <a:ext cx="18096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143248"/>
              </a:solidFill>
              <a:ln cap="flat" cmpd="sng" w="9525">
                <a:solidFill>
                  <a:srgbClr val="2550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4"/>
              <p:cNvSpPr/>
              <p:nvPr/>
            </p:nvSpPr>
            <p:spPr>
              <a:xfrm>
                <a:off x="114300" y="114300"/>
                <a:ext cx="523800" cy="171600"/>
              </a:xfrm>
              <a:prstGeom prst="roundRect">
                <a:avLst>
                  <a:gd fmla="val 16666" name="adj"/>
                </a:avLst>
              </a:prstGeom>
              <a:solidFill>
                <a:srgbClr val="2C6E5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4"/>
              <p:cNvSpPr txBox="1"/>
              <p:nvPr/>
            </p:nvSpPr>
            <p:spPr>
              <a:xfrm>
                <a:off x="114300" y="114300"/>
                <a:ext cx="523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OUTCOMES</a:t>
                </a:r>
                <a:endParaRPr b="1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4"/>
              <p:cNvSpPr txBox="1"/>
              <p:nvPr/>
            </p:nvSpPr>
            <p:spPr>
              <a:xfrm>
                <a:off x="114300" y="323850"/>
                <a:ext cx="1581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4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25%</a:t>
                </a:r>
                <a:endParaRPr b="1" sz="204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4"/>
              <p:cNvSpPr txBox="1"/>
              <p:nvPr/>
            </p:nvSpPr>
            <p:spPr>
              <a:xfrm>
                <a:off x="114300" y="647700"/>
                <a:ext cx="1581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C8D0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lift in outcome measures</a:t>
                </a:r>
                <a:endParaRPr sz="800">
                  <a:solidFill>
                    <a:srgbClr val="C8D0D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" name="Google Shape;155;p14"/>
            <p:cNvGrpSpPr/>
            <p:nvPr/>
          </p:nvGrpSpPr>
          <p:grpSpPr>
            <a:xfrm>
              <a:off x="2266950" y="1905000"/>
              <a:ext cx="1809600" cy="952500"/>
              <a:chOff x="0" y="0"/>
              <a:chExt cx="1809600" cy="952500"/>
            </a:xfrm>
          </p:grpSpPr>
          <p:sp>
            <p:nvSpPr>
              <p:cNvPr id="156" name="Google Shape;156;p14"/>
              <p:cNvSpPr/>
              <p:nvPr/>
            </p:nvSpPr>
            <p:spPr>
              <a:xfrm>
                <a:off x="0" y="0"/>
                <a:ext cx="18096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143248"/>
              </a:solidFill>
              <a:ln cap="flat" cmpd="sng" w="9525">
                <a:solidFill>
                  <a:srgbClr val="2550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>
                <a:off x="114300" y="114300"/>
                <a:ext cx="523800" cy="171600"/>
              </a:xfrm>
              <a:prstGeom prst="roundRect">
                <a:avLst>
                  <a:gd fmla="val 16666" name="adj"/>
                </a:avLst>
              </a:prstGeom>
              <a:solidFill>
                <a:srgbClr val="4A3A7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4"/>
              <p:cNvSpPr txBox="1"/>
              <p:nvPr/>
            </p:nvSpPr>
            <p:spPr>
              <a:xfrm>
                <a:off x="114300" y="114300"/>
                <a:ext cx="523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ROI</a:t>
                </a:r>
                <a:endParaRPr b="1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4"/>
              <p:cNvSpPr txBox="1"/>
              <p:nvPr/>
            </p:nvSpPr>
            <p:spPr>
              <a:xfrm>
                <a:off x="114300" y="323850"/>
                <a:ext cx="1581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4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22.2x</a:t>
                </a:r>
                <a:endParaRPr b="1" sz="204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4"/>
              <p:cNvSpPr txBox="1"/>
              <p:nvPr/>
            </p:nvSpPr>
            <p:spPr>
              <a:xfrm>
                <a:off x="114300" y="647700"/>
                <a:ext cx="1581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C8D0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total return on investment</a:t>
                </a:r>
                <a:endParaRPr sz="800">
                  <a:solidFill>
                    <a:srgbClr val="C8D0D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1" name="Google Shape;161;p14"/>
          <p:cNvSpPr txBox="1"/>
          <p:nvPr/>
        </p:nvSpPr>
        <p:spPr>
          <a:xfrm>
            <a:off x="274389" y="4924044"/>
            <a:ext cx="857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amigo.ai  ·  Backed by General Catalyst, GSV Ventures, Madrona Ventures &amp; United Healthcare  ·  $20M raised</a:t>
            </a:r>
            <a:endParaRPr sz="1100"/>
          </a:p>
        </p:txBody>
      </p:sp>
      <p:pic>
        <p:nvPicPr>
          <p:cNvPr id="162" name="Google Shape;162;p14" title="download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4628100"/>
            <a:ext cx="966625" cy="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B4403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304800" y="187263"/>
            <a:ext cx="8534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 understand the challenges faced by Fakeeh</a:t>
            </a:r>
            <a:endParaRPr b="0" sz="2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Healthcare organizations at Fakeeh's scale struggle to efficiently deliver care as demand outpaces capacity.</a:t>
            </a:r>
            <a:endParaRPr i="1" sz="10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15"/>
          <p:cNvGrpSpPr/>
          <p:nvPr/>
        </p:nvGrpSpPr>
        <p:grpSpPr>
          <a:xfrm>
            <a:off x="304800" y="1285875"/>
            <a:ext cx="8534400" cy="3286200"/>
            <a:chOff x="0" y="0"/>
            <a:chExt cx="8534400" cy="3286200"/>
          </a:xfrm>
        </p:grpSpPr>
        <p:grpSp>
          <p:nvGrpSpPr>
            <p:cNvPr id="171" name="Google Shape;171;p15"/>
            <p:cNvGrpSpPr/>
            <p:nvPr/>
          </p:nvGrpSpPr>
          <p:grpSpPr>
            <a:xfrm>
              <a:off x="0" y="0"/>
              <a:ext cx="2743200" cy="1571700"/>
              <a:chOff x="0" y="0"/>
              <a:chExt cx="2743200" cy="1571700"/>
            </a:xfrm>
          </p:grpSpPr>
          <p:sp>
            <p:nvSpPr>
              <p:cNvPr id="172" name="Google Shape;172;p15"/>
              <p:cNvSpPr/>
              <p:nvPr/>
            </p:nvSpPr>
            <p:spPr>
              <a:xfrm>
                <a:off x="0" y="0"/>
                <a:ext cx="27432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5"/>
              <p:cNvSpPr txBox="1"/>
              <p:nvPr/>
            </p:nvSpPr>
            <p:spPr>
              <a:xfrm>
                <a:off x="0" y="0"/>
                <a:ext cx="2743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3350" lIns="171450" spcFirstLastPara="1" rIns="133350" wrap="square" tIns="133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Lost Revenue </a:t>
                </a:r>
                <a:r>
                  <a:rPr b="1" lang="en" sz="12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Explosive Patient Volume Growth </a:t>
                </a:r>
                <a:r>
                  <a:rPr b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1.89M patients growing 8%+ YoY. Clinical staff cannot scale at the same pace.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⚠️ $1M annual revenue lost / provider</a:t>
                </a:r>
                <a:endParaRPr b="1" sz="9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15"/>
            <p:cNvGrpSpPr/>
            <p:nvPr/>
          </p:nvGrpSpPr>
          <p:grpSpPr>
            <a:xfrm>
              <a:off x="2895600" y="0"/>
              <a:ext cx="2743200" cy="1571700"/>
              <a:chOff x="0" y="0"/>
              <a:chExt cx="2743200" cy="1571700"/>
            </a:xfrm>
          </p:grpSpPr>
          <p:sp>
            <p:nvSpPr>
              <p:cNvPr id="176" name="Google Shape;176;p15"/>
              <p:cNvSpPr/>
              <p:nvPr/>
            </p:nvSpPr>
            <p:spPr>
              <a:xfrm>
                <a:off x="0" y="0"/>
                <a:ext cx="27432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5"/>
              <p:cNvSpPr txBox="1"/>
              <p:nvPr/>
            </p:nvSpPr>
            <p:spPr>
              <a:xfrm>
                <a:off x="0" y="0"/>
                <a:ext cx="2743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3350" lIns="171450" spcFirstLastPara="1" rIns="133350" wrap="square" tIns="133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Unfilled Schedules </a:t>
                </a:r>
                <a:r>
                  <a:rPr b="1" lang="en" sz="12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Post-Visit Follow-Up Gap </a:t>
                </a:r>
                <a:r>
                  <a:rPr b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1.89M discharges annually. Systematic follow-ups for recovery are operationally impossible.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⚠️ $200 lost per unfilled visit from no-shows</a:t>
                </a:r>
                <a:endParaRPr b="1" sz="9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15"/>
            <p:cNvGrpSpPr/>
            <p:nvPr/>
          </p:nvGrpSpPr>
          <p:grpSpPr>
            <a:xfrm>
              <a:off x="5791200" y="0"/>
              <a:ext cx="2743200" cy="1571700"/>
              <a:chOff x="0" y="0"/>
              <a:chExt cx="2743200" cy="1571700"/>
            </a:xfrm>
          </p:grpSpPr>
          <p:sp>
            <p:nvSpPr>
              <p:cNvPr id="180" name="Google Shape;180;p15"/>
              <p:cNvSpPr/>
              <p:nvPr/>
            </p:nvSpPr>
            <p:spPr>
              <a:xfrm>
                <a:off x="0" y="0"/>
                <a:ext cx="27432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5"/>
              <p:cNvSpPr txBox="1"/>
              <p:nvPr/>
            </p:nvSpPr>
            <p:spPr>
              <a:xfrm>
                <a:off x="0" y="0"/>
                <a:ext cx="2743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3350" lIns="171450" spcFirstLastPara="1" rIns="133350" wrap="square" tIns="133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High Costs </a:t>
                </a:r>
                <a:r>
                  <a:rPr b="1" lang="en" sz="12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Multi-Language Population </a:t>
                </a:r>
                <a:r>
                  <a:rPr b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Dubai serves a highly diverse population requiring care in Arabic, English, Urdu, Tagalog, and Hindi.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⚠️ 2 hours wasted per hour of patient care</a:t>
                </a:r>
                <a:endParaRPr b="1" sz="9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" name="Google Shape;183;p15"/>
            <p:cNvGrpSpPr/>
            <p:nvPr/>
          </p:nvGrpSpPr>
          <p:grpSpPr>
            <a:xfrm>
              <a:off x="0" y="1714500"/>
              <a:ext cx="2743200" cy="1571700"/>
              <a:chOff x="0" y="0"/>
              <a:chExt cx="2743200" cy="1571700"/>
            </a:xfrm>
          </p:grpSpPr>
          <p:sp>
            <p:nvSpPr>
              <p:cNvPr id="184" name="Google Shape;184;p15"/>
              <p:cNvSpPr/>
              <p:nvPr/>
            </p:nvSpPr>
            <p:spPr>
              <a:xfrm>
                <a:off x="0" y="0"/>
                <a:ext cx="27432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5"/>
              <p:cNvSpPr txBox="1"/>
              <p:nvPr/>
            </p:nvSpPr>
            <p:spPr>
              <a:xfrm>
                <a:off x="0" y="0"/>
                <a:ext cx="2743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3350" lIns="171450" spcFirstLastPara="1" rIns="133350" wrap="square" tIns="133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High Turnover </a:t>
                </a:r>
                <a:r>
                  <a:rPr b="1" lang="en" sz="12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Rapid Multi-Site Expansion</a:t>
                </a:r>
                <a:r>
                  <a:rPr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c</a:t>
                </a:r>
                <a:r>
                  <a:rPr b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aling to 7 hospitals and 9 medical centers by 2028 requires replicating engagement operations.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⚠️ 43% physician burnout rate nationally</a:t>
                </a:r>
                <a:endParaRPr b="1" sz="9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" name="Google Shape;187;p15"/>
            <p:cNvGrpSpPr/>
            <p:nvPr/>
          </p:nvGrpSpPr>
          <p:grpSpPr>
            <a:xfrm>
              <a:off x="2895600" y="1714500"/>
              <a:ext cx="2743200" cy="1571700"/>
              <a:chOff x="0" y="0"/>
              <a:chExt cx="2743200" cy="1571700"/>
            </a:xfrm>
          </p:grpSpPr>
          <p:sp>
            <p:nvSpPr>
              <p:cNvPr id="188" name="Google Shape;188;p15"/>
              <p:cNvSpPr/>
              <p:nvPr/>
            </p:nvSpPr>
            <p:spPr>
              <a:xfrm>
                <a:off x="0" y="0"/>
                <a:ext cx="27432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5"/>
              <p:cNvSpPr txBox="1"/>
              <p:nvPr/>
            </p:nvSpPr>
            <p:spPr>
              <a:xfrm>
                <a:off x="0" y="0"/>
                <a:ext cx="2743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3350" lIns="171450" spcFirstLastPara="1" rIns="133350" wrap="square" tIns="133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Patient Drop-Off </a:t>
                </a:r>
                <a:r>
                  <a:rPr b="1" lang="en" sz="12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Chronic Disease Management </a:t>
                </a:r>
                <a:r>
                  <a:rPr b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With 50+ specialties, managing ongoing engagement for chronic conditions consumes excessive bandwidth.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⚠️ $15K LTV lost per patient drop-off</a:t>
                </a:r>
                <a:endParaRPr b="1" sz="9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15"/>
            <p:cNvGrpSpPr/>
            <p:nvPr/>
          </p:nvGrpSpPr>
          <p:grpSpPr>
            <a:xfrm>
              <a:off x="5791200" y="1714500"/>
              <a:ext cx="2743200" cy="1571700"/>
              <a:chOff x="0" y="0"/>
              <a:chExt cx="2743200" cy="1571700"/>
            </a:xfrm>
          </p:grpSpPr>
          <p:sp>
            <p:nvSpPr>
              <p:cNvPr id="192" name="Google Shape;192;p15"/>
              <p:cNvSpPr/>
              <p:nvPr/>
            </p:nvSpPr>
            <p:spPr>
              <a:xfrm>
                <a:off x="0" y="0"/>
                <a:ext cx="27432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5"/>
              <p:cNvSpPr txBox="1"/>
              <p:nvPr/>
            </p:nvSpPr>
            <p:spPr>
              <a:xfrm>
                <a:off x="0" y="0"/>
                <a:ext cx="2743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3350" lIns="171450" spcFirstLastPara="1" rIns="133350" wrap="square" tIns="133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Missed Quality </a:t>
                </a:r>
                <a:r>
                  <a:rPr b="1" lang="en" sz="12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 Healthcare Coordination</a:t>
                </a:r>
                <a:r>
                  <a:rPr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panning 6 cities, remote monitoring relies on manual outreach, creating inconsistent experiences.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4403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⚠️ Missed quality measures from care gaps</a:t>
                </a:r>
                <a:endParaRPr b="1" sz="9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95" name="Google Shape;195;p15" title="download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4628100"/>
            <a:ext cx="966625" cy="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304800" y="438150"/>
            <a:ext cx="8534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How Amigo transforms the patient care journey at Fakeeh</a:t>
            </a:r>
            <a:endParaRPr b="0" sz="2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8 AI-powered touchpoints across the complete patient journey</a:t>
            </a:r>
            <a:endParaRPr i="1" sz="10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16"/>
          <p:cNvGrpSpPr/>
          <p:nvPr/>
        </p:nvGrpSpPr>
        <p:grpSpPr>
          <a:xfrm>
            <a:off x="304800" y="1190625"/>
            <a:ext cx="8534400" cy="1666800"/>
            <a:chOff x="0" y="0"/>
            <a:chExt cx="8534400" cy="1666800"/>
          </a:xfrm>
        </p:grpSpPr>
        <p:grpSp>
          <p:nvGrpSpPr>
            <p:cNvPr id="203" name="Google Shape;203;p16"/>
            <p:cNvGrpSpPr/>
            <p:nvPr/>
          </p:nvGrpSpPr>
          <p:grpSpPr>
            <a:xfrm>
              <a:off x="0" y="0"/>
              <a:ext cx="2000100" cy="1666800"/>
              <a:chOff x="0" y="0"/>
              <a:chExt cx="2000100" cy="1666800"/>
            </a:xfrm>
          </p:grpSpPr>
          <p:sp>
            <p:nvSpPr>
              <p:cNvPr id="204" name="Google Shape;204;p16"/>
              <p:cNvSpPr/>
              <p:nvPr/>
            </p:nvSpPr>
            <p:spPr>
              <a:xfrm>
                <a:off x="0" y="0"/>
                <a:ext cx="2000100" cy="1666800"/>
              </a:xfrm>
              <a:prstGeom prst="roundRect">
                <a:avLst>
                  <a:gd fmla="val 342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6"/>
              <p:cNvSpPr txBox="1"/>
              <p:nvPr/>
            </p:nvSpPr>
            <p:spPr>
              <a:xfrm>
                <a:off x="142875" y="142875"/>
                <a:ext cx="17145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0D2B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endParaRPr b="1" i="0" sz="12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Proactive Patient Outreach</a:t>
                </a:r>
                <a:endParaRPr b="1" i="0" sz="11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Reactivate dormant patients, fill schedule gaps, outbound appointment booking</a:t>
                </a:r>
                <a:endParaRPr b="1" i="0" sz="95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16"/>
            <p:cNvGrpSpPr/>
            <p:nvPr/>
          </p:nvGrpSpPr>
          <p:grpSpPr>
            <a:xfrm>
              <a:off x="2171700" y="0"/>
              <a:ext cx="2000100" cy="1666800"/>
              <a:chOff x="0" y="0"/>
              <a:chExt cx="2000100" cy="1666800"/>
            </a:xfrm>
          </p:grpSpPr>
          <p:sp>
            <p:nvSpPr>
              <p:cNvPr id="208" name="Google Shape;208;p16"/>
              <p:cNvSpPr/>
              <p:nvPr/>
            </p:nvSpPr>
            <p:spPr>
              <a:xfrm>
                <a:off x="0" y="0"/>
                <a:ext cx="2000100" cy="1666800"/>
              </a:xfrm>
              <a:prstGeom prst="roundRect">
                <a:avLst>
                  <a:gd fmla="val 342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6"/>
              <p:cNvSpPr txBox="1"/>
              <p:nvPr/>
            </p:nvSpPr>
            <p:spPr>
              <a:xfrm>
                <a:off x="142875" y="142875"/>
                <a:ext cx="17145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0D2B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endParaRPr b="1" i="0" sz="12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Scheduling &amp; Reminders</a:t>
                </a:r>
                <a:endParaRPr b="1" i="0" sz="11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Cut no-shows by 50% and free up front-desk staff across 120+ Fakeeh clinics</a:t>
                </a:r>
                <a:endParaRPr b="1" i="0" sz="95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16"/>
            <p:cNvGrpSpPr/>
            <p:nvPr/>
          </p:nvGrpSpPr>
          <p:grpSpPr>
            <a:xfrm>
              <a:off x="4343400" y="0"/>
              <a:ext cx="2000100" cy="1666800"/>
              <a:chOff x="0" y="0"/>
              <a:chExt cx="2000100" cy="1666800"/>
            </a:xfrm>
          </p:grpSpPr>
          <p:sp>
            <p:nvSpPr>
              <p:cNvPr id="212" name="Google Shape;212;p16"/>
              <p:cNvSpPr/>
              <p:nvPr/>
            </p:nvSpPr>
            <p:spPr>
              <a:xfrm>
                <a:off x="0" y="0"/>
                <a:ext cx="2000100" cy="1666800"/>
              </a:xfrm>
              <a:prstGeom prst="roundRect">
                <a:avLst>
                  <a:gd fmla="val 342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6"/>
              <p:cNvSpPr txBox="1"/>
              <p:nvPr/>
            </p:nvSpPr>
            <p:spPr>
              <a:xfrm>
                <a:off x="142875" y="142875"/>
                <a:ext cx="17145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0D2B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endParaRPr b="1" i="0" sz="12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Clinical Intake &amp; Triage</a:t>
                </a:r>
                <a:endParaRPr b="1" i="0" sz="11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Eliminate wait times and route Fakeeh patients to the right specialty in seconds</a:t>
                </a:r>
                <a:endParaRPr b="1" i="0" sz="95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" name="Google Shape;215;p16"/>
            <p:cNvGrpSpPr/>
            <p:nvPr/>
          </p:nvGrpSpPr>
          <p:grpSpPr>
            <a:xfrm>
              <a:off x="6515100" y="0"/>
              <a:ext cx="2019300" cy="1666800"/>
              <a:chOff x="0" y="0"/>
              <a:chExt cx="2019300" cy="1666800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0" y="0"/>
                <a:ext cx="2019300" cy="1666800"/>
              </a:xfrm>
              <a:prstGeom prst="roundRect">
                <a:avLst>
                  <a:gd fmla="val 342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6"/>
              <p:cNvSpPr txBox="1"/>
              <p:nvPr/>
            </p:nvSpPr>
            <p:spPr>
              <a:xfrm>
                <a:off x="142875" y="142875"/>
                <a:ext cx="17337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0D2B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04</a:t>
                </a:r>
                <a:endParaRPr b="1" i="0" sz="12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Patient Education</a:t>
                </a:r>
                <a:endParaRPr b="1" i="0" sz="11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 patients before arrival; cut visit times by 30% across all hospitals</a:t>
                </a:r>
                <a:endParaRPr b="1" i="0" sz="95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9" name="Google Shape;219;p16"/>
          <p:cNvGrpSpPr/>
          <p:nvPr/>
        </p:nvGrpSpPr>
        <p:grpSpPr>
          <a:xfrm>
            <a:off x="304800" y="3000375"/>
            <a:ext cx="8391675" cy="1666800"/>
            <a:chOff x="0" y="0"/>
            <a:chExt cx="8391675" cy="1666800"/>
          </a:xfrm>
        </p:grpSpPr>
        <p:grpSp>
          <p:nvGrpSpPr>
            <p:cNvPr id="220" name="Google Shape;220;p16"/>
            <p:cNvGrpSpPr/>
            <p:nvPr/>
          </p:nvGrpSpPr>
          <p:grpSpPr>
            <a:xfrm>
              <a:off x="0" y="0"/>
              <a:ext cx="2000100" cy="1666800"/>
              <a:chOff x="0" y="0"/>
              <a:chExt cx="2000100" cy="1666800"/>
            </a:xfrm>
          </p:grpSpPr>
          <p:sp>
            <p:nvSpPr>
              <p:cNvPr id="221" name="Google Shape;221;p16"/>
              <p:cNvSpPr/>
              <p:nvPr/>
            </p:nvSpPr>
            <p:spPr>
              <a:xfrm>
                <a:off x="0" y="0"/>
                <a:ext cx="2000100" cy="1666800"/>
              </a:xfrm>
              <a:prstGeom prst="roundRect">
                <a:avLst>
                  <a:gd fmla="val 342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6"/>
              <p:cNvSpPr txBox="1"/>
              <p:nvPr/>
            </p:nvSpPr>
            <p:spPr>
              <a:xfrm>
                <a:off x="142875" y="142875"/>
                <a:ext cx="17145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0D2B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05</a:t>
                </a:r>
                <a:endParaRPr b="1" i="0" sz="12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Provider Copilot</a:t>
                </a:r>
                <a:endParaRPr b="1" i="0" sz="11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Deliver clinical decision support and elevate patient outcomes for 900+ Fakeeh doctors</a:t>
                </a:r>
                <a:endParaRPr b="1" i="0" sz="95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" name="Google Shape;224;p16"/>
            <p:cNvGrpSpPr/>
            <p:nvPr/>
          </p:nvGrpSpPr>
          <p:grpSpPr>
            <a:xfrm>
              <a:off x="2171700" y="0"/>
              <a:ext cx="2000100" cy="1666800"/>
              <a:chOff x="0" y="0"/>
              <a:chExt cx="2000100" cy="1666800"/>
            </a:xfrm>
          </p:grpSpPr>
          <p:sp>
            <p:nvSpPr>
              <p:cNvPr id="225" name="Google Shape;225;p16"/>
              <p:cNvSpPr/>
              <p:nvPr/>
            </p:nvSpPr>
            <p:spPr>
              <a:xfrm>
                <a:off x="0" y="0"/>
                <a:ext cx="2000100" cy="1666800"/>
              </a:xfrm>
              <a:prstGeom prst="roundRect">
                <a:avLst>
                  <a:gd fmla="val 342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6"/>
              <p:cNvSpPr txBox="1"/>
              <p:nvPr/>
            </p:nvSpPr>
            <p:spPr>
              <a:xfrm>
                <a:off x="142875" y="142875"/>
                <a:ext cx="17145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0D2B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06</a:t>
                </a:r>
                <a:endParaRPr b="1" i="0" sz="12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Post-Visit Follow-ups</a:t>
                </a:r>
                <a:endParaRPr b="1" i="0" sz="11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Answer patient questions and free providers from callbacks — 1.89M patients annually</a:t>
                </a:r>
                <a:endParaRPr b="1" i="0" sz="95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16"/>
            <p:cNvGrpSpPr/>
            <p:nvPr/>
          </p:nvGrpSpPr>
          <p:grpSpPr>
            <a:xfrm>
              <a:off x="4343400" y="0"/>
              <a:ext cx="2000100" cy="1666800"/>
              <a:chOff x="0" y="0"/>
              <a:chExt cx="2000100" cy="1666800"/>
            </a:xfrm>
          </p:grpSpPr>
          <p:sp>
            <p:nvSpPr>
              <p:cNvPr id="229" name="Google Shape;229;p16"/>
              <p:cNvSpPr/>
              <p:nvPr/>
            </p:nvSpPr>
            <p:spPr>
              <a:xfrm>
                <a:off x="0" y="0"/>
                <a:ext cx="2000100" cy="1666800"/>
              </a:xfrm>
              <a:prstGeom prst="roundRect">
                <a:avLst>
                  <a:gd fmla="val 342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8D0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6"/>
              <p:cNvSpPr txBox="1"/>
              <p:nvPr/>
            </p:nvSpPr>
            <p:spPr>
              <a:xfrm>
                <a:off x="142875" y="142875"/>
                <a:ext cx="17145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0D2B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07</a:t>
                </a:r>
                <a:endParaRPr b="1" i="0" sz="12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Ongoing 24/7 Virtual Care</a:t>
                </a:r>
                <a:endParaRPr b="1" i="0" sz="11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Engage Fakeeh patients beyond their visit to improve chronic disease adherence</a:t>
                </a:r>
                <a:endParaRPr b="1" i="0" sz="95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" name="Google Shape;232;p16"/>
            <p:cNvGrpSpPr/>
            <p:nvPr/>
          </p:nvGrpSpPr>
          <p:grpSpPr>
            <a:xfrm>
              <a:off x="6515100" y="0"/>
              <a:ext cx="1876575" cy="1666800"/>
              <a:chOff x="0" y="0"/>
              <a:chExt cx="1876575" cy="1666800"/>
            </a:xfrm>
          </p:grpSpPr>
          <p:sp>
            <p:nvSpPr>
              <p:cNvPr id="233" name="Google Shape;233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0" y="0"/>
                <a:ext cx="38100" cy="1666800"/>
              </a:xfrm>
              <a:prstGeom prst="roundRect">
                <a:avLst>
                  <a:gd fmla="val 50000" name="adj"/>
                </a:avLst>
              </a:prstGeom>
              <a:solidFill>
                <a:srgbClr val="B4403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6"/>
              <p:cNvSpPr txBox="1"/>
              <p:nvPr/>
            </p:nvSpPr>
            <p:spPr>
              <a:xfrm>
                <a:off x="142875" y="142875"/>
                <a:ext cx="17337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0D2B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08</a:t>
                </a:r>
                <a:endParaRPr b="1" i="0" sz="12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RPM &amp; Patient Insights</a:t>
                </a:r>
                <a:endParaRPr b="1" i="0" sz="11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95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Flag at-risk patients and gain visibility into population health across all 6 home health cities</a:t>
                </a:r>
                <a:endParaRPr b="1" i="0" sz="95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6" name="Google Shape;236;p16"/>
          <p:cNvSpPr txBox="1"/>
          <p:nvPr/>
        </p:nvSpPr>
        <p:spPr>
          <a:xfrm>
            <a:off x="274320" y="4924425"/>
            <a:ext cx="8595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amigo.ai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6" title="download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1600" y="4628100"/>
            <a:ext cx="966625" cy="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B4403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17"/>
          <p:cNvGrpSpPr/>
          <p:nvPr/>
        </p:nvGrpSpPr>
        <p:grpSpPr>
          <a:xfrm>
            <a:off x="304725" y="211038"/>
            <a:ext cx="8534550" cy="809700"/>
            <a:chOff x="0" y="0"/>
            <a:chExt cx="8534550" cy="809700"/>
          </a:xfrm>
        </p:grpSpPr>
        <p:sp>
          <p:nvSpPr>
            <p:cNvPr id="245" name="Google Shape;245;p17"/>
            <p:cNvSpPr txBox="1"/>
            <p:nvPr/>
          </p:nvSpPr>
          <p:spPr>
            <a:xfrm>
              <a:off x="0" y="0"/>
              <a:ext cx="4286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rPr>
                <a:t>Amigo Care Journey</a:t>
              </a:r>
              <a:endParaRPr b="1" sz="1000">
                <a:solidFill>
                  <a:srgbClr val="B4403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One patient, every touchpoint.</a:t>
              </a:r>
              <a:endParaRPr b="1" sz="23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4476750" y="0"/>
              <a:ext cx="4057800" cy="7431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4619625" y="95250"/>
              <a:ext cx="3771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Ahmed's chronic care journey at Fakeeh University Hospital, Dubai</a:t>
              </a:r>
              <a:endParaRPr b="1" sz="9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Ahmed, 58 • Diabetic &amp; hypertensive • Regular patient</a:t>
              </a:r>
              <a:endParaRPr sz="8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" sz="7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rPr>
                <a:t>Powered by Amigo</a:t>
              </a:r>
              <a:endParaRPr i="1" sz="750">
                <a:solidFill>
                  <a:srgbClr val="B440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17"/>
          <p:cNvGrpSpPr/>
          <p:nvPr/>
        </p:nvGrpSpPr>
        <p:grpSpPr>
          <a:xfrm>
            <a:off x="304800" y="1190625"/>
            <a:ext cx="1600200" cy="3257700"/>
            <a:chOff x="0" y="0"/>
            <a:chExt cx="1600200" cy="3257700"/>
          </a:xfrm>
        </p:grpSpPr>
        <p:sp>
          <p:nvSpPr>
            <p:cNvPr id="249" name="Google Shape;249;p17"/>
            <p:cNvSpPr txBox="1"/>
            <p:nvPr/>
          </p:nvSpPr>
          <p:spPr>
            <a:xfrm>
              <a:off x="0" y="0"/>
              <a:ext cx="1600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01 / Onboarding</a:t>
              </a:r>
              <a:endParaRPr b="1" sz="10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0" y="228600"/>
              <a:ext cx="1600200" cy="28500"/>
            </a:xfrm>
            <a:prstGeom prst="rect">
              <a:avLst/>
            </a:prstGeom>
            <a:solidFill>
              <a:srgbClr val="B44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0" y="400050"/>
              <a:ext cx="1600200" cy="12858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95250" y="495300"/>
              <a:ext cx="1409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rPr>
                <a:t>Amigo Agent</a:t>
              </a:r>
              <a:endParaRPr b="1" sz="750">
                <a:solidFill>
                  <a:srgbClr val="B4403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1"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"Ahmed, you're overdue for a diabetes check. I've found a slot Thursday at Fakeeh. Want me to book it?"</a:t>
              </a:r>
              <a:endParaRPr i="1"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7"/>
            <p:cNvSpPr txBox="1"/>
            <p:nvPr/>
          </p:nvSpPr>
          <p:spPr>
            <a:xfrm>
              <a:off x="0" y="1828800"/>
              <a:ext cx="1600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Key Touchpoints</a:t>
              </a:r>
              <a:endParaRPr b="1" sz="7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Overdue visit flagged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Outbound appt. booked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Insurance verified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7"/>
          <p:cNvGrpSpPr/>
          <p:nvPr/>
        </p:nvGrpSpPr>
        <p:grpSpPr>
          <a:xfrm>
            <a:off x="2038350" y="1190625"/>
            <a:ext cx="1600200" cy="3257700"/>
            <a:chOff x="0" y="0"/>
            <a:chExt cx="1600200" cy="3257700"/>
          </a:xfrm>
        </p:grpSpPr>
        <p:sp>
          <p:nvSpPr>
            <p:cNvPr id="255" name="Google Shape;255;p17"/>
            <p:cNvSpPr txBox="1"/>
            <p:nvPr/>
          </p:nvSpPr>
          <p:spPr>
            <a:xfrm>
              <a:off x="0" y="0"/>
              <a:ext cx="1600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02 / Pre-visit</a:t>
              </a:r>
              <a:endParaRPr b="1" sz="10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0" y="228600"/>
              <a:ext cx="1600200" cy="28500"/>
            </a:xfrm>
            <a:prstGeom prst="rect">
              <a:avLst/>
            </a:prstGeom>
            <a:solidFill>
              <a:srgbClr val="B44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0" y="400050"/>
              <a:ext cx="1600200" cy="12858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95250" y="495300"/>
              <a:ext cx="1409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rPr>
                <a:t>Amigo Agent</a:t>
              </a:r>
              <a:endParaRPr b="1" sz="750">
                <a:solidFill>
                  <a:srgbClr val="B4403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1"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"Your appointment is tomorrow. Any new symptoms for Dr. Al-Rashidi? Here's what to bring..."</a:t>
              </a:r>
              <a:endParaRPr i="1"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7"/>
            <p:cNvSpPr txBox="1"/>
            <p:nvPr/>
          </p:nvSpPr>
          <p:spPr>
            <a:xfrm>
              <a:off x="0" y="1828800"/>
              <a:ext cx="1600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Key Touchpoints</a:t>
              </a:r>
              <a:endParaRPr b="1" sz="7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Intake completed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Appt. reminder sent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Patient prep info shared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7"/>
          <p:cNvGrpSpPr/>
          <p:nvPr/>
        </p:nvGrpSpPr>
        <p:grpSpPr>
          <a:xfrm>
            <a:off x="3771900" y="1190625"/>
            <a:ext cx="1600200" cy="3257700"/>
            <a:chOff x="0" y="0"/>
            <a:chExt cx="1600200" cy="3257700"/>
          </a:xfrm>
        </p:grpSpPr>
        <p:sp>
          <p:nvSpPr>
            <p:cNvPr id="261" name="Google Shape;261;p17"/>
            <p:cNvSpPr txBox="1"/>
            <p:nvPr/>
          </p:nvSpPr>
          <p:spPr>
            <a:xfrm>
              <a:off x="0" y="0"/>
              <a:ext cx="1600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03 / Visit</a:t>
              </a:r>
              <a:endParaRPr b="1" sz="10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7"/>
            <p:cNvSpPr/>
            <p:nvPr/>
          </p:nvSpPr>
          <p:spPr>
            <a:xfrm>
              <a:off x="0" y="228600"/>
              <a:ext cx="1600200" cy="28500"/>
            </a:xfrm>
            <a:prstGeom prst="rect">
              <a:avLst/>
            </a:prstGeom>
            <a:solidFill>
              <a:srgbClr val="B44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0" y="400050"/>
              <a:ext cx="1600200" cy="12858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7"/>
            <p:cNvSpPr txBox="1"/>
            <p:nvPr/>
          </p:nvSpPr>
          <p:spPr>
            <a:xfrm>
              <a:off x="95250" y="495300"/>
              <a:ext cx="1409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rPr>
                <a:t>Clinical Team</a:t>
              </a:r>
              <a:endParaRPr b="1" sz="750">
                <a:solidFill>
                  <a:srgbClr val="B4403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1"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Dr. Al-Mansoori reviews Ahmed's full history, flagged care gaps, and new HbA1c concerns before entering.</a:t>
              </a:r>
              <a:endParaRPr i="1"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0" y="1828800"/>
              <a:ext cx="1600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Key Touchpoints</a:t>
              </a:r>
              <a:endParaRPr b="1" sz="7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Provider fully briefed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Copilot ensures nothing missed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Personalized session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7"/>
          <p:cNvGrpSpPr/>
          <p:nvPr/>
        </p:nvGrpSpPr>
        <p:grpSpPr>
          <a:xfrm>
            <a:off x="5505450" y="1190625"/>
            <a:ext cx="1600200" cy="3257700"/>
            <a:chOff x="0" y="0"/>
            <a:chExt cx="1600200" cy="3257700"/>
          </a:xfrm>
        </p:grpSpPr>
        <p:sp>
          <p:nvSpPr>
            <p:cNvPr id="267" name="Google Shape;267;p17"/>
            <p:cNvSpPr txBox="1"/>
            <p:nvPr/>
          </p:nvSpPr>
          <p:spPr>
            <a:xfrm>
              <a:off x="0" y="0"/>
              <a:ext cx="1600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04 / Post-visit</a:t>
              </a:r>
              <a:endParaRPr b="1" sz="10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0" y="228600"/>
              <a:ext cx="1600200" cy="28500"/>
            </a:xfrm>
            <a:prstGeom prst="rect">
              <a:avLst/>
            </a:prstGeom>
            <a:solidFill>
              <a:srgbClr val="B44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0" y="400050"/>
              <a:ext cx="1600200" cy="12858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7"/>
            <p:cNvSpPr txBox="1"/>
            <p:nvPr/>
          </p:nvSpPr>
          <p:spPr>
            <a:xfrm>
              <a:off x="95250" y="495300"/>
              <a:ext cx="1409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rPr>
                <a:t>Amigo Agent</a:t>
              </a:r>
              <a:endParaRPr b="1" sz="750">
                <a:solidFill>
                  <a:srgbClr val="B4403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1"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"Your A1C is 7.2 — manageable! Dr. Al-Rashidi has started you on adjusted Metformin. Dietitian booked."</a:t>
              </a:r>
              <a:endParaRPr i="1"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7"/>
            <p:cNvSpPr txBox="1"/>
            <p:nvPr/>
          </p:nvSpPr>
          <p:spPr>
            <a:xfrm>
              <a:off x="0" y="1828800"/>
              <a:ext cx="1600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Key Touchpoints</a:t>
              </a:r>
              <a:endParaRPr b="1" sz="7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Lab results in plain Arabic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Metformin Rx drafted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Dietitian referred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17"/>
          <p:cNvGrpSpPr/>
          <p:nvPr/>
        </p:nvGrpSpPr>
        <p:grpSpPr>
          <a:xfrm>
            <a:off x="7239000" y="1190625"/>
            <a:ext cx="1600200" cy="3257700"/>
            <a:chOff x="0" y="0"/>
            <a:chExt cx="1600200" cy="3257700"/>
          </a:xfrm>
        </p:grpSpPr>
        <p:sp>
          <p:nvSpPr>
            <p:cNvPr id="273" name="Google Shape;273;p17"/>
            <p:cNvSpPr txBox="1"/>
            <p:nvPr/>
          </p:nvSpPr>
          <p:spPr>
            <a:xfrm>
              <a:off x="0" y="0"/>
              <a:ext cx="1600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05 / Ongoing care</a:t>
              </a:r>
              <a:endParaRPr b="1" sz="10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0" y="228600"/>
              <a:ext cx="1600200" cy="28500"/>
            </a:xfrm>
            <a:prstGeom prst="rect">
              <a:avLst/>
            </a:prstGeom>
            <a:solidFill>
              <a:srgbClr val="B44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0" y="400050"/>
              <a:ext cx="1600200" cy="12858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7"/>
            <p:cNvSpPr txBox="1"/>
            <p:nvPr/>
          </p:nvSpPr>
          <p:spPr>
            <a:xfrm>
              <a:off x="95250" y="495300"/>
              <a:ext cx="1409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B44030"/>
                  </a:solidFill>
                  <a:latin typeface="Calibri"/>
                  <a:ea typeface="Calibri"/>
                  <a:cs typeface="Calibri"/>
                  <a:sym typeface="Calibri"/>
                </a:rPr>
                <a:t>Amigo Agent</a:t>
              </a:r>
              <a:endParaRPr b="1" sz="750">
                <a:solidFill>
                  <a:srgbClr val="B4403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1"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"You hit your 8,000 steps goal yesterday! How's the new Metformin dose feeling? Any stomach issues?"</a:t>
              </a:r>
              <a:endParaRPr i="1"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7"/>
            <p:cNvSpPr txBox="1"/>
            <p:nvPr/>
          </p:nvSpPr>
          <p:spPr>
            <a:xfrm>
              <a:off x="0" y="1828800"/>
              <a:ext cx="1600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Key Touchpoints</a:t>
              </a:r>
              <a:endParaRPr b="1" sz="7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24/7 health coaching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Progress check-ins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2C3E50"/>
                </a:buClr>
                <a:buSzPts val="850"/>
                <a:buFont typeface="Calibri"/>
                <a:buChar char="●"/>
              </a:pPr>
              <a:r>
                <a:rPr lang="en" sz="8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rPr>
                <a:t>Medication adherence</a:t>
              </a:r>
              <a:endParaRPr sz="8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8" name="Google Shape;278;p17" title="download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4628100"/>
            <a:ext cx="966625" cy="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381000" y="2911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rPr>
              <a:t>The Amigo advantage</a:t>
            </a:r>
            <a:endParaRPr b="1" sz="2400">
              <a:solidFill>
                <a:srgbClr val="0D2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Why Amigo — not a generic chatbot, not a point solution.</a:t>
            </a:r>
            <a:endParaRPr i="1" sz="11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" name="Google Shape;285;p18"/>
          <p:cNvGrpSpPr/>
          <p:nvPr/>
        </p:nvGrpSpPr>
        <p:grpSpPr>
          <a:xfrm>
            <a:off x="381000" y="1190625"/>
            <a:ext cx="8382000" cy="3200550"/>
            <a:chOff x="0" y="0"/>
            <a:chExt cx="8382000" cy="3200550"/>
          </a:xfrm>
        </p:grpSpPr>
        <p:sp>
          <p:nvSpPr>
            <p:cNvPr id="286" name="Google Shape;286;p18"/>
            <p:cNvSpPr/>
            <p:nvPr/>
          </p:nvSpPr>
          <p:spPr>
            <a:xfrm>
              <a:off x="0" y="0"/>
              <a:ext cx="8382000" cy="285900"/>
            </a:xfrm>
            <a:prstGeom prst="roundRect">
              <a:avLst>
                <a:gd fmla="val 13333" name="adj"/>
              </a:avLst>
            </a:prstGeom>
            <a:solidFill>
              <a:srgbClr val="0D2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8"/>
            <p:cNvSpPr txBox="1"/>
            <p:nvPr/>
          </p:nvSpPr>
          <p:spPr>
            <a:xfrm>
              <a:off x="190500" y="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 Capability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8"/>
            <p:cNvSpPr txBox="1"/>
            <p:nvPr/>
          </p:nvSpPr>
          <p:spPr>
            <a:xfrm>
              <a:off x="5143500" y="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Amigo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8"/>
            <p:cNvSpPr txBox="1"/>
            <p:nvPr/>
          </p:nvSpPr>
          <p:spPr>
            <a:xfrm>
              <a:off x="6858000" y="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A0B0C0"/>
                  </a:solidFill>
                  <a:latin typeface="Calibri"/>
                  <a:ea typeface="Calibri"/>
                  <a:cs typeface="Calibri"/>
                  <a:sym typeface="Calibri"/>
                </a:rPr>
                <a:t>Other Agents</a:t>
              </a:r>
              <a:endParaRPr b="1" sz="1100">
                <a:solidFill>
                  <a:srgbClr val="A0B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0" name="Google Shape;290;p18"/>
            <p:cNvGrpSpPr/>
            <p:nvPr/>
          </p:nvGrpSpPr>
          <p:grpSpPr>
            <a:xfrm>
              <a:off x="0" y="342900"/>
              <a:ext cx="8382000" cy="324000"/>
              <a:chOff x="0" y="0"/>
              <a:chExt cx="8382000" cy="324000"/>
            </a:xfrm>
          </p:grpSpPr>
          <p:sp>
            <p:nvSpPr>
              <p:cNvPr id="291" name="Google Shape;291;p18"/>
              <p:cNvSpPr/>
              <p:nvPr/>
            </p:nvSpPr>
            <p:spPr>
              <a:xfrm>
                <a:off x="0" y="0"/>
                <a:ext cx="8382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8"/>
              <p:cNvSpPr txBox="1"/>
              <p:nvPr/>
            </p:nvSpPr>
            <p:spPr>
              <a:xfrm>
                <a:off x="190500" y="0"/>
                <a:ext cx="4762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C3E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One unified platform for all agent use cases</a:t>
                </a:r>
                <a:endParaRPr b="1" sz="10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5800725" y="57150"/>
                <a:ext cx="209700" cy="209700"/>
              </a:xfrm>
              <a:prstGeom prst="ellipse">
                <a:avLst/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8"/>
              <p:cNvSpPr txBox="1"/>
              <p:nvPr/>
            </p:nvSpPr>
            <p:spPr>
              <a:xfrm>
                <a:off x="580072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7419975" y="57150"/>
                <a:ext cx="209700" cy="209700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8"/>
              <p:cNvSpPr txBox="1"/>
              <p:nvPr/>
            </p:nvSpPr>
            <p:spPr>
              <a:xfrm>
                <a:off x="741997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1" sz="10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18"/>
            <p:cNvGrpSpPr/>
            <p:nvPr/>
          </p:nvGrpSpPr>
          <p:grpSpPr>
            <a:xfrm>
              <a:off x="0" y="704850"/>
              <a:ext cx="8382000" cy="324000"/>
              <a:chOff x="0" y="0"/>
              <a:chExt cx="8382000" cy="324000"/>
            </a:xfrm>
          </p:grpSpPr>
          <p:sp>
            <p:nvSpPr>
              <p:cNvPr id="298" name="Google Shape;298;p18"/>
              <p:cNvSpPr/>
              <p:nvPr/>
            </p:nvSpPr>
            <p:spPr>
              <a:xfrm>
                <a:off x="0" y="0"/>
                <a:ext cx="8382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0ED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8"/>
              <p:cNvSpPr txBox="1"/>
              <p:nvPr/>
            </p:nvSpPr>
            <p:spPr>
              <a:xfrm>
                <a:off x="190500" y="0"/>
                <a:ext cx="4762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C3E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Custom-built for your patient population</a:t>
                </a:r>
                <a:endParaRPr b="1" sz="10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5800725" y="57150"/>
                <a:ext cx="209700" cy="209700"/>
              </a:xfrm>
              <a:prstGeom prst="ellipse">
                <a:avLst/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8"/>
              <p:cNvSpPr txBox="1"/>
              <p:nvPr/>
            </p:nvSpPr>
            <p:spPr>
              <a:xfrm>
                <a:off x="580072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7419975" y="57150"/>
                <a:ext cx="209700" cy="209700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8"/>
              <p:cNvSpPr txBox="1"/>
              <p:nvPr/>
            </p:nvSpPr>
            <p:spPr>
              <a:xfrm>
                <a:off x="741997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1" sz="10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4" name="Google Shape;304;p18"/>
            <p:cNvGrpSpPr/>
            <p:nvPr/>
          </p:nvGrpSpPr>
          <p:grpSpPr>
            <a:xfrm>
              <a:off x="0" y="1066800"/>
              <a:ext cx="8382000" cy="324000"/>
              <a:chOff x="0" y="0"/>
              <a:chExt cx="8382000" cy="324000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0" y="0"/>
                <a:ext cx="8382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8"/>
              <p:cNvSpPr txBox="1"/>
              <p:nvPr/>
            </p:nvSpPr>
            <p:spPr>
              <a:xfrm>
                <a:off x="190500" y="0"/>
                <a:ext cx="4762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C3E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Deploy in weeks with deep EHR integrations</a:t>
                </a:r>
                <a:endParaRPr b="1" sz="10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>
                <a:off x="5800725" y="57150"/>
                <a:ext cx="209700" cy="209700"/>
              </a:xfrm>
              <a:prstGeom prst="ellipse">
                <a:avLst/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8"/>
              <p:cNvSpPr txBox="1"/>
              <p:nvPr/>
            </p:nvSpPr>
            <p:spPr>
              <a:xfrm>
                <a:off x="580072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7419975" y="57150"/>
                <a:ext cx="209700" cy="209700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8"/>
              <p:cNvSpPr txBox="1"/>
              <p:nvPr/>
            </p:nvSpPr>
            <p:spPr>
              <a:xfrm>
                <a:off x="741997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1" sz="10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1" name="Google Shape;311;p18"/>
            <p:cNvGrpSpPr/>
            <p:nvPr/>
          </p:nvGrpSpPr>
          <p:grpSpPr>
            <a:xfrm>
              <a:off x="0" y="1428750"/>
              <a:ext cx="8382000" cy="324000"/>
              <a:chOff x="0" y="0"/>
              <a:chExt cx="8382000" cy="324000"/>
            </a:xfrm>
          </p:grpSpPr>
          <p:sp>
            <p:nvSpPr>
              <p:cNvPr id="312" name="Google Shape;312;p18"/>
              <p:cNvSpPr/>
              <p:nvPr/>
            </p:nvSpPr>
            <p:spPr>
              <a:xfrm>
                <a:off x="0" y="0"/>
                <a:ext cx="8382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0ED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8"/>
              <p:cNvSpPr txBox="1"/>
              <p:nvPr/>
            </p:nvSpPr>
            <p:spPr>
              <a:xfrm>
                <a:off x="190500" y="0"/>
                <a:ext cx="4762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C3E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Dedicated Agent Engineer</a:t>
                </a:r>
                <a:endParaRPr b="1" sz="10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>
                <a:off x="5800725" y="57150"/>
                <a:ext cx="209700" cy="209700"/>
              </a:xfrm>
              <a:prstGeom prst="ellipse">
                <a:avLst/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8"/>
              <p:cNvSpPr txBox="1"/>
              <p:nvPr/>
            </p:nvSpPr>
            <p:spPr>
              <a:xfrm>
                <a:off x="580072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8"/>
              <p:cNvSpPr/>
              <p:nvPr/>
            </p:nvSpPr>
            <p:spPr>
              <a:xfrm>
                <a:off x="7419975" y="57150"/>
                <a:ext cx="209700" cy="209700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8"/>
              <p:cNvSpPr txBox="1"/>
              <p:nvPr/>
            </p:nvSpPr>
            <p:spPr>
              <a:xfrm>
                <a:off x="741997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1" sz="10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18"/>
            <p:cNvGrpSpPr/>
            <p:nvPr/>
          </p:nvGrpSpPr>
          <p:grpSpPr>
            <a:xfrm>
              <a:off x="0" y="1790700"/>
              <a:ext cx="8382000" cy="324000"/>
              <a:chOff x="0" y="0"/>
              <a:chExt cx="8382000" cy="324000"/>
            </a:xfrm>
          </p:grpSpPr>
          <p:sp>
            <p:nvSpPr>
              <p:cNvPr id="319" name="Google Shape;319;p18"/>
              <p:cNvSpPr/>
              <p:nvPr/>
            </p:nvSpPr>
            <p:spPr>
              <a:xfrm>
                <a:off x="0" y="0"/>
                <a:ext cx="8382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8"/>
              <p:cNvSpPr txBox="1"/>
              <p:nvPr/>
            </p:nvSpPr>
            <p:spPr>
              <a:xfrm>
                <a:off x="190500" y="0"/>
                <a:ext cx="4762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C3E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Transparent and auditable reasoning</a:t>
                </a:r>
                <a:endParaRPr b="1" sz="10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>
                <a:off x="5800725" y="57150"/>
                <a:ext cx="209700" cy="209700"/>
              </a:xfrm>
              <a:prstGeom prst="ellipse">
                <a:avLst/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8"/>
              <p:cNvSpPr txBox="1"/>
              <p:nvPr/>
            </p:nvSpPr>
            <p:spPr>
              <a:xfrm>
                <a:off x="580072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8"/>
              <p:cNvSpPr/>
              <p:nvPr/>
            </p:nvSpPr>
            <p:spPr>
              <a:xfrm>
                <a:off x="7419975" y="57150"/>
                <a:ext cx="209700" cy="209700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8"/>
              <p:cNvSpPr txBox="1"/>
              <p:nvPr/>
            </p:nvSpPr>
            <p:spPr>
              <a:xfrm>
                <a:off x="741997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1" sz="10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18"/>
            <p:cNvGrpSpPr/>
            <p:nvPr/>
          </p:nvGrpSpPr>
          <p:grpSpPr>
            <a:xfrm>
              <a:off x="0" y="2152650"/>
              <a:ext cx="8382000" cy="324000"/>
              <a:chOff x="0" y="0"/>
              <a:chExt cx="8382000" cy="324000"/>
            </a:xfrm>
          </p:grpSpPr>
          <p:sp>
            <p:nvSpPr>
              <p:cNvPr id="326" name="Google Shape;326;p18"/>
              <p:cNvSpPr/>
              <p:nvPr/>
            </p:nvSpPr>
            <p:spPr>
              <a:xfrm>
                <a:off x="0" y="0"/>
                <a:ext cx="8382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0ED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8"/>
              <p:cNvSpPr txBox="1"/>
              <p:nvPr/>
            </p:nvSpPr>
            <p:spPr>
              <a:xfrm>
                <a:off x="190500" y="0"/>
                <a:ext cx="4762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C3E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Simulation-validated evaluations (Digital Residency™)</a:t>
                </a:r>
                <a:endParaRPr b="1" sz="10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8"/>
              <p:cNvSpPr/>
              <p:nvPr/>
            </p:nvSpPr>
            <p:spPr>
              <a:xfrm>
                <a:off x="5800725" y="57150"/>
                <a:ext cx="209700" cy="209700"/>
              </a:xfrm>
              <a:prstGeom prst="ellipse">
                <a:avLst/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8"/>
              <p:cNvSpPr txBox="1"/>
              <p:nvPr/>
            </p:nvSpPr>
            <p:spPr>
              <a:xfrm>
                <a:off x="580072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8"/>
              <p:cNvSpPr/>
              <p:nvPr/>
            </p:nvSpPr>
            <p:spPr>
              <a:xfrm>
                <a:off x="7419975" y="57150"/>
                <a:ext cx="209700" cy="209700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8"/>
              <p:cNvSpPr txBox="1"/>
              <p:nvPr/>
            </p:nvSpPr>
            <p:spPr>
              <a:xfrm>
                <a:off x="741997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1" sz="10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2" name="Google Shape;332;p18"/>
            <p:cNvGrpSpPr/>
            <p:nvPr/>
          </p:nvGrpSpPr>
          <p:grpSpPr>
            <a:xfrm>
              <a:off x="0" y="2514600"/>
              <a:ext cx="8382000" cy="324000"/>
              <a:chOff x="0" y="0"/>
              <a:chExt cx="8382000" cy="324000"/>
            </a:xfrm>
          </p:grpSpPr>
          <p:sp>
            <p:nvSpPr>
              <p:cNvPr id="333" name="Google Shape;333;p18"/>
              <p:cNvSpPr/>
              <p:nvPr/>
            </p:nvSpPr>
            <p:spPr>
              <a:xfrm>
                <a:off x="0" y="0"/>
                <a:ext cx="8382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8"/>
              <p:cNvSpPr txBox="1"/>
              <p:nvPr/>
            </p:nvSpPr>
            <p:spPr>
              <a:xfrm>
                <a:off x="190500" y="0"/>
                <a:ext cx="4762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C3E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Continuous agent self-improvement</a:t>
                </a:r>
                <a:endParaRPr b="1" sz="10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5800725" y="57150"/>
                <a:ext cx="209700" cy="209700"/>
              </a:xfrm>
              <a:prstGeom prst="ellipse">
                <a:avLst/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8"/>
              <p:cNvSpPr txBox="1"/>
              <p:nvPr/>
            </p:nvSpPr>
            <p:spPr>
              <a:xfrm>
                <a:off x="580072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8"/>
              <p:cNvSpPr/>
              <p:nvPr/>
            </p:nvSpPr>
            <p:spPr>
              <a:xfrm>
                <a:off x="7419975" y="57150"/>
                <a:ext cx="209700" cy="209700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8"/>
              <p:cNvSpPr txBox="1"/>
              <p:nvPr/>
            </p:nvSpPr>
            <p:spPr>
              <a:xfrm>
                <a:off x="741997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1" sz="10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18"/>
            <p:cNvGrpSpPr/>
            <p:nvPr/>
          </p:nvGrpSpPr>
          <p:grpSpPr>
            <a:xfrm>
              <a:off x="0" y="2876550"/>
              <a:ext cx="8382000" cy="324000"/>
              <a:chOff x="0" y="0"/>
              <a:chExt cx="8382000" cy="324000"/>
            </a:xfrm>
          </p:grpSpPr>
          <p:sp>
            <p:nvSpPr>
              <p:cNvPr id="340" name="Google Shape;340;p18"/>
              <p:cNvSpPr/>
              <p:nvPr/>
            </p:nvSpPr>
            <p:spPr>
              <a:xfrm>
                <a:off x="0" y="0"/>
                <a:ext cx="8382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0ED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8"/>
              <p:cNvSpPr txBox="1"/>
              <p:nvPr/>
            </p:nvSpPr>
            <p:spPr>
              <a:xfrm>
                <a:off x="190500" y="0"/>
                <a:ext cx="4762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C3E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own all agent IP and patient data</a:t>
                </a:r>
                <a:endParaRPr b="1" sz="1050"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5800725" y="57150"/>
                <a:ext cx="209700" cy="209700"/>
              </a:xfrm>
              <a:prstGeom prst="ellipse">
                <a:avLst/>
              </a:prstGeom>
              <a:solidFill>
                <a:srgbClr val="0D2B3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8"/>
              <p:cNvSpPr txBox="1"/>
              <p:nvPr/>
            </p:nvSpPr>
            <p:spPr>
              <a:xfrm>
                <a:off x="580072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8"/>
              <p:cNvSpPr/>
              <p:nvPr/>
            </p:nvSpPr>
            <p:spPr>
              <a:xfrm>
                <a:off x="7419975" y="57150"/>
                <a:ext cx="209700" cy="209700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8"/>
              <p:cNvSpPr txBox="1"/>
              <p:nvPr/>
            </p:nvSpPr>
            <p:spPr>
              <a:xfrm>
                <a:off x="7419975" y="4762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A6A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1" sz="100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46" name="Google Shape;346;p18" title="download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550" y="4791875"/>
            <a:ext cx="966625" cy="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19"/>
          <p:cNvGrpSpPr/>
          <p:nvPr/>
        </p:nvGrpSpPr>
        <p:grpSpPr>
          <a:xfrm>
            <a:off x="476250" y="1333500"/>
            <a:ext cx="2571900" cy="1095300"/>
            <a:chOff x="0" y="0"/>
            <a:chExt cx="2571900" cy="1095300"/>
          </a:xfrm>
        </p:grpSpPr>
        <p:sp>
          <p:nvSpPr>
            <p:cNvPr id="354" name="Google Shape;354;p19"/>
            <p:cNvSpPr/>
            <p:nvPr/>
          </p:nvSpPr>
          <p:spPr>
            <a:xfrm>
              <a:off x="0" y="0"/>
              <a:ext cx="25719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0D2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9"/>
            <p:cNvSpPr txBox="1"/>
            <p:nvPr/>
          </p:nvSpPr>
          <p:spPr>
            <a:xfrm>
              <a:off x="142875" y="114300"/>
              <a:ext cx="2286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01 </a:t>
              </a:r>
              <a:r>
                <a:rPr b="1" lang="en" sz="12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Discovery</a:t>
              </a:r>
              <a:endParaRPr b="1" sz="13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We deeply understand Fakeeh's unique workflows and goals — not pre-built templates.</a:t>
              </a:r>
              <a:endParaRPr b="0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9"/>
          <p:cNvGrpSpPr/>
          <p:nvPr/>
        </p:nvGrpSpPr>
        <p:grpSpPr>
          <a:xfrm>
            <a:off x="3286125" y="1333500"/>
            <a:ext cx="2571900" cy="1095300"/>
            <a:chOff x="0" y="0"/>
            <a:chExt cx="2571900" cy="1095300"/>
          </a:xfrm>
        </p:grpSpPr>
        <p:sp>
          <p:nvSpPr>
            <p:cNvPr id="358" name="Google Shape;358;p19"/>
            <p:cNvSpPr/>
            <p:nvPr/>
          </p:nvSpPr>
          <p:spPr>
            <a:xfrm>
              <a:off x="0" y="0"/>
              <a:ext cx="25719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0D2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9"/>
            <p:cNvSpPr txBox="1"/>
            <p:nvPr/>
          </p:nvSpPr>
          <p:spPr>
            <a:xfrm>
              <a:off x="142875" y="114300"/>
              <a:ext cx="2286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02 </a:t>
              </a:r>
              <a:r>
                <a:rPr b="1" lang="en" sz="12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Custom Agent Build</a:t>
              </a:r>
              <a:endParaRPr b="1" sz="13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Tailor agents for your needs: Arabic intake, post-visit follow-up, chronic care, home health.</a:t>
              </a:r>
              <a:endParaRPr b="0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19"/>
          <p:cNvGrpSpPr/>
          <p:nvPr/>
        </p:nvGrpSpPr>
        <p:grpSpPr>
          <a:xfrm>
            <a:off x="6096000" y="1333500"/>
            <a:ext cx="2571900" cy="1095300"/>
            <a:chOff x="0" y="0"/>
            <a:chExt cx="2571900" cy="1095300"/>
          </a:xfrm>
        </p:grpSpPr>
        <p:sp>
          <p:nvSpPr>
            <p:cNvPr id="362" name="Google Shape;362;p19"/>
            <p:cNvSpPr/>
            <p:nvPr/>
          </p:nvSpPr>
          <p:spPr>
            <a:xfrm>
              <a:off x="0" y="0"/>
              <a:ext cx="25719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0D2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9"/>
            <p:cNvSpPr txBox="1"/>
            <p:nvPr/>
          </p:nvSpPr>
          <p:spPr>
            <a:xfrm>
              <a:off x="142875" y="114300"/>
              <a:ext cx="2286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03 </a:t>
              </a:r>
              <a:r>
                <a:rPr b="1" lang="en" sz="12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Rigorous Testing</a:t>
              </a:r>
              <a:endParaRPr b="1" sz="13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Millions of simulated sessions before launch — accuracy, brand consistency, edge case handling.</a:t>
              </a:r>
              <a:endParaRPr b="0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9"/>
          <p:cNvGrpSpPr/>
          <p:nvPr/>
        </p:nvGrpSpPr>
        <p:grpSpPr>
          <a:xfrm>
            <a:off x="476250" y="2619375"/>
            <a:ext cx="2571900" cy="1095300"/>
            <a:chOff x="0" y="0"/>
            <a:chExt cx="2571900" cy="1095300"/>
          </a:xfrm>
        </p:grpSpPr>
        <p:sp>
          <p:nvSpPr>
            <p:cNvPr id="366" name="Google Shape;366;p19"/>
            <p:cNvSpPr/>
            <p:nvPr/>
          </p:nvSpPr>
          <p:spPr>
            <a:xfrm>
              <a:off x="0" y="0"/>
              <a:ext cx="25719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0D2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 txBox="1"/>
            <p:nvPr/>
          </p:nvSpPr>
          <p:spPr>
            <a:xfrm>
              <a:off x="142875" y="114300"/>
              <a:ext cx="2286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04 </a:t>
              </a:r>
              <a:r>
                <a:rPr b="1" lang="en" sz="12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Development in 6 Weeks</a:t>
              </a:r>
              <a:endParaRPr b="1" sz="13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Full engineering and IT support. Integrate with Fakeeh's YASASII HIS &amp; EHRs. Go live in 6 weeks.</a:t>
              </a:r>
              <a:endParaRPr b="0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3286125" y="2619375"/>
            <a:ext cx="2571900" cy="1095300"/>
            <a:chOff x="0" y="0"/>
            <a:chExt cx="2571900" cy="1095300"/>
          </a:xfrm>
        </p:grpSpPr>
        <p:sp>
          <p:nvSpPr>
            <p:cNvPr id="370" name="Google Shape;370;p19"/>
            <p:cNvSpPr/>
            <p:nvPr/>
          </p:nvSpPr>
          <p:spPr>
            <a:xfrm>
              <a:off x="0" y="0"/>
              <a:ext cx="25719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0D2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9"/>
            <p:cNvSpPr txBox="1"/>
            <p:nvPr/>
          </p:nvSpPr>
          <p:spPr>
            <a:xfrm>
              <a:off x="142875" y="114300"/>
              <a:ext cx="2286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05 </a:t>
              </a:r>
              <a:r>
                <a:rPr b="1" lang="en" sz="12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Monitoring</a:t>
              </a:r>
              <a:endParaRPr b="1" sz="13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Continuous monitoring with real-time risk flags, full visibility into agent performance and ROI.</a:t>
              </a:r>
              <a:endParaRPr b="0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9"/>
          <p:cNvGrpSpPr/>
          <p:nvPr/>
        </p:nvGrpSpPr>
        <p:grpSpPr>
          <a:xfrm>
            <a:off x="6096000" y="2619375"/>
            <a:ext cx="2571900" cy="1095300"/>
            <a:chOff x="0" y="0"/>
            <a:chExt cx="2571900" cy="1095300"/>
          </a:xfrm>
        </p:grpSpPr>
        <p:sp>
          <p:nvSpPr>
            <p:cNvPr id="374" name="Google Shape;374;p19"/>
            <p:cNvSpPr/>
            <p:nvPr/>
          </p:nvSpPr>
          <p:spPr>
            <a:xfrm>
              <a:off x="0" y="0"/>
              <a:ext cx="25719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C8D0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0D2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9"/>
            <p:cNvSpPr txBox="1"/>
            <p:nvPr/>
          </p:nvSpPr>
          <p:spPr>
            <a:xfrm>
              <a:off x="142875" y="114300"/>
              <a:ext cx="2286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D2B3D"/>
                  </a:solidFill>
                  <a:latin typeface="Calibri"/>
                  <a:ea typeface="Calibri"/>
                  <a:cs typeface="Calibri"/>
                  <a:sym typeface="Calibri"/>
                </a:rPr>
                <a:t>06 </a:t>
              </a:r>
              <a:r>
                <a:rPr b="1" lang="en" sz="12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Continuous Improvement</a:t>
              </a:r>
              <a:endParaRPr b="1" sz="13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We refine your agents based on real Fakeeh patient interactions so they get smarter over time.</a:t>
              </a:r>
              <a:endParaRPr b="0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19"/>
          <p:cNvSpPr txBox="1"/>
          <p:nvPr/>
        </p:nvSpPr>
        <p:spPr>
          <a:xfrm>
            <a:off x="476250" y="428625"/>
            <a:ext cx="5715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D2B3D"/>
                </a:solidFill>
                <a:latin typeface="Calibri"/>
                <a:ea typeface="Calibri"/>
                <a:cs typeface="Calibri"/>
                <a:sym typeface="Calibri"/>
              </a:rPr>
              <a:t>Your AI partner, end to end.</a:t>
            </a:r>
            <a:endParaRPr b="1" sz="2600">
              <a:solidFill>
                <a:srgbClr val="0D2B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476250" y="857250"/>
            <a:ext cx="6191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From discovery to post-development, our team handles the complexity so Fakeeh can stay focused on care.</a:t>
            </a:r>
            <a:endParaRPr b="0" i="1" sz="11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19" title="download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4628100"/>
            <a:ext cx="966625" cy="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3D"/>
                </a:solidFill>
                <a:latin typeface="Georgia"/>
              </a:rPr>
              <a:t>Fakeeh Care Group —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A78"/>
                </a:solidFill>
                <a:latin typeface="Calibri"/>
              </a:rPr>
              <a:t>Dubai's leading private healthcare network — delivering world-class care since 1978.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52144"/>
            <a:ext cx="8503920" cy="13800"/>
          </a:xfrm>
          <a:prstGeom prst="rect">
            <a:avLst/>
          </a:prstGeom>
          <a:solidFill>
            <a:srgbClr val="CC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199339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1993392" cy="180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35331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3D"/>
                </a:solidFill>
                <a:latin typeface="Georgia"/>
              </a:rPr>
              <a:t>1.89M+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28800"/>
            <a:ext cx="17739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8"/>
                </a:solidFill>
                <a:latin typeface="Calibri"/>
              </a:rPr>
              <a:t>Patients/year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2304" y="1261872"/>
            <a:ext cx="199339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32304" y="1261872"/>
            <a:ext cx="1993392" cy="180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2032" y="135331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3D"/>
                </a:solidFill>
                <a:latin typeface="Georgia"/>
              </a:rPr>
              <a:t>4,500+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1828800"/>
            <a:ext cx="17739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8"/>
                </a:solidFill>
                <a:latin typeface="Calibri"/>
              </a:rPr>
              <a:t>Beds &amp; growing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44568" y="1261872"/>
            <a:ext cx="199339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4568" y="1261872"/>
            <a:ext cx="1993392" cy="180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135331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3D"/>
                </a:solidFill>
                <a:latin typeface="Georgia"/>
              </a:rPr>
              <a:t>900+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1828800"/>
            <a:ext cx="17739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8"/>
                </a:solidFill>
                <a:latin typeface="Calibri"/>
              </a:rPr>
              <a:t>Doctors, 50+ specialties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6832" y="1261872"/>
            <a:ext cx="199339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2" y="1261872"/>
            <a:ext cx="1993392" cy="180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35331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3D"/>
                </a:solidFill>
                <a:latin typeface="Georgia"/>
              </a:rPr>
              <a:t>31+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828800"/>
            <a:ext cx="17739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8"/>
                </a:solidFill>
                <a:latin typeface="Calibri"/>
              </a:rPr>
              <a:t>Facilities across UAE &amp; GCC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87168"/>
            <a:ext cx="416052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487168"/>
            <a:ext cx="4160520" cy="180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56032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3D"/>
                </a:solidFill>
                <a:latin typeface="Georgia"/>
              </a:rPr>
              <a:t>What They 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89504"/>
            <a:ext cx="3886200" cy="92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62656"/>
            <a:ext cx="38862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Multi-specialty tertiary &amp; quaternary care across medicine, surgery, oncology, neuroscience, and women's health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Primary care network — 22 Medicentres clinics across Dubai and the Northern Emirates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Advanced diagnostics: CAP-accredited labs, imaging, and robotic surgery programs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Academic &amp; research hospital: Fakeeh University Hospital (Dubai Silicon Oasis) — DHA accredited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Telehealth &amp; digital health programs serving remote and expatriate populations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9432" y="2487168"/>
            <a:ext cx="416052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99432" y="2487168"/>
            <a:ext cx="4160520" cy="180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256032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3D"/>
                </a:solidFill>
                <a:latin typeface="Georgia"/>
              </a:rPr>
              <a:t>Scale &amp; Capacity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2889504"/>
            <a:ext cx="3886200" cy="92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2962656"/>
            <a:ext cx="38862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Flagship: Fakeeh University Hospital, Dubai — 450+ beds, 24/7 emergency &amp; ICU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4 hospitals today → 7 hospitals by 2028 (1,675 beds target)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AED 500M+ HEAL Neuroscience Centre under construction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JCI Accredited (6th consecutive time) · ANCC Magnet Nursing Recognition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A6A78"/>
                </a:solidFill>
                <a:latin typeface="Calibri"/>
              </a:rPr>
              <a:t>• Listed on Tadawul (4017/FAKEEHCA) since June 2024 — SAR 3.1B revenue FY2025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72744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6A78"/>
                </a:solidFill>
                <a:latin typeface="Calibri"/>
              </a:rPr>
              <a:t>Fakeeh Care Group is expanding rapidly across Dubai and the GCC — with the patient volume, infrastructure, and ambition to make AI-powered care transformation both timely and impactful.</a:t>
            </a:r>
          </a:p>
        </p:txBody>
      </p:sp>
      <p:pic>
        <p:nvPicPr>
          <p:cNvPr id="98" name="Google Shape;98;p13" title="download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1600" y="4628100"/>
            <a:ext cx="966625" cy="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