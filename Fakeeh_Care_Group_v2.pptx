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3" r:id="rId13"/>
    <p:sldId id="257" r:id="rId7"/>
    <p:sldId id="258" r:id="rId8"/>
    <p:sldId id="259" r:id="rId9"/>
    <p:sldId id="260" r:id="rId10"/>
    <p:sldId id="261" r:id="rId11"/>
    <p:sldId id="262" r:id="rId12"/>
    <p:sldId id="264" r:id="rId1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2.xml"/><Relationship Id="rId14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1e19153e3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g3f1e19153e3_2_75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1e19153e3_2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g3f1e19153e3_2_98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f1e19153e3_2_2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g3f1e19153e3_2_203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f1e19153e3_2_2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g3f1e19153e3_2_259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f1e19153e3_2_3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g3f1e19153e3_2_319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f1e19153e3_2_3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g3f1e19153e3_2_384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f1e19153e3_2_4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g3f1e19153e3_2_449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514479" y="1597819"/>
            <a:ext cx="5830759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028957" y="2914650"/>
            <a:ext cx="4801801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342986" y="1200150"/>
            <a:ext cx="6173744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541870" y="3305175"/>
            <a:ext cx="5830759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541870" y="2180035"/>
            <a:ext cx="5830759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342986" y="1200150"/>
            <a:ext cx="30297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3487022" y="1200150"/>
            <a:ext cx="30297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342986" y="1151335"/>
            <a:ext cx="3030899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342986" y="1631156"/>
            <a:ext cx="3030899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3484640" y="1151335"/>
            <a:ext cx="3032090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3484640" y="1631156"/>
            <a:ext cx="3032090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342986" y="204788"/>
            <a:ext cx="2256799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2681958" y="204788"/>
            <a:ext cx="3834772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342986" y="1076325"/>
            <a:ext cx="2256799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344552" y="3600450"/>
            <a:ext cx="411583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344552" y="459581"/>
            <a:ext cx="411583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344552" y="4025503"/>
            <a:ext cx="411583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1732622" y="-189486"/>
            <a:ext cx="3394472" cy="61737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3550690" y="1628582"/>
            <a:ext cx="4388644" cy="1543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406654" y="142311"/>
            <a:ext cx="4388644" cy="45159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42986" y="1200150"/>
            <a:ext cx="6173744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381000" y="1047750"/>
            <a:ext cx="8382000" cy="2190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4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Scaling Care at Fakeeh.</a:t>
            </a:r>
            <a:endParaRPr b="0" sz="4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" sz="280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rPr>
              <a:t>Powered by Amigo.</a:t>
            </a:r>
            <a:endParaRPr b="0" sz="28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500"/>
              </a:spcBef>
              <a:spcAft>
                <a:spcPts val="750"/>
              </a:spcAft>
              <a:buNone/>
            </a:pPr>
            <a:r>
              <a:rPr b="0" lang="en" sz="13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How Amigo's patient-facing clinical AI agents can multiply Fakeeh Care Group's capacity without scaling headcount.</a:t>
            </a:r>
            <a:endParaRPr b="0" sz="135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6" name="Google Shape;86;p13"/>
          <p:cNvGrpSpPr/>
          <p:nvPr/>
        </p:nvGrpSpPr>
        <p:grpSpPr>
          <a:xfrm>
            <a:off x="381000" y="3619500"/>
            <a:ext cx="2476500" cy="514500"/>
            <a:chOff x="0" y="0"/>
            <a:chExt cx="2476500" cy="514500"/>
          </a:xfrm>
        </p:grpSpPr>
        <p:sp>
          <p:nvSpPr>
            <p:cNvPr id="87" name="Google Shape;87;p13"/>
            <p:cNvSpPr/>
            <p:nvPr/>
          </p:nvSpPr>
          <p:spPr>
            <a:xfrm>
              <a:off x="0" y="0"/>
              <a:ext cx="2476500" cy="514500"/>
            </a:xfrm>
            <a:prstGeom prst="roundRect">
              <a:avLst>
                <a:gd fmla="val 11110" name="adj"/>
              </a:avLst>
            </a:prstGeom>
            <a:solidFill>
              <a:srgbClr val="EEEAE2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13"/>
            <p:cNvSpPr/>
            <p:nvPr/>
          </p:nvSpPr>
          <p:spPr>
            <a:xfrm>
              <a:off x="0" y="0"/>
              <a:ext cx="38100" cy="514500"/>
            </a:xfrm>
            <a:prstGeom prst="roundRect">
              <a:avLst>
                <a:gd fmla="val 50000" name="adj"/>
              </a:avLst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13"/>
            <p:cNvSpPr txBox="1"/>
            <p:nvPr/>
          </p:nvSpPr>
          <p:spPr>
            <a:xfrm>
              <a:off x="142875" y="0"/>
              <a:ext cx="2190900" cy="5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5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 Fakeeh Care Group</a:t>
              </a:r>
              <a:endParaRPr b="1" sz="11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" name="Google Shape;90;p13"/>
          <p:cNvGrpSpPr/>
          <p:nvPr/>
        </p:nvGrpSpPr>
        <p:grpSpPr>
          <a:xfrm>
            <a:off x="3048000" y="3619500"/>
            <a:ext cx="2476500" cy="514500"/>
            <a:chOff x="0" y="0"/>
            <a:chExt cx="2476500" cy="514500"/>
          </a:xfrm>
        </p:grpSpPr>
        <p:sp>
          <p:nvSpPr>
            <p:cNvPr id="91" name="Google Shape;91;p13"/>
            <p:cNvSpPr/>
            <p:nvPr/>
          </p:nvSpPr>
          <p:spPr>
            <a:xfrm>
              <a:off x="0" y="0"/>
              <a:ext cx="2476500" cy="514500"/>
            </a:xfrm>
            <a:prstGeom prst="roundRect">
              <a:avLst>
                <a:gd fmla="val 11110" name="adj"/>
              </a:avLst>
            </a:prstGeom>
            <a:solidFill>
              <a:srgbClr val="EEEAE2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13"/>
            <p:cNvSpPr/>
            <p:nvPr/>
          </p:nvSpPr>
          <p:spPr>
            <a:xfrm>
              <a:off x="0" y="0"/>
              <a:ext cx="38100" cy="514500"/>
            </a:xfrm>
            <a:prstGeom prst="roundRect">
              <a:avLst>
                <a:gd fmla="val 50000" name="adj"/>
              </a:avLst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3"/>
            <p:cNvSpPr txBox="1"/>
            <p:nvPr/>
          </p:nvSpPr>
          <p:spPr>
            <a:xfrm>
              <a:off x="142875" y="0"/>
              <a:ext cx="2190900" cy="5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5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 Amigo AI</a:t>
              </a:r>
              <a:endParaRPr b="1" sz="11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3"/>
          <p:cNvGrpSpPr/>
          <p:nvPr/>
        </p:nvGrpSpPr>
        <p:grpSpPr>
          <a:xfrm>
            <a:off x="5715000" y="3619500"/>
            <a:ext cx="2476500" cy="514500"/>
            <a:chOff x="0" y="0"/>
            <a:chExt cx="2476500" cy="514500"/>
          </a:xfrm>
        </p:grpSpPr>
        <p:sp>
          <p:nvSpPr>
            <p:cNvPr id="95" name="Google Shape;95;p13"/>
            <p:cNvSpPr/>
            <p:nvPr/>
          </p:nvSpPr>
          <p:spPr>
            <a:xfrm>
              <a:off x="0" y="0"/>
              <a:ext cx="2476500" cy="514500"/>
            </a:xfrm>
            <a:prstGeom prst="roundRect">
              <a:avLst>
                <a:gd fmla="val 11110" name="adj"/>
              </a:avLst>
            </a:prstGeom>
            <a:solidFill>
              <a:srgbClr val="EEEAE2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0" y="0"/>
              <a:ext cx="38100" cy="514500"/>
            </a:xfrm>
            <a:prstGeom prst="roundRect">
              <a:avLst>
                <a:gd fmla="val 50000" name="adj"/>
              </a:avLst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13"/>
            <p:cNvSpPr txBox="1"/>
            <p:nvPr/>
          </p:nvSpPr>
          <p:spPr>
            <a:xfrm>
              <a:off x="142875" y="0"/>
              <a:ext cx="2190900" cy="5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5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Dubai Vision 2030</a:t>
              </a:r>
              <a:endParaRPr b="1" sz="11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98" name="Google Shape;98;p13" title="download.jf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2B3D"/>
                </a:solidFill>
                <a:latin typeface="Georgia"/>
              </a:rPr>
              <a:t>Fakeeh Care Group —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A6A78"/>
                </a:solidFill>
                <a:latin typeface="Calibri"/>
              </a:rPr>
              <a:t>Dubai's leading private healthcare network — delivering world-class care since 1978.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52144"/>
            <a:ext cx="8503920" cy="13800"/>
          </a:xfrm>
          <a:prstGeom prst="rect">
            <a:avLst/>
          </a:prstGeom>
          <a:solidFill>
            <a:srgbClr val="CCC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1.89M+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Patients/year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32304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32304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42032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4,500+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Beds &amp; growing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4568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44568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54296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900+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Doctors, 50+ specialties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56832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56832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31+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Facilities across UAE &amp; GCC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487168"/>
            <a:ext cx="4160520" cy="217627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2487168"/>
            <a:ext cx="4160520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560320"/>
            <a:ext cx="3886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3D"/>
                </a:solidFill>
                <a:latin typeface="Georgia"/>
              </a:rPr>
              <a:t>What They Do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889504"/>
            <a:ext cx="3886200" cy="9200"/>
          </a:xfrm>
          <a:prstGeom prst="rect">
            <a:avLst/>
          </a:prstGeom>
          <a:solidFill>
            <a:srgbClr val="D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962656"/>
            <a:ext cx="38862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Multi-specialty tertiary &amp; quaternary care across medicine, surgery, oncology, neuroscience, and women's health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Primary care network — 22 Medicentres clinics across Dubai and the Northern Emirates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Advanced diagnostics: CAP-accredited labs, imaging, and robotic surgery programs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Academic &amp; research hospital: Fakeeh University Hospital (Dubai Silicon Oasis) — DHA accredited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Telehealth &amp; digital health programs serving remote and expatriate populations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9432" y="2487168"/>
            <a:ext cx="4160520" cy="217627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99432" y="2487168"/>
            <a:ext cx="4160520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6592" y="2560320"/>
            <a:ext cx="3886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3D"/>
                </a:solidFill>
                <a:latin typeface="Georgia"/>
              </a:rPr>
              <a:t>Scale &amp; Capacity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2889504"/>
            <a:ext cx="3886200" cy="9200"/>
          </a:xfrm>
          <a:prstGeom prst="rect">
            <a:avLst/>
          </a:prstGeom>
          <a:solidFill>
            <a:srgbClr val="D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36592" y="2962656"/>
            <a:ext cx="38862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Flagship: Fakeeh University Hospital, Dubai — 450+ beds, 24/7 emergency &amp; ICU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4 hospitals today → 7 hospitals by 2028 (1,675 beds target)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AED 500M+ HEAL Neuroscience Centre under construction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JCI Accredited (6th consecutive time) · ANCC Magnet Nursing Recognition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Listed on Tadawul (4017/FAKEEHCA) since June 2024 — SAR 3.1B revenue FY2025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" y="4727448"/>
            <a:ext cx="8503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5A6A78"/>
                </a:solidFill>
                <a:latin typeface="Calibri"/>
              </a:rPr>
              <a:t>Fakeeh Care Group is expanding rapidly across Dubai and the GCC — with the patient volume, infrastructure, and ambition to make AI-powered care transformation both timely and impactful.</a:t>
            </a:r>
          </a:p>
        </p:txBody>
      </p:sp>
      <p:pic>
        <p:nvPicPr>
          <p:cNvPr id="98" name="Google Shape;98;p13" title="download.jf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308687" y="445770"/>
            <a:ext cx="48018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About Amigo</a:t>
            </a:r>
            <a:endParaRPr sz="1100"/>
          </a:p>
        </p:txBody>
      </p:sp>
      <p:sp>
        <p:nvSpPr>
          <p:cNvPr id="106" name="Google Shape;106;p14"/>
          <p:cNvSpPr txBox="1"/>
          <p:nvPr/>
        </p:nvSpPr>
        <p:spPr>
          <a:xfrm>
            <a:off x="308687" y="857250"/>
            <a:ext cx="5144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000" u="none" cap="none" strike="noStrike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The trusted platform for building, training, and deploying patient-facing clinical AI agents.</a:t>
            </a:r>
            <a:endParaRPr sz="1100"/>
          </a:p>
        </p:txBody>
      </p:sp>
      <p:sp>
        <p:nvSpPr>
          <p:cNvPr id="107" name="Google Shape;107;p14"/>
          <p:cNvSpPr/>
          <p:nvPr/>
        </p:nvSpPr>
        <p:spPr>
          <a:xfrm>
            <a:off x="308687" y="1220724"/>
            <a:ext cx="8505900" cy="1380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8" name="Google Shape;108;p14"/>
          <p:cNvGrpSpPr/>
          <p:nvPr/>
        </p:nvGrpSpPr>
        <p:grpSpPr>
          <a:xfrm>
            <a:off x="304800" y="1314450"/>
            <a:ext cx="3981600" cy="3162300"/>
            <a:chOff x="0" y="0"/>
            <a:chExt cx="3981600" cy="3162300"/>
          </a:xfrm>
        </p:grpSpPr>
        <p:grpSp>
          <p:nvGrpSpPr>
            <p:cNvPr id="109" name="Google Shape;109;p14"/>
            <p:cNvGrpSpPr/>
            <p:nvPr/>
          </p:nvGrpSpPr>
          <p:grpSpPr>
            <a:xfrm>
              <a:off x="0" y="0"/>
              <a:ext cx="3981600" cy="571500"/>
              <a:chOff x="0" y="0"/>
              <a:chExt cx="3981600" cy="571500"/>
            </a:xfrm>
          </p:grpSpPr>
          <p:sp>
            <p:nvSpPr>
              <p:cNvPr id="110" name="Google Shape;110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" name="Google Shape;111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" name="Google Shape;112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Lost Revenue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Provider capacity outpaced by demand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3" name="Google Shape;113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$1M / yr / provider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4" name="Google Shape;114;p14"/>
            <p:cNvGrpSpPr/>
            <p:nvPr/>
          </p:nvGrpSpPr>
          <p:grpSpPr>
            <a:xfrm>
              <a:off x="0" y="647700"/>
              <a:ext cx="3981600" cy="571500"/>
              <a:chOff x="0" y="0"/>
              <a:chExt cx="3981600" cy="571500"/>
            </a:xfrm>
          </p:grpSpPr>
          <p:sp>
            <p:nvSpPr>
              <p:cNvPr id="115" name="Google Shape;115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Turnover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43% physician burnout rate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$500K replacement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9" name="Google Shape;119;p14"/>
            <p:cNvGrpSpPr/>
            <p:nvPr/>
          </p:nvGrpSpPr>
          <p:grpSpPr>
            <a:xfrm>
              <a:off x="0" y="1295400"/>
              <a:ext cx="3981600" cy="571500"/>
              <a:chOff x="0" y="0"/>
              <a:chExt cx="3981600" cy="571500"/>
            </a:xfrm>
          </p:grpSpPr>
          <p:sp>
            <p:nvSpPr>
              <p:cNvPr id="120" name="Google Shape;120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" name="Google Shape;122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Costs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 hrs wasted per hour of care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3" name="Google Shape;123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Clinical inefficiency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4" name="Google Shape;124;p14"/>
            <p:cNvGrpSpPr/>
            <p:nvPr/>
          </p:nvGrpSpPr>
          <p:grpSpPr>
            <a:xfrm>
              <a:off x="0" y="1943100"/>
              <a:ext cx="3981600" cy="571500"/>
              <a:chOff x="0" y="0"/>
              <a:chExt cx="3981600" cy="571500"/>
            </a:xfrm>
          </p:grpSpPr>
          <p:sp>
            <p:nvSpPr>
              <p:cNvPr id="125" name="Google Shape;125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" name="Google Shape;126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" name="Google Shape;127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Unfilled Schedules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No-shows &amp; cancellations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8" name="Google Shape;128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$200 lost / visit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9" name="Google Shape;129;p14"/>
            <p:cNvGrpSpPr/>
            <p:nvPr/>
          </p:nvGrpSpPr>
          <p:grpSpPr>
            <a:xfrm>
              <a:off x="0" y="2590800"/>
              <a:ext cx="3981600" cy="571500"/>
              <a:chOff x="0" y="0"/>
              <a:chExt cx="3981600" cy="571500"/>
            </a:xfrm>
          </p:grpSpPr>
          <p:sp>
            <p:nvSpPr>
              <p:cNvPr id="130" name="Google Shape;130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" name="Google Shape;131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" name="Google Shape;132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Patient Drop-Off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Cannot influence experience outside visit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" name="Google Shape;133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$15K LTV lost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34" name="Google Shape;134;p14"/>
          <p:cNvGrpSpPr/>
          <p:nvPr/>
        </p:nvGrpSpPr>
        <p:grpSpPr>
          <a:xfrm>
            <a:off x="4533900" y="1314450"/>
            <a:ext cx="4305300" cy="3162300"/>
            <a:chOff x="0" y="0"/>
            <a:chExt cx="4305300" cy="3162300"/>
          </a:xfrm>
        </p:grpSpPr>
        <p:sp>
          <p:nvSpPr>
            <p:cNvPr id="135" name="Google Shape;135;p14"/>
            <p:cNvSpPr/>
            <p:nvPr/>
          </p:nvSpPr>
          <p:spPr>
            <a:xfrm>
              <a:off x="0" y="0"/>
              <a:ext cx="4305300" cy="3162300"/>
            </a:xfrm>
            <a:prstGeom prst="roundRect">
              <a:avLst>
                <a:gd fmla="val 2409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14"/>
            <p:cNvSpPr txBox="1"/>
            <p:nvPr/>
          </p:nvSpPr>
          <p:spPr>
            <a:xfrm>
              <a:off x="228600" y="228600"/>
              <a:ext cx="38481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5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Amigo expands provider capacity.</a:t>
              </a:r>
              <a:endParaRPr b="1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37" name="Google Shape;137;p14"/>
            <p:cNvGrpSpPr/>
            <p:nvPr/>
          </p:nvGrpSpPr>
          <p:grpSpPr>
            <a:xfrm>
              <a:off x="228600" y="762000"/>
              <a:ext cx="1809600" cy="952500"/>
              <a:chOff x="0" y="0"/>
              <a:chExt cx="1809600" cy="952500"/>
            </a:xfrm>
          </p:grpSpPr>
          <p:sp>
            <p:nvSpPr>
              <p:cNvPr id="138" name="Google Shape;138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" name="Google Shape;139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" name="Google Shape;140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CAPACITY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5X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patient capacity per provider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3" name="Google Shape;143;p14"/>
            <p:cNvGrpSpPr/>
            <p:nvPr/>
          </p:nvGrpSpPr>
          <p:grpSpPr>
            <a:xfrm>
              <a:off x="2266950" y="762000"/>
              <a:ext cx="1809600" cy="952500"/>
              <a:chOff x="0" y="0"/>
              <a:chExt cx="1809600" cy="952500"/>
            </a:xfrm>
          </p:grpSpPr>
          <p:sp>
            <p:nvSpPr>
              <p:cNvPr id="144" name="Google Shape;144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" name="Google Shape;146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REVENUE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7" name="Google Shape;147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400%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" name="Google Shape;148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increase in billable revenue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9" name="Google Shape;149;p14"/>
            <p:cNvGrpSpPr/>
            <p:nvPr/>
          </p:nvGrpSpPr>
          <p:grpSpPr>
            <a:xfrm>
              <a:off x="228600" y="1905000"/>
              <a:ext cx="1809600" cy="952500"/>
              <a:chOff x="0" y="0"/>
              <a:chExt cx="1809600" cy="952500"/>
            </a:xfrm>
          </p:grpSpPr>
          <p:sp>
            <p:nvSpPr>
              <p:cNvPr id="150" name="Google Shape;150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2C6E5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OUTCOMES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3" name="Google Shape;153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25%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4" name="Google Shape;154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lift in outcome measures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55" name="Google Shape;155;p14"/>
            <p:cNvGrpSpPr/>
            <p:nvPr/>
          </p:nvGrpSpPr>
          <p:grpSpPr>
            <a:xfrm>
              <a:off x="2266950" y="1905000"/>
              <a:ext cx="1809600" cy="952500"/>
              <a:chOff x="0" y="0"/>
              <a:chExt cx="1809600" cy="952500"/>
            </a:xfrm>
          </p:grpSpPr>
          <p:sp>
            <p:nvSpPr>
              <p:cNvPr id="156" name="Google Shape;156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4A3A7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ROI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" name="Google Shape;159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22.2x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" name="Google Shape;160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total return on investment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61" name="Google Shape;161;p14"/>
          <p:cNvSpPr txBox="1"/>
          <p:nvPr/>
        </p:nvSpPr>
        <p:spPr>
          <a:xfrm>
            <a:off x="274389" y="4924044"/>
            <a:ext cx="85746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amigo.ai  ·  Backed by General Catalyst, GSV Ventures, Madrona Ventures &amp; United Healthcare  ·  $20M raised</a:t>
            </a:r>
            <a:endParaRPr sz="1100"/>
          </a:p>
        </p:txBody>
      </p:sp>
      <p:pic>
        <p:nvPicPr>
          <p:cNvPr id="162" name="Google Shape;162;p14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5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5"/>
          <p:cNvSpPr txBox="1"/>
          <p:nvPr/>
        </p:nvSpPr>
        <p:spPr>
          <a:xfrm>
            <a:off x="304800" y="187263"/>
            <a:ext cx="8534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Fakeeh faces deep, systemic challenges — and these are just a few</a:t>
            </a:r>
            <a:endParaRPr b="0" sz="2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i="1" lang="en" sz="10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Beyond capacity constraints, Fakeeh navigates complexity across patient engagement, multilingual care, chronic disease, home health, and rapid multi-site expansion — each requiring a tailored, scalable solution.</a:t>
            </a:r>
            <a:endParaRPr i="1" sz="10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0" name="Google Shape;170;p15"/>
          <p:cNvGrpSpPr/>
          <p:nvPr/>
        </p:nvGrpSpPr>
        <p:grpSpPr>
          <a:xfrm>
            <a:off x="304800" y="1285875"/>
            <a:ext cx="8534400" cy="3286200"/>
            <a:chOff x="0" y="0"/>
            <a:chExt cx="8534400" cy="3286200"/>
          </a:xfrm>
        </p:grpSpPr>
        <p:grpSp>
          <p:nvGrpSpPr>
            <p:cNvPr id="171" name="Google Shape;171;p15"/>
            <p:cNvGrpSpPr/>
            <p:nvPr/>
          </p:nvGrpSpPr>
          <p:grpSpPr>
            <a:xfrm>
              <a:off x="0" y="0"/>
              <a:ext cx="2743200" cy="1571700"/>
              <a:chOff x="0" y="0"/>
              <a:chExt cx="2743200" cy="1571700"/>
            </a:xfrm>
          </p:grpSpPr>
          <p:sp>
            <p:nvSpPr>
              <p:cNvPr id="172" name="Google Shape;172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" name="Google Shape;174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Lost Revenue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Explosive Patient Volume Growth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1.89M patients growing 8%+ YoY. Clinical staff cannot scale at the same pace.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$1M annual revenue lost / provider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75" name="Google Shape;175;p15"/>
            <p:cNvGrpSpPr/>
            <p:nvPr/>
          </p:nvGrpSpPr>
          <p:grpSpPr>
            <a:xfrm>
              <a:off x="2895600" y="0"/>
              <a:ext cx="2743200" cy="1571700"/>
              <a:chOff x="0" y="0"/>
              <a:chExt cx="2743200" cy="1571700"/>
            </a:xfrm>
          </p:grpSpPr>
          <p:sp>
            <p:nvSpPr>
              <p:cNvPr id="176" name="Google Shape;176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" name="Google Shape;178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Unfilled Schedules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Post-Visit Follow-Up Gap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1.89M discharges annually. Systematic follow-ups for recovery are operationally impossible.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$200 lost per unfilled visit from no-shows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79" name="Google Shape;179;p15"/>
            <p:cNvGrpSpPr/>
            <p:nvPr/>
          </p:nvGrpSpPr>
          <p:grpSpPr>
            <a:xfrm>
              <a:off x="5791200" y="0"/>
              <a:ext cx="2743200" cy="1571700"/>
              <a:chOff x="0" y="0"/>
              <a:chExt cx="2743200" cy="1571700"/>
            </a:xfrm>
          </p:grpSpPr>
          <p:sp>
            <p:nvSpPr>
              <p:cNvPr id="180" name="Google Shape;180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Costs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Multi-Language Population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Dubai serves a highly diverse population requiring care in Arabic, English, Urdu, Tagalog, and Hindi.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2 hours wasted per hour of patient care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83" name="Google Shape;183;p15"/>
            <p:cNvGrpSpPr/>
            <p:nvPr/>
          </p:nvGrpSpPr>
          <p:grpSpPr>
            <a:xfrm>
              <a:off x="0" y="1714500"/>
              <a:ext cx="2743200" cy="1571700"/>
              <a:chOff x="0" y="0"/>
              <a:chExt cx="2743200" cy="1571700"/>
            </a:xfrm>
          </p:grpSpPr>
          <p:sp>
            <p:nvSpPr>
              <p:cNvPr id="184" name="Google Shape;184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" name="Google Shape;185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Turnover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Rapid Multi-Site Expansion</a:t>
                </a:r>
                <a:r>
                  <a:rPr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c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aling to 7 hospitals and 9 medical centers by 2028 requires replicating engagement operations.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43% physician burnout rate nationally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87" name="Google Shape;187;p15"/>
            <p:cNvGrpSpPr/>
            <p:nvPr/>
          </p:nvGrpSpPr>
          <p:grpSpPr>
            <a:xfrm>
              <a:off x="2895600" y="1714500"/>
              <a:ext cx="2743200" cy="1571700"/>
              <a:chOff x="0" y="0"/>
              <a:chExt cx="2743200" cy="1571700"/>
            </a:xfrm>
          </p:grpSpPr>
          <p:sp>
            <p:nvSpPr>
              <p:cNvPr id="188" name="Google Shape;188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" name="Google Shape;189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" name="Google Shape;190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Patient Drop-Off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Chronic Disease Management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With 50+ specialties, managing ongoing engagement for chronic conditions consumes excessive bandwidth.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$15K LTV lost per patient drop-off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91" name="Google Shape;191;p15"/>
            <p:cNvGrpSpPr/>
            <p:nvPr/>
          </p:nvGrpSpPr>
          <p:grpSpPr>
            <a:xfrm>
              <a:off x="5791200" y="1714500"/>
              <a:ext cx="2743200" cy="1571700"/>
              <a:chOff x="0" y="0"/>
              <a:chExt cx="2743200" cy="1571700"/>
            </a:xfrm>
          </p:grpSpPr>
          <p:sp>
            <p:nvSpPr>
              <p:cNvPr id="192" name="Google Shape;192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" name="Google Shape;193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" name="Google Shape;194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Missed Quality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 Healthcare Coordination</a:t>
                </a:r>
                <a:r>
                  <a:rPr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panning 6 cities, remote monitoring relies on manual outreach, creating inconsistent experiences.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Missed quality measures from care gaps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195" name="Google Shape;195;p15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Rectangle 195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320040" y="466344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FFFF"/>
                </a:solidFill>
                <a:latin typeface="Calibri"/>
              </a:rPr>
              <a:t>These 6 challenges are the tip of the iceberg — Fakeeh also contends with referral leakage, insurance pre-authorization delays, provider onboarding complexity, and post-discharge readmission risk. Amigo's platform is built to address the full spectrum.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6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6"/>
          <p:cNvSpPr txBox="1"/>
          <p:nvPr/>
        </p:nvSpPr>
        <p:spPr>
          <a:xfrm>
            <a:off x="304800" y="438150"/>
            <a:ext cx="85344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1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Amigo's answer to every Fakeeh challenge</a:t>
            </a:r>
            <a:endParaRPr b="0" sz="21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1" lang="en" sz="10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Each AI agent is purpose-built to solve a specific operational or clinical pain point identified at Fakeeh.</a:t>
            </a:r>
            <a:endParaRPr i="1" sz="10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2" name="Google Shape;202;p16"/>
          <p:cNvGrpSpPr/>
          <p:nvPr/>
        </p:nvGrpSpPr>
        <p:grpSpPr>
          <a:xfrm>
            <a:off x="304800" y="1190625"/>
            <a:ext cx="8534400" cy="1666800"/>
            <a:chOff x="0" y="0"/>
            <a:chExt cx="8534400" cy="1666800"/>
          </a:xfrm>
        </p:grpSpPr>
        <p:grpSp>
          <p:nvGrpSpPr>
            <p:cNvPr id="203" name="Google Shape;203;p16"/>
            <p:cNvGrpSpPr/>
            <p:nvPr/>
          </p:nvGrpSpPr>
          <p:grpSpPr>
            <a:xfrm>
              <a:off x="0" y="0"/>
              <a:ext cx="2000100" cy="1666800"/>
              <a:chOff x="0" y="0"/>
              <a:chExt cx="2000100" cy="1666800"/>
            </a:xfrm>
          </p:grpSpPr>
          <p:sp>
            <p:nvSpPr>
              <p:cNvPr id="204" name="Google Shape;204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01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Proactive Outreach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Lost Revenue &amp; Unfilled Schedules — AI reactivates dormant patients, fills gaps, and books appointments without front-desk involvement.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07" name="Google Shape;207;p16"/>
            <p:cNvGrpSpPr/>
            <p:nvPr/>
          </p:nvGrpSpPr>
          <p:grpSpPr>
            <a:xfrm>
              <a:off x="2171700" y="0"/>
              <a:ext cx="2000100" cy="1666800"/>
              <a:chOff x="0" y="0"/>
              <a:chExt cx="2000100" cy="1666800"/>
            </a:xfrm>
          </p:grpSpPr>
          <p:sp>
            <p:nvSpPr>
              <p:cNvPr id="208" name="Google Shape;208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" name="Google Shape;209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02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Scheduling &amp; Reminders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Explosive Volume Growth — cuts no-shows by 50% and absorbs 1.89M+ annual patients without adding headcount.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1" name="Google Shape;211;p16"/>
            <p:cNvGrpSpPr/>
            <p:nvPr/>
          </p:nvGrpSpPr>
          <p:grpSpPr>
            <a:xfrm>
              <a:off x="4343400" y="0"/>
              <a:ext cx="2000100" cy="1666800"/>
              <a:chOff x="0" y="0"/>
              <a:chExt cx="2000100" cy="1666800"/>
            </a:xfrm>
          </p:grpSpPr>
          <p:sp>
            <p:nvSpPr>
              <p:cNvPr id="212" name="Google Shape;212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" name="Google Shape;214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03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Clinical Intake &amp; Triage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High Costs &amp; Inefficiency — eliminates 2 hrs of admin waste per patient hour; routes to the right specialty in seconds.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5" name="Google Shape;215;p16"/>
            <p:cNvGrpSpPr/>
            <p:nvPr/>
          </p:nvGrpSpPr>
          <p:grpSpPr>
            <a:xfrm>
              <a:off x="6515100" y="0"/>
              <a:ext cx="2019300" cy="1666800"/>
              <a:chOff x="0" y="0"/>
              <a:chExt cx="2019300" cy="1666800"/>
            </a:xfrm>
          </p:grpSpPr>
          <p:sp>
            <p:nvSpPr>
              <p:cNvPr id="216" name="Google Shape;216;p16"/>
              <p:cNvSpPr/>
              <p:nvPr/>
            </p:nvSpPr>
            <p:spPr>
              <a:xfrm>
                <a:off x="0" y="0"/>
                <a:ext cx="20193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16"/>
              <p:cNvSpPr txBox="1"/>
              <p:nvPr/>
            </p:nvSpPr>
            <p:spPr>
              <a:xfrm>
                <a:off x="142875" y="142875"/>
                <a:ext cx="17337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04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Multilingual Patient Education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Multi-Language Population — delivers pre-visit prep in Arabic, English, Urdu, Tagalog, Hindi and 100+ languages.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19" name="Google Shape;219;p16"/>
          <p:cNvGrpSpPr/>
          <p:nvPr/>
        </p:nvGrpSpPr>
        <p:grpSpPr>
          <a:xfrm>
            <a:off x="304800" y="3000375"/>
            <a:ext cx="8391675" cy="1666800"/>
            <a:chOff x="0" y="0"/>
            <a:chExt cx="8391675" cy="1666800"/>
          </a:xfrm>
        </p:grpSpPr>
        <p:grpSp>
          <p:nvGrpSpPr>
            <p:cNvPr id="220" name="Google Shape;220;p16"/>
            <p:cNvGrpSpPr/>
            <p:nvPr/>
          </p:nvGrpSpPr>
          <p:grpSpPr>
            <a:xfrm>
              <a:off x="0" y="0"/>
              <a:ext cx="2000100" cy="1666800"/>
              <a:chOff x="0" y="0"/>
              <a:chExt cx="2000100" cy="1666800"/>
            </a:xfrm>
          </p:grpSpPr>
          <p:sp>
            <p:nvSpPr>
              <p:cNvPr id="221" name="Google Shape;221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" name="Google Shape;223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05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Provider Copilot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High Turnover &amp; Burnout — arms 900+ Fakeeh doctors with AI clinical decision support, cutting cognitive load and reducing 43% burnout rate.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4" name="Google Shape;224;p16"/>
            <p:cNvGrpSpPr/>
            <p:nvPr/>
          </p:nvGrpSpPr>
          <p:grpSpPr>
            <a:xfrm>
              <a:off x="2171700" y="0"/>
              <a:ext cx="2000100" cy="1666800"/>
              <a:chOff x="0" y="0"/>
              <a:chExt cx="2000100" cy="1666800"/>
            </a:xfrm>
          </p:grpSpPr>
          <p:sp>
            <p:nvSpPr>
              <p:cNvPr id="225" name="Google Shape;225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06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Post-Visit Follow-Up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Patient Drop-Off &amp; Referral Leakage — automated follow-ups capture the $15K LTV lost per drop-off and close referral loops.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8" name="Google Shape;228;p16"/>
            <p:cNvGrpSpPr/>
            <p:nvPr/>
          </p:nvGrpSpPr>
          <p:grpSpPr>
            <a:xfrm>
              <a:off x="4343400" y="0"/>
              <a:ext cx="2000100" cy="1666800"/>
              <a:chOff x="0" y="0"/>
              <a:chExt cx="2000100" cy="1666800"/>
            </a:xfrm>
          </p:grpSpPr>
          <p:sp>
            <p:nvSpPr>
              <p:cNvPr id="229" name="Google Shape;229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07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24/7 Chronic Disease Care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Chronic Disease Management — continuous engagement for high-volume chronic patients across 50+ specialties without consuming provider bandwidth.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2" name="Google Shape;232;p16"/>
            <p:cNvGrpSpPr/>
            <p:nvPr/>
          </p:nvGrpSpPr>
          <p:grpSpPr>
            <a:xfrm>
              <a:off x="6515100" y="0"/>
              <a:ext cx="1876575" cy="1666800"/>
              <a:chOff x="0" y="0"/>
              <a:chExt cx="1876575" cy="1666800"/>
            </a:xfrm>
          </p:grpSpPr>
          <p:sp>
            <p:nvSpPr>
              <p:cNvPr id="233" name="Google Shape;233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" name="Google Shape;234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" name="Google Shape;235;p16"/>
              <p:cNvSpPr txBox="1"/>
              <p:nvPr/>
            </p:nvSpPr>
            <p:spPr>
              <a:xfrm>
                <a:off x="142875" y="142875"/>
                <a:ext cx="17337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08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RPM &amp; Home Health AI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Home Healthcare Coordination &amp; Readmission Risk — remote monitoring across 6 cities with proactive flagging of at-risk patients.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36" name="Google Shape;236;p16"/>
          <p:cNvSpPr txBox="1"/>
          <p:nvPr/>
        </p:nvSpPr>
        <p:spPr>
          <a:xfrm>
            <a:off x="274320" y="4924425"/>
            <a:ext cx="8595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amigo.ai</a:t>
            </a:r>
            <a:endParaRPr sz="85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7" name="Google Shape;237;p16" title="download.jf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7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4" name="Google Shape;244;p17"/>
          <p:cNvGrpSpPr/>
          <p:nvPr/>
        </p:nvGrpSpPr>
        <p:grpSpPr>
          <a:xfrm>
            <a:off x="304725" y="211038"/>
            <a:ext cx="8534550" cy="809700"/>
            <a:chOff x="0" y="0"/>
            <a:chExt cx="8534550" cy="809700"/>
          </a:xfrm>
        </p:grpSpPr>
        <p:sp>
          <p:nvSpPr>
            <p:cNvPr id="245" name="Google Shape;245;p17"/>
            <p:cNvSpPr txBox="1"/>
            <p:nvPr/>
          </p:nvSpPr>
          <p:spPr>
            <a:xfrm>
              <a:off x="0" y="0"/>
              <a:ext cx="42864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Care Journey</a:t>
              </a:r>
              <a:endParaRPr b="1" sz="100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2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One patient. Six slide-4 challenges. Resolved at every touchpoint.</a:t>
              </a:r>
              <a:endParaRPr b="1" sz="2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7"/>
            <p:cNvSpPr/>
            <p:nvPr/>
          </p:nvSpPr>
          <p:spPr>
            <a:xfrm>
              <a:off x="4476750" y="0"/>
              <a:ext cx="4057800" cy="743100"/>
            </a:xfrm>
            <a:prstGeom prst="roundRect">
              <a:avLst>
                <a:gd fmla="val 7692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17"/>
            <p:cNvSpPr txBox="1"/>
            <p:nvPr/>
          </p:nvSpPr>
          <p:spPr>
            <a:xfrm>
              <a:off x="4619625" y="95250"/>
              <a:ext cx="37719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Ahmed's journey shows Amigo's agents eliminating Fakeeh's exact pain points — step by step.</a:t>
              </a:r>
              <a:endParaRPr b="1" sz="9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en" sz="8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Ahmed, 58 • Diabetic &amp; hypertensive • Regular patient</a:t>
              </a:r>
              <a:endParaRPr sz="8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i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Powered by Amigo</a:t>
              </a:r>
              <a:endParaRPr i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8" name="Google Shape;248;p17"/>
          <p:cNvGrpSpPr/>
          <p:nvPr/>
        </p:nvGrpSpPr>
        <p:grpSpPr>
          <a:xfrm>
            <a:off x="304800" y="1190625"/>
            <a:ext cx="1600200" cy="3257700"/>
            <a:chOff x="0" y="0"/>
            <a:chExt cx="1600200" cy="3257700"/>
          </a:xfrm>
        </p:grpSpPr>
        <p:sp>
          <p:nvSpPr>
            <p:cNvPr id="249" name="Google Shape;249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01 / Outreach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0" name="Google Shape;250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"Ahmed, you're overdue for a diabetes check. I've found a Thursday slot at Fakeeh University Hospital — want me to book it?"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3" name="Google Shape;253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Challenge Solved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Lost Revenue: dormant patient reactivated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Unfilled Schedules: slot filled with no front-desk effort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Agent: Proactive Outreach (Slide 5 · #01)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4" name="Google Shape;254;p17"/>
          <p:cNvGrpSpPr/>
          <p:nvPr/>
        </p:nvGrpSpPr>
        <p:grpSpPr>
          <a:xfrm>
            <a:off x="2038350" y="1190625"/>
            <a:ext cx="1600200" cy="3257700"/>
            <a:chOff x="0" y="0"/>
            <a:chExt cx="1600200" cy="3257700"/>
          </a:xfrm>
        </p:grpSpPr>
        <p:sp>
          <p:nvSpPr>
            <p:cNvPr id="255" name="Google Shape;255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02 / Pre-Visit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6" name="Google Shape;256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"Your appointment is tomorrow, Ahmed. Any new symptoms? Here's your prep checklist in Arabic — Dr. Al-Mansoori will be ready."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9" name="Google Shape;259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Challenge Solved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Volume Growth: intake automated, front-desk freed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Multi-Language: prep delivered in Arabic, auto-detected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Agents: Scheduling #02 · Multilingual Education #04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0" name="Google Shape;260;p17"/>
          <p:cNvGrpSpPr/>
          <p:nvPr/>
        </p:nvGrpSpPr>
        <p:grpSpPr>
          <a:xfrm>
            <a:off x="3771900" y="1190625"/>
            <a:ext cx="1600200" cy="3257700"/>
            <a:chOff x="0" y="0"/>
            <a:chExt cx="1600200" cy="3257700"/>
          </a:xfrm>
        </p:grpSpPr>
        <p:sp>
          <p:nvSpPr>
            <p:cNvPr id="261" name="Google Shape;261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03 / Visit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" name="Google Shape;262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" name="Google Shape;264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Clinical Team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Dr. Al-Mansoori walks in fully briefed — HbA1c trend, flagged care gaps, and suggested next steps already surfaced by Amigo.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" name="Google Shape;265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Challenge Solved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Burnout: cognitive load offloaded from physician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High Turnover: new doctors onboard faster with AI support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Agent: Provider Copilot (Slide 5 · #05)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6" name="Google Shape;266;p17"/>
          <p:cNvGrpSpPr/>
          <p:nvPr/>
        </p:nvGrpSpPr>
        <p:grpSpPr>
          <a:xfrm>
            <a:off x="5505450" y="1190625"/>
            <a:ext cx="1600200" cy="3257700"/>
            <a:chOff x="0" y="0"/>
            <a:chExt cx="1600200" cy="3257700"/>
          </a:xfrm>
        </p:grpSpPr>
        <p:sp>
          <p:nvSpPr>
            <p:cNvPr id="267" name="Google Shape;267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04 / Post-Visit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8" name="Google Shape;268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"Your A1C is 7.2 — manageable, Ahmed! Dr. Al-Mansoori adjusted your Metformin. Dietitian appointment booked. Reply anytime."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1" name="Google Shape;271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Challenge Solved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Drop-Off: $15K LTV retained per patient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Referral Leakage: dietitian referral closed in the same conversation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Agent: Post-Visit Follow-Up (Slide 5 · #06)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2" name="Google Shape;272;p17"/>
          <p:cNvGrpSpPr/>
          <p:nvPr/>
        </p:nvGrpSpPr>
        <p:grpSpPr>
          <a:xfrm>
            <a:off x="7239000" y="1190625"/>
            <a:ext cx="1600200" cy="3257700"/>
            <a:chOff x="0" y="0"/>
            <a:chExt cx="1600200" cy="3257700"/>
          </a:xfrm>
        </p:grpSpPr>
        <p:sp>
          <p:nvSpPr>
            <p:cNvPr id="273" name="Google Shape;273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05 / Ongoing &amp; Remote Care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4" name="Google Shape;274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" name="Google Shape;276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"Great week, Ahmed — steps goal hit! HbA1c trending down. Any issues with the new dose? Your home-monitoring data looks stable."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7" name="Google Shape;277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Challenge Solved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Chronic Disease: continuous engagement without provider bandwidth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Home Health: RPM data from 6 cities monitored, at-risk flagged early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Agents: 24/7 Chronic Care #07 · RPM &amp; Home Health AI #08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78" name="Google Shape;278;p17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8"/>
          <p:cNvSpPr txBox="1"/>
          <p:nvPr/>
        </p:nvSpPr>
        <p:spPr>
          <a:xfrm>
            <a:off x="381000" y="291150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rPr>
              <a:t>The Amigo advantage</a:t>
            </a:r>
            <a:endParaRPr b="1" sz="2400">
              <a:solidFill>
                <a:srgbClr val="0D2B3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Why Amigo — not a generic chatbot, not a point solution.</a:t>
            </a:r>
            <a:endParaRPr i="1" sz="11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5" name="Google Shape;285;p18"/>
          <p:cNvGrpSpPr/>
          <p:nvPr/>
        </p:nvGrpSpPr>
        <p:grpSpPr>
          <a:xfrm>
            <a:off x="381000" y="1190625"/>
            <a:ext cx="8382000" cy="3200550"/>
            <a:chOff x="0" y="0"/>
            <a:chExt cx="8382000" cy="3200550"/>
          </a:xfrm>
        </p:grpSpPr>
        <p:sp>
          <p:nvSpPr>
            <p:cNvPr id="286" name="Google Shape;286;p18"/>
            <p:cNvSpPr/>
            <p:nvPr/>
          </p:nvSpPr>
          <p:spPr>
            <a:xfrm>
              <a:off x="0" y="0"/>
              <a:ext cx="8382000" cy="285900"/>
            </a:xfrm>
            <a:prstGeom prst="roundRect">
              <a:avLst>
                <a:gd fmla="val 13333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18"/>
            <p:cNvSpPr txBox="1"/>
            <p:nvPr/>
          </p:nvSpPr>
          <p:spPr>
            <a:xfrm>
              <a:off x="190500" y="0"/>
              <a:ext cx="476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Key Capability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8" name="Google Shape;288;p18"/>
            <p:cNvSpPr txBox="1"/>
            <p:nvPr/>
          </p:nvSpPr>
          <p:spPr>
            <a:xfrm>
              <a:off x="5143500" y="0"/>
              <a:ext cx="1524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Amigo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9" name="Google Shape;289;p18"/>
            <p:cNvSpPr txBox="1"/>
            <p:nvPr/>
          </p:nvSpPr>
          <p:spPr>
            <a:xfrm>
              <a:off x="6858000" y="0"/>
              <a:ext cx="1333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A0B0C0"/>
                  </a:solidFill>
                  <a:latin typeface="Calibri"/>
                  <a:ea typeface="Calibri"/>
                  <a:cs typeface="Calibri"/>
                  <a:sym typeface="Calibri"/>
                </a:rPr>
                <a:t>Other Agents</a:t>
              </a:r>
              <a:endParaRPr b="1" sz="1100">
                <a:solidFill>
                  <a:srgbClr val="A0B0C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290" name="Google Shape;290;p18"/>
            <p:cNvGrpSpPr/>
            <p:nvPr/>
          </p:nvGrpSpPr>
          <p:grpSpPr>
            <a:xfrm>
              <a:off x="0" y="342900"/>
              <a:ext cx="8382000" cy="324000"/>
              <a:chOff x="0" y="0"/>
              <a:chExt cx="8382000" cy="324000"/>
            </a:xfrm>
          </p:grpSpPr>
          <p:sp>
            <p:nvSpPr>
              <p:cNvPr id="291" name="Google Shape;291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2" name="Google Shape;292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One unified platform for all agent use cases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3" name="Google Shape;293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4" name="Google Shape;294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5" name="Google Shape;295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" name="Google Shape;296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97" name="Google Shape;297;p18"/>
            <p:cNvGrpSpPr/>
            <p:nvPr/>
          </p:nvGrpSpPr>
          <p:grpSpPr>
            <a:xfrm>
              <a:off x="0" y="704850"/>
              <a:ext cx="8382000" cy="324000"/>
              <a:chOff x="0" y="0"/>
              <a:chExt cx="8382000" cy="324000"/>
            </a:xfrm>
          </p:grpSpPr>
          <p:sp>
            <p:nvSpPr>
              <p:cNvPr id="298" name="Google Shape;298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9" name="Google Shape;299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Custom-built for your patient population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0" name="Google Shape;300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1" name="Google Shape;301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3" name="Google Shape;303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4" name="Google Shape;304;p18"/>
            <p:cNvGrpSpPr/>
            <p:nvPr/>
          </p:nvGrpSpPr>
          <p:grpSpPr>
            <a:xfrm>
              <a:off x="0" y="1066800"/>
              <a:ext cx="8382000" cy="324000"/>
              <a:chOff x="0" y="0"/>
              <a:chExt cx="8382000" cy="324000"/>
            </a:xfrm>
          </p:grpSpPr>
          <p:sp>
            <p:nvSpPr>
              <p:cNvPr id="305" name="Google Shape;305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6" name="Google Shape;306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Deploy in weeks with deep EHR integrations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7" name="Google Shape;307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8" name="Google Shape;308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9" name="Google Shape;309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0" name="Google Shape;310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11" name="Google Shape;311;p18"/>
            <p:cNvGrpSpPr/>
            <p:nvPr/>
          </p:nvGrpSpPr>
          <p:grpSpPr>
            <a:xfrm>
              <a:off x="0" y="1428750"/>
              <a:ext cx="8382000" cy="324000"/>
              <a:chOff x="0" y="0"/>
              <a:chExt cx="8382000" cy="324000"/>
            </a:xfrm>
          </p:grpSpPr>
          <p:sp>
            <p:nvSpPr>
              <p:cNvPr id="312" name="Google Shape;312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3" name="Google Shape;313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Dedicated Agent Engineer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4" name="Google Shape;314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5" name="Google Shape;315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6" name="Google Shape;316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7" name="Google Shape;317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18" name="Google Shape;318;p18"/>
            <p:cNvGrpSpPr/>
            <p:nvPr/>
          </p:nvGrpSpPr>
          <p:grpSpPr>
            <a:xfrm>
              <a:off x="0" y="1790700"/>
              <a:ext cx="8382000" cy="324000"/>
              <a:chOff x="0" y="0"/>
              <a:chExt cx="8382000" cy="324000"/>
            </a:xfrm>
          </p:grpSpPr>
          <p:sp>
            <p:nvSpPr>
              <p:cNvPr id="319" name="Google Shape;319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0" name="Google Shape;320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Transparent and auditable reasoning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1" name="Google Shape;321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2" name="Google Shape;322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3" name="Google Shape;323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4" name="Google Shape;324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25" name="Google Shape;325;p18"/>
            <p:cNvGrpSpPr/>
            <p:nvPr/>
          </p:nvGrpSpPr>
          <p:grpSpPr>
            <a:xfrm>
              <a:off x="0" y="2152650"/>
              <a:ext cx="8382000" cy="324000"/>
              <a:chOff x="0" y="0"/>
              <a:chExt cx="8382000" cy="324000"/>
            </a:xfrm>
          </p:grpSpPr>
          <p:sp>
            <p:nvSpPr>
              <p:cNvPr id="326" name="Google Shape;326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7" name="Google Shape;327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Simulation-validated evaluations (Digital Residency™)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8" name="Google Shape;328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9" name="Google Shape;329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0" name="Google Shape;330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1" name="Google Shape;331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2" name="Google Shape;332;p18"/>
            <p:cNvGrpSpPr/>
            <p:nvPr/>
          </p:nvGrpSpPr>
          <p:grpSpPr>
            <a:xfrm>
              <a:off x="0" y="2514600"/>
              <a:ext cx="8382000" cy="324000"/>
              <a:chOff x="0" y="0"/>
              <a:chExt cx="8382000" cy="324000"/>
            </a:xfrm>
          </p:grpSpPr>
          <p:sp>
            <p:nvSpPr>
              <p:cNvPr id="333" name="Google Shape;333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4" name="Google Shape;334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Continuous agent self-improvement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5" name="Google Shape;335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6" name="Google Shape;336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7" name="Google Shape;337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8" name="Google Shape;338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9" name="Google Shape;339;p18"/>
            <p:cNvGrpSpPr/>
            <p:nvPr/>
          </p:nvGrpSpPr>
          <p:grpSpPr>
            <a:xfrm>
              <a:off x="0" y="2876550"/>
              <a:ext cx="8382000" cy="324000"/>
              <a:chOff x="0" y="0"/>
              <a:chExt cx="8382000" cy="324000"/>
            </a:xfrm>
          </p:grpSpPr>
          <p:sp>
            <p:nvSpPr>
              <p:cNvPr id="340" name="Google Shape;340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1" name="Google Shape;341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You own all agent IP and patient data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2" name="Google Shape;342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" name="Google Shape;343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4" name="Google Shape;344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5" name="Google Shape;345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346" name="Google Shape;346;p18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95550" y="4791875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9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53" name="Google Shape;353;p19"/>
          <p:cNvGrpSpPr/>
          <p:nvPr/>
        </p:nvGrpSpPr>
        <p:grpSpPr>
          <a:xfrm>
            <a:off x="347472" y="914400"/>
            <a:ext cx="2395728" cy="1115568"/>
            <a:chOff x="0" y="0"/>
            <a:chExt cx="2395728" cy="1115568"/>
          </a:xfrm>
        </p:grpSpPr>
        <p:sp>
          <p:nvSpPr>
            <p:cNvPr id="354" name="Google Shape;354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01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Discovery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We deeply understand Fakeeh's unique workflows and goals — not pre-built templates.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7" name="Google Shape;357;p19"/>
          <p:cNvGrpSpPr/>
          <p:nvPr/>
        </p:nvGrpSpPr>
        <p:grpSpPr>
          <a:xfrm>
            <a:off x="347472" y="2148840"/>
            <a:ext cx="2395728" cy="1115568"/>
            <a:chOff x="0" y="0"/>
            <a:chExt cx="2395728" cy="1115568"/>
          </a:xfrm>
        </p:grpSpPr>
        <p:sp>
          <p:nvSpPr>
            <p:cNvPr id="358" name="Google Shape;358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02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Custom Agent Build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Tailor agents for your needs: Arabic intake, post-visit follow-up, chronic care, home health.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" name="Google Shape;361;p19"/>
          <p:cNvGrpSpPr/>
          <p:nvPr/>
        </p:nvGrpSpPr>
        <p:grpSpPr>
          <a:xfrm>
            <a:off x="347472" y="3383280"/>
            <a:ext cx="2395728" cy="1115568"/>
            <a:chOff x="0" y="0"/>
            <a:chExt cx="2395728" cy="1115568"/>
          </a:xfrm>
        </p:grpSpPr>
        <p:sp>
          <p:nvSpPr>
            <p:cNvPr id="362" name="Google Shape;362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03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Rigorous Testing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Millions of simulated sessions before launch — accuracy, brand consistency, edge case handling.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" name="Google Shape;365;p19"/>
          <p:cNvGrpSpPr/>
          <p:nvPr/>
        </p:nvGrpSpPr>
        <p:grpSpPr>
          <a:xfrm>
            <a:off x="2907792" y="914400"/>
            <a:ext cx="2395728" cy="1115568"/>
            <a:chOff x="0" y="0"/>
            <a:chExt cx="2395728" cy="1115568"/>
          </a:xfrm>
        </p:grpSpPr>
        <p:sp>
          <p:nvSpPr>
            <p:cNvPr id="366" name="Google Shape;366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04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Development in 6 Weeks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Full engineering and IT support. Integrate with Fakeeh's YASASII HIS &amp; EHRs. Go live in 6 weeks.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" name="Google Shape;369;p19"/>
          <p:cNvGrpSpPr/>
          <p:nvPr/>
        </p:nvGrpSpPr>
        <p:grpSpPr>
          <a:xfrm>
            <a:off x="2907792" y="2148840"/>
            <a:ext cx="2395728" cy="1115568"/>
            <a:chOff x="0" y="0"/>
            <a:chExt cx="2395728" cy="1115568"/>
          </a:xfrm>
        </p:grpSpPr>
        <p:sp>
          <p:nvSpPr>
            <p:cNvPr id="370" name="Google Shape;370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" name="Google Shape;372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05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Monitoring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Continuous monitoring with real-time risk flags, full visibility into agent performance and ROI.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3" name="Google Shape;373;p19"/>
          <p:cNvGrpSpPr/>
          <p:nvPr/>
        </p:nvGrpSpPr>
        <p:grpSpPr>
          <a:xfrm>
            <a:off x="2907792" y="3383280"/>
            <a:ext cx="2395728" cy="1115568"/>
            <a:chOff x="0" y="0"/>
            <a:chExt cx="2395728" cy="1115568"/>
          </a:xfrm>
        </p:grpSpPr>
        <p:sp>
          <p:nvSpPr>
            <p:cNvPr id="374" name="Google Shape;374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06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Continuous Improvement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We refine your agents based on real Fakeeh patient interactions so they get smarter over time.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7" name="Google Shape;377;p19"/>
          <p:cNvSpPr txBox="1"/>
          <p:nvPr/>
        </p:nvSpPr>
        <p:spPr>
          <a:xfrm>
            <a:off x="476250" y="428625"/>
            <a:ext cx="57150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rPr>
              <a:t>Your AI partner, end to end.</a:t>
            </a:r>
            <a:endParaRPr b="1" sz="2600">
              <a:solidFill>
                <a:srgbClr val="0D2B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9"/>
          <p:cNvSpPr txBox="1"/>
          <p:nvPr/>
        </p:nvSpPr>
        <p:spPr>
          <a:xfrm>
            <a:off x="476250" y="857250"/>
            <a:ext cx="61914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From discovery to post-development, our team handles the complexity so you can stay focused on care.</a:t>
            </a:r>
            <a:endParaRPr b="0" i="1" sz="11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9" name="Google Shape;379;p19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  <p:sp>
        <p:nvSpPr>
          <p:cNvPr id="95623560" name="deco_5623560_0"/>
          <p:cNvSpPr>
            <a:spLocks noGrp="1"/>
          </p:cNvSpPr>
          <p:nvPr/>
        </p:nvSpPr>
        <p:spPr>
          <a:xfrm>
            <a:off x="5623560" y="0"/>
            <a:ext cx="3520440" cy="5143500"/>
          </a:xfrm>
          <a:prstGeom prst="rect">
            <a:avLst/>
          </a:prstGeom>
          <a:solidFill>
            <a:srgbClr val="F0EAE6"/>
          </a:solidFill>
          <a:ln>
            <a:noFill/>
          </a:ln>
        </p:spPr>
        <p:txBody>
          <a:bodyPr/>
          <a:lstStyle/>
          <a:p/>
        </p:txBody>
      </p:sp>
      <p:sp>
        <p:nvSpPr>
          <p:cNvPr id="96583680" name="deco_6583680_182880"/>
          <p:cNvSpPr>
            <a:spLocks noGrp="1"/>
          </p:cNvSpPr>
          <p:nvPr/>
        </p:nvSpPr>
        <p:spPr>
          <a:xfrm>
            <a:off x="6583680" y="182880"/>
            <a:ext cx="2377440" cy="2286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/>
          <a:lstStyle/>
          <a:p/>
        </p:txBody>
      </p:sp>
      <p:sp>
        <p:nvSpPr>
          <p:cNvPr id="95989320" name="deco_5989320_1097280"/>
          <p:cNvSpPr>
            <a:spLocks noGrp="1"/>
          </p:cNvSpPr>
          <p:nvPr/>
        </p:nvSpPr>
        <p:spPr>
          <a:xfrm>
            <a:off x="5989320" y="1097280"/>
            <a:ext cx="2011680" cy="1828800"/>
          </a:xfrm>
          <a:prstGeom prst="rect">
            <a:avLst/>
          </a:prstGeom>
          <a:solidFill>
            <a:srgbClr val="C85040"/>
          </a:solidFill>
          <a:ln>
            <a:noFill/>
          </a:ln>
        </p:spPr>
        <p:txBody>
          <a:bodyPr/>
          <a:lstStyle/>
          <a:p/>
        </p:txBody>
      </p:sp>
      <p:sp>
        <p:nvSpPr>
          <p:cNvPr id="95623560" name="deco_5623560_2194560"/>
          <p:cNvSpPr>
            <a:spLocks noGrp="1"/>
          </p:cNvSpPr>
          <p:nvPr/>
        </p:nvSpPr>
        <p:spPr>
          <a:xfrm>
            <a:off x="5623560" y="2194560"/>
            <a:ext cx="1737360" cy="1645920"/>
          </a:xfrm>
          <a:prstGeom prst="rect">
            <a:avLst/>
          </a:prstGeom>
          <a:solidFill>
            <a:srgbClr val="8A2E22"/>
          </a:solidFill>
          <a:ln>
            <a:noFill/>
          </a:ln>
        </p:spPr>
        <p:txBody>
          <a:bodyPr/>
          <a:lstStyle/>
          <a:p/>
        </p:txBody>
      </p:sp>
      <p:sp>
        <p:nvSpPr>
          <p:cNvPr id="95623560" name="deco_5623560_182880"/>
          <p:cNvSpPr>
            <a:spLocks noGrp="1"/>
          </p:cNvSpPr>
          <p:nvPr/>
        </p:nvSpPr>
        <p:spPr>
          <a:xfrm>
            <a:off x="5623560" y="182880"/>
            <a:ext cx="822960" cy="1005840"/>
          </a:xfrm>
          <a:prstGeom prst="rect">
            <a:avLst/>
          </a:prstGeom>
          <a:solidFill>
            <a:srgbClr val="C85040"/>
          </a:solidFill>
          <a:ln>
            <a:noFill/>
          </a:ln>
        </p:spPr>
        <p:txBody>
          <a:bodyPr/>
          <a:lstStyle/>
          <a:p/>
        </p:txBody>
      </p:sp>
      <p:sp>
        <p:nvSpPr>
          <p:cNvPr id="95623560" name="deco_5623560_3840480"/>
          <p:cNvSpPr>
            <a:spLocks noGrp="1"/>
          </p:cNvSpPr>
          <p:nvPr/>
        </p:nvSpPr>
        <p:spPr>
          <a:xfrm>
            <a:off x="5623560" y="3840480"/>
            <a:ext cx="3520440" cy="1280160"/>
          </a:xfrm>
          <a:prstGeom prst="rect">
            <a:avLst/>
          </a:prstGeom>
          <a:solidFill>
            <a:srgbClr val="8A2E22"/>
          </a:solidFill>
          <a:ln>
            <a:noFill/>
          </a:ln>
        </p:spPr>
        <p:txBody>
          <a:bodyPr/>
          <a:lstStyle/>
          <a:p/>
        </p:txBody>
      </p:sp>
      <p:sp>
        <p:nvSpPr>
          <p:cNvPr id="96858000" name="deco_6858000_2926080"/>
          <p:cNvSpPr>
            <a:spLocks noGrp="1"/>
          </p:cNvSpPr>
          <p:nvPr/>
        </p:nvSpPr>
        <p:spPr>
          <a:xfrm>
            <a:off x="6858000" y="2926080"/>
            <a:ext cx="2286000" cy="1828800"/>
          </a:xfrm>
          <a:prstGeom prst="rect">
            <a:avLst/>
          </a:prstGeom>
          <a:solidFill>
            <a:srgbClr val="D4604E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51" name="Google Shape;351;p19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F7F5F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53" name="Google Shape;353;p19"/>
          <p:cNvGrpSpPr/>
          <p:nvPr/>
        </p:nvGrpSpPr>
        <p:grpSpPr>
          <a:xfrm>
            <a:off x="347472" y="914400"/>
            <a:ext cx="2395728" cy="1115568"/>
            <a:chOff x="0" y="0"/>
            <a:chExt cx="2395728" cy="1115568"/>
          </a:xfrm>
        </p:grpSpPr>
        <p:sp>
          <p:nvSpPr>
            <p:cNvPr id="354" name="Google Shape;354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01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Discovery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We deeply understand Fakeeh's unique workflows and goals — not pre-built templates.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7" name="Google Shape;357;p19"/>
          <p:cNvGrpSpPr/>
          <p:nvPr/>
        </p:nvGrpSpPr>
        <p:grpSpPr>
          <a:xfrm>
            <a:off x="347472" y="2148840"/>
            <a:ext cx="2395728" cy="1115568"/>
            <a:chOff x="0" y="0"/>
            <a:chExt cx="2395728" cy="1115568"/>
          </a:xfrm>
        </p:grpSpPr>
        <p:sp>
          <p:nvSpPr>
            <p:cNvPr id="358" name="Google Shape;358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02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Custom Agent Build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Tailor agents for your needs: Arabic intake, post-visit follow-up, chronic care, home health.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" name="Google Shape;361;p19"/>
          <p:cNvGrpSpPr/>
          <p:nvPr/>
        </p:nvGrpSpPr>
        <p:grpSpPr>
          <a:xfrm>
            <a:off x="347472" y="3383280"/>
            <a:ext cx="2395728" cy="1115568"/>
            <a:chOff x="0" y="0"/>
            <a:chExt cx="2395728" cy="1115568"/>
          </a:xfrm>
        </p:grpSpPr>
        <p:sp>
          <p:nvSpPr>
            <p:cNvPr id="362" name="Google Shape;362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03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Rigorous Testing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Millions of simulated sessions before launch — accuracy, brand consistency, edge case handling.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" name="Google Shape;365;p19"/>
          <p:cNvGrpSpPr/>
          <p:nvPr/>
        </p:nvGrpSpPr>
        <p:grpSpPr>
          <a:xfrm>
            <a:off x="2907792" y="914400"/>
            <a:ext cx="2395728" cy="1115568"/>
            <a:chOff x="0" y="0"/>
            <a:chExt cx="2395728" cy="1115568"/>
          </a:xfrm>
        </p:grpSpPr>
        <p:sp>
          <p:nvSpPr>
            <p:cNvPr id="366" name="Google Shape;366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04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Development in 6 Weeks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Full engineering and IT support. Integrate with Fakeeh's YASASII HIS &amp; EHRs. Go live in 6 weeks.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" name="Google Shape;369;p19"/>
          <p:cNvGrpSpPr/>
          <p:nvPr/>
        </p:nvGrpSpPr>
        <p:grpSpPr>
          <a:xfrm>
            <a:off x="2907792" y="2148840"/>
            <a:ext cx="2395728" cy="1115568"/>
            <a:chOff x="0" y="0"/>
            <a:chExt cx="2395728" cy="1115568"/>
          </a:xfrm>
        </p:grpSpPr>
        <p:sp>
          <p:nvSpPr>
            <p:cNvPr id="370" name="Google Shape;370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" name="Google Shape;372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05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Monitoring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Continuous monitoring with real-time risk flags, full visibility into agent performance and ROI.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3" name="Google Shape;373;p19"/>
          <p:cNvGrpSpPr/>
          <p:nvPr/>
        </p:nvGrpSpPr>
        <p:grpSpPr>
          <a:xfrm>
            <a:off x="2907792" y="3383280"/>
            <a:ext cx="2395728" cy="1115568"/>
            <a:chOff x="0" y="0"/>
            <a:chExt cx="2395728" cy="1115568"/>
          </a:xfrm>
        </p:grpSpPr>
        <p:sp>
          <p:nvSpPr>
            <p:cNvPr id="374" name="Google Shape;374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06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Continuous Improvement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We refine your agents based on real Fakeeh patient interactions so they get smarter over time.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7" name="Google Shape;377;p19"/>
          <p:cNvSpPr txBox="1"/>
          <p:nvPr/>
        </p:nvSpPr>
        <p:spPr>
          <a:xfrm>
            <a:off x="476250" y="428625"/>
            <a:ext cx="57150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rPr>
              <a:t>Your AI partner, end to end.</a:t>
            </a:r>
            <a:endParaRPr b="1" sz="2600">
              <a:solidFill>
                <a:srgbClr val="0D2B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9"/>
          <p:cNvSpPr txBox="1"/>
          <p:nvPr/>
        </p:nvSpPr>
        <p:spPr>
          <a:xfrm>
            <a:off x="476250" y="857250"/>
            <a:ext cx="61914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From discovery to post-development, our team handles the complexity so you can stay focused on care.</a:t>
            </a:r>
            <a:endParaRPr b="0" i="1" sz="11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9" name="Google Shape;379;p19" title="download.jfif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  <p:sp>
        <p:nvSpPr>
          <p:cNvPr id="95623560" name="deco_5623560_0"/>
          <p:cNvSpPr>
            <a:spLocks noGrp="1"/>
          </p:cNvSpPr>
          <p:nvPr/>
        </p:nvSpPr>
        <p:spPr>
          <a:xfrm>
            <a:off x="5623560" y="0"/>
            <a:ext cx="3520440" cy="51435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txBody>
          <a:bodyPr/>
          <a:lstStyle/>
          <a:p/>
        </p:txBody>
      </p:sp>
      <p:sp>
        <p:nvSpPr>
          <p:cNvPr id="96583680" name="deco_6583680_182880"/>
          <p:cNvSpPr>
            <a:spLocks noGrp="1"/>
          </p:cNvSpPr>
          <p:nvPr/>
        </p:nvSpPr>
        <p:spPr>
          <a:xfrm>
            <a:off x="6583680" y="182880"/>
            <a:ext cx="2377440" cy="2286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/>
          <a:lstStyle/>
          <a:p/>
        </p:txBody>
      </p:sp>
      <p:sp>
        <p:nvSpPr>
          <p:cNvPr id="95989320" name="deco_5989320_1097280"/>
          <p:cNvSpPr>
            <a:spLocks noGrp="1"/>
          </p:cNvSpPr>
          <p:nvPr/>
        </p:nvSpPr>
        <p:spPr>
          <a:xfrm>
            <a:off x="5989320" y="1097280"/>
            <a:ext cx="2011680" cy="1828800"/>
          </a:xfrm>
          <a:prstGeom prst="rect">
            <a:avLst/>
          </a:prstGeom>
          <a:solidFill>
            <a:srgbClr val="C85040"/>
          </a:solidFill>
          <a:ln>
            <a:noFill/>
          </a:ln>
        </p:spPr>
        <p:txBody>
          <a:bodyPr/>
          <a:lstStyle/>
          <a:p/>
        </p:txBody>
      </p:sp>
      <p:sp>
        <p:nvSpPr>
          <p:cNvPr id="95623560" name="deco_5623560_2194560"/>
          <p:cNvSpPr>
            <a:spLocks noGrp="1"/>
          </p:cNvSpPr>
          <p:nvPr/>
        </p:nvSpPr>
        <p:spPr>
          <a:xfrm>
            <a:off x="5623560" y="2194560"/>
            <a:ext cx="1737360" cy="1645920"/>
          </a:xfrm>
          <a:prstGeom prst="rect">
            <a:avLst/>
          </a:prstGeom>
          <a:solidFill>
            <a:srgbClr val="8A2E22"/>
          </a:solidFill>
          <a:ln>
            <a:noFill/>
          </a:ln>
        </p:spPr>
        <p:txBody>
          <a:bodyPr/>
          <a:lstStyle/>
          <a:p/>
        </p:txBody>
      </p:sp>
      <p:sp>
        <p:nvSpPr>
          <p:cNvPr id="95623560" name="deco_5623560_182880"/>
          <p:cNvSpPr>
            <a:spLocks noGrp="1"/>
          </p:cNvSpPr>
          <p:nvPr/>
        </p:nvSpPr>
        <p:spPr>
          <a:xfrm>
            <a:off x="5623560" y="182880"/>
            <a:ext cx="822960" cy="1005840"/>
          </a:xfrm>
          <a:prstGeom prst="rect">
            <a:avLst/>
          </a:prstGeom>
          <a:solidFill>
            <a:srgbClr val="C85040"/>
          </a:solidFill>
          <a:ln>
            <a:noFill/>
          </a:ln>
        </p:spPr>
        <p:txBody>
          <a:bodyPr/>
          <a:lstStyle/>
          <a:p/>
        </p:txBody>
      </p:sp>
      <p:sp>
        <p:nvSpPr>
          <p:cNvPr id="95623560" name="deco_5623560_3840480"/>
          <p:cNvSpPr>
            <a:spLocks noGrp="1"/>
          </p:cNvSpPr>
          <p:nvPr/>
        </p:nvSpPr>
        <p:spPr>
          <a:xfrm>
            <a:off x="5623560" y="3840480"/>
            <a:ext cx="3520440" cy="1280160"/>
          </a:xfrm>
          <a:prstGeom prst="rect">
            <a:avLst/>
          </a:prstGeom>
          <a:solidFill>
            <a:srgbClr val="8A2E22"/>
          </a:solidFill>
          <a:ln>
            <a:noFill/>
          </a:ln>
        </p:spPr>
        <p:txBody>
          <a:bodyPr/>
          <a:lstStyle/>
          <a:p/>
        </p:txBody>
      </p:sp>
      <p:sp>
        <p:nvSpPr>
          <p:cNvPr id="96858000" name="deco_6858000_2926080"/>
          <p:cNvSpPr>
            <a:spLocks noGrp="1"/>
          </p:cNvSpPr>
          <p:nvPr/>
        </p:nvSpPr>
        <p:spPr>
          <a:xfrm>
            <a:off x="6858000" y="2926080"/>
            <a:ext cx="2286000" cy="1828800"/>
          </a:xfrm>
          <a:prstGeom prst="rect">
            <a:avLst/>
          </a:prstGeom>
          <a:solidFill>
            <a:srgbClr val="D4604E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