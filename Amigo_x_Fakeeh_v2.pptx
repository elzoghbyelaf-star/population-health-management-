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486400"/>
            <a:ext cx="2743200" cy="1463040"/>
          </a:xfrm>
          <a:prstGeom prst="rect">
            <a:avLst/>
          </a:prstGeom>
          <a:solidFill>
            <a:srgbClr val="9633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206240" y="5486400"/>
            <a:ext cx="4114800" cy="1463040"/>
          </a:xfrm>
          <a:prstGeom prst="rect">
            <a:avLst/>
          </a:prstGeom>
          <a:solidFill>
            <a:srgbClr val="9633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955279" y="5486400"/>
            <a:ext cx="1828800" cy="1463040"/>
          </a:xfrm>
          <a:prstGeom prst="rect">
            <a:avLst/>
          </a:prstGeom>
          <a:solidFill>
            <a:srgbClr val="9633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607040" y="274320"/>
            <a:ext cx="256032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43616" y="310896"/>
            <a:ext cx="256032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680192" y="347472"/>
            <a:ext cx="256032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08792" y="31089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Amigo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80160"/>
            <a:ext cx="3474720" cy="347472"/>
          </a:xfrm>
          <a:prstGeom prst="rect">
            <a:avLst/>
          </a:prstGeom>
          <a:solidFill>
            <a:srgbClr val="8A3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298448"/>
            <a:ext cx="3291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CCBB"/>
                </a:solidFill>
              </a:rPr>
              <a:t>CONFIDENTIAL  ·  PRESENTED TO FAKEEH CARE GROUP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92024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0" i="0">
                <a:solidFill>
                  <a:srgbClr val="FFFFFF"/>
                </a:solidFill>
              </a:rPr>
              <a:t>Scaling Care at Fakeeh.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92608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0" i="0">
                <a:solidFill>
                  <a:srgbClr val="FFCCBB"/>
                </a:solidFill>
              </a:rPr>
              <a:t>Powered by Amigo.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886200"/>
            <a:ext cx="7772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E0D5"/>
                </a:solidFill>
              </a:rPr>
              <a:t>How Amigo's patient-facing clinical AI agents can multiply Fakeeh Care Group's
capacity — without scaling headcount.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846320"/>
            <a:ext cx="2148840" cy="347472"/>
          </a:xfrm>
          <a:prstGeom prst="rect">
            <a:avLst/>
          </a:prstGeom>
          <a:solidFill>
            <a:srgbClr val="8A3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864608"/>
            <a:ext cx="2011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CCBB"/>
                </a:solidFill>
              </a:rPr>
              <a:t>🏥  Fakeeh Care Group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834639" y="4846320"/>
            <a:ext cx="2148840" cy="347472"/>
          </a:xfrm>
          <a:prstGeom prst="rect">
            <a:avLst/>
          </a:prstGeom>
          <a:solidFill>
            <a:srgbClr val="8A3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26079" y="4864608"/>
            <a:ext cx="2011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CCBB"/>
                </a:solidFill>
              </a:rPr>
              <a:t>🤖  Amigo AI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66359" y="4846320"/>
            <a:ext cx="2148840" cy="347472"/>
          </a:xfrm>
          <a:prstGeom prst="rect">
            <a:avLst/>
          </a:prstGeom>
          <a:solidFill>
            <a:srgbClr val="8A3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57800" y="4864608"/>
            <a:ext cx="2011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CCBB"/>
                </a:solidFill>
              </a:rPr>
              <a:t>🇸🇦  Vision 2030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82880"/>
            <a:ext cx="237744" cy="237744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48056" y="219456"/>
            <a:ext cx="237744" cy="237744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84632" y="256032"/>
            <a:ext cx="237744" cy="237744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210312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</a:rPr>
              <a:t>Amigo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594360"/>
            <a:ext cx="6400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A1A1A"/>
                </a:solidFill>
              </a:rPr>
              <a:t>About Amigo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43000"/>
            <a:ext cx="6858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A6A7A"/>
                </a:solidFill>
              </a:rPr>
              <a:t>The trusted platform for building, training, and deploying patient-facing clinical AI agents.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627632"/>
            <a:ext cx="11338560" cy="18288"/>
          </a:xfrm>
          <a:prstGeom prst="rect">
            <a:avLst/>
          </a:prstGeom>
          <a:solidFill>
            <a:srgbClr val="C8D0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755648"/>
            <a:ext cx="5303520" cy="1371600"/>
          </a:xfrm>
          <a:prstGeom prst="rect">
            <a:avLst/>
          </a:prstGeom>
          <a:solidFill>
            <a:srgbClr val="0D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847088"/>
            <a:ext cx="4937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</a:rPr>
              <a:t>"We understand the challenges faced
by healthcare organizations."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1874519"/>
            <a:ext cx="5303520" cy="804672"/>
          </a:xfrm>
          <a:prstGeom prst="rect">
            <a:avLst/>
          </a:prstGeom>
          <a:solidFill>
            <a:srgbClr val="EEEAE2"/>
          </a:solidFill>
          <a:ln w="6350">
            <a:solidFill>
              <a:srgbClr val="C8D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1874519"/>
            <a:ext cx="54864" cy="804672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1947671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B44030"/>
                </a:solidFill>
              </a:rPr>
              <a:t>Lost Revenue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2240279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3E50"/>
                </a:solidFill>
              </a:rPr>
              <a:t>Provider capacity outpaced by demand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2130551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5A6A7A"/>
                </a:solidFill>
              </a:rPr>
              <a:t>$1M / year / provider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770632"/>
            <a:ext cx="5303520" cy="804672"/>
          </a:xfrm>
          <a:prstGeom prst="rect">
            <a:avLst/>
          </a:prstGeom>
          <a:solidFill>
            <a:srgbClr val="EEEAE2"/>
          </a:solidFill>
          <a:ln w="6350">
            <a:solidFill>
              <a:srgbClr val="C8D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2770632"/>
            <a:ext cx="54864" cy="804672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284378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B44030"/>
                </a:solidFill>
              </a:rPr>
              <a:t>High Turnover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313639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3E50"/>
                </a:solidFill>
              </a:rPr>
              <a:t>43% physician burnout rate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3026664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5A6A7A"/>
                </a:solidFill>
              </a:rPr>
              <a:t>$500K replacement cost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666744"/>
            <a:ext cx="5303520" cy="804672"/>
          </a:xfrm>
          <a:prstGeom prst="rect">
            <a:avLst/>
          </a:prstGeom>
          <a:solidFill>
            <a:srgbClr val="EEEAE2"/>
          </a:solidFill>
          <a:ln w="6350">
            <a:solidFill>
              <a:srgbClr val="C8D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3666744"/>
            <a:ext cx="54864" cy="804672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3739896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B44030"/>
                </a:solidFill>
              </a:rPr>
              <a:t>High Costs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4032504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3E50"/>
                </a:solidFill>
              </a:rPr>
              <a:t>2 hrs wasted per hour of patient care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83280" y="3922776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5A6A7A"/>
                </a:solidFill>
              </a:rPr>
              <a:t>Clinical inefficiency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4562856"/>
            <a:ext cx="5303520" cy="804672"/>
          </a:xfrm>
          <a:prstGeom prst="rect">
            <a:avLst/>
          </a:prstGeom>
          <a:solidFill>
            <a:srgbClr val="EEEAE2"/>
          </a:solidFill>
          <a:ln w="6350">
            <a:solidFill>
              <a:srgbClr val="C8D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11480" y="4562856"/>
            <a:ext cx="54864" cy="804672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463600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B44030"/>
                </a:solidFill>
              </a:rPr>
              <a:t>Unfilled Schedules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4928616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3E50"/>
                </a:solidFill>
              </a:rPr>
              <a:t>No-shows &amp; cancellations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80" y="481888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5A6A7A"/>
                </a:solidFill>
              </a:rPr>
              <a:t>$200 lost per unfilled visit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5458968"/>
            <a:ext cx="5303520" cy="804672"/>
          </a:xfrm>
          <a:prstGeom prst="rect">
            <a:avLst/>
          </a:prstGeom>
          <a:solidFill>
            <a:srgbClr val="EEEAE2"/>
          </a:solidFill>
          <a:ln w="6350">
            <a:solidFill>
              <a:srgbClr val="C8D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11480" y="5458968"/>
            <a:ext cx="54864" cy="804672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55321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B44030"/>
                </a:solidFill>
              </a:rPr>
              <a:t>Patient Drop-Off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582472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3E50"/>
                </a:solidFill>
              </a:rPr>
              <a:t>Cannot influence experience outside visit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80" y="571500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5A6A7A"/>
                </a:solidFill>
              </a:rPr>
              <a:t>$15K lifetime value lost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89320" y="1755648"/>
            <a:ext cx="580644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72200" y="182880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</a:rPr>
              <a:t>Amigo expands provider capacity.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72200" y="2377440"/>
            <a:ext cx="5394960" cy="914400"/>
          </a:xfrm>
          <a:prstGeom prst="rect">
            <a:avLst/>
          </a:prstGeom>
          <a:solidFill>
            <a:srgbClr val="F7F5F0"/>
          </a:solidFill>
          <a:ln w="6350">
            <a:solidFill>
              <a:srgbClr val="C8D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72200" y="2377440"/>
            <a:ext cx="640080" cy="292608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190488" y="2423160"/>
            <a:ext cx="60350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</a:rPr>
              <a:t>CAPACITY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03720" y="2432304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</a:rPr>
              <a:t>5X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03720" y="2926080"/>
            <a:ext cx="4389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A6A7A"/>
                </a:solidFill>
              </a:rPr>
              <a:t>patient capacity per provider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72200" y="3383280"/>
            <a:ext cx="5394960" cy="914400"/>
          </a:xfrm>
          <a:prstGeom prst="rect">
            <a:avLst/>
          </a:prstGeom>
          <a:solidFill>
            <a:srgbClr val="F7F5F0"/>
          </a:solidFill>
          <a:ln w="6350">
            <a:solidFill>
              <a:srgbClr val="C8D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172200" y="3383280"/>
            <a:ext cx="640080" cy="292608"/>
          </a:xfrm>
          <a:prstGeom prst="rect">
            <a:avLst/>
          </a:prstGeom>
          <a:solidFill>
            <a:srgbClr val="0D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90488" y="3429000"/>
            <a:ext cx="60350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</a:rPr>
              <a:t>REVENUE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03720" y="3438144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</a:rPr>
              <a:t>400%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03720" y="3931920"/>
            <a:ext cx="4389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A6A7A"/>
                </a:solidFill>
              </a:rPr>
              <a:t>increase in billable revenue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72200" y="4389120"/>
            <a:ext cx="5394960" cy="914400"/>
          </a:xfrm>
          <a:prstGeom prst="rect">
            <a:avLst/>
          </a:prstGeom>
          <a:solidFill>
            <a:srgbClr val="F7F5F0"/>
          </a:solidFill>
          <a:ln w="6350">
            <a:solidFill>
              <a:srgbClr val="C8D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72200" y="4389120"/>
            <a:ext cx="640080" cy="292608"/>
          </a:xfrm>
          <a:prstGeom prst="rect">
            <a:avLst/>
          </a:prstGeom>
          <a:solidFill>
            <a:srgbClr val="2C6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90488" y="4434840"/>
            <a:ext cx="60350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</a:rPr>
              <a:t>OUTCOMES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903720" y="4443984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</a:rPr>
              <a:t>25%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03720" y="4937760"/>
            <a:ext cx="4389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A6A7A"/>
                </a:solidFill>
              </a:rPr>
              <a:t>lift in patient outcome measures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72200" y="5394960"/>
            <a:ext cx="5394960" cy="914400"/>
          </a:xfrm>
          <a:prstGeom prst="rect">
            <a:avLst/>
          </a:prstGeom>
          <a:solidFill>
            <a:srgbClr val="F7F5F0"/>
          </a:solidFill>
          <a:ln w="6350">
            <a:solidFill>
              <a:srgbClr val="C8D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172200" y="5394960"/>
            <a:ext cx="640080" cy="292608"/>
          </a:xfrm>
          <a:prstGeom prst="rect">
            <a:avLst/>
          </a:prstGeom>
          <a:solidFill>
            <a:srgbClr val="4A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190488" y="5440680"/>
            <a:ext cx="60350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</a:rPr>
              <a:t>ROI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03720" y="5449824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</a:rPr>
              <a:t>22.2x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903720" y="5943600"/>
            <a:ext cx="4389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A6A7A"/>
                </a:solidFill>
              </a:rPr>
              <a:t>total return on investment (Ivim Health)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65760" y="65653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amigo.ai  ·  Backed by General Catalyst, GSV Ventures, Madrona Ventures &amp; United Healthcare  ·  $20M raised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201168"/>
            <a:ext cx="256032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48056" y="237744"/>
            <a:ext cx="256032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84632" y="274320"/>
            <a:ext cx="256032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3774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Amigo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566928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</a:rPr>
              <a:t>Fakeeh Care Group at a Glance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097280"/>
            <a:ext cx="8686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8D0D8"/>
                </a:solidFill>
              </a:rPr>
              <a:t>Saudi Arabia's leading private healthcare conglomerate — founded 1978, listed 2024.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508760"/>
            <a:ext cx="11338560" cy="18288"/>
          </a:xfrm>
          <a:prstGeom prst="rect">
            <a:avLst/>
          </a:prstGeom>
          <a:solidFill>
            <a:srgbClr val="2A4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627632"/>
            <a:ext cx="2788920" cy="1325880"/>
          </a:xfrm>
          <a:prstGeom prst="rect">
            <a:avLst/>
          </a:prstGeom>
          <a:solidFill>
            <a:srgbClr val="143248"/>
          </a:solidFill>
          <a:ln w="12700">
            <a:solidFill>
              <a:srgbClr val="255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1627632"/>
            <a:ext cx="2788920" cy="4572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1719072"/>
            <a:ext cx="2468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</a:rPr>
              <a:t>SAR 3.1B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2212848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C5540"/>
                </a:solidFill>
              </a:rPr>
              <a:t>+11% YoY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2487168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8D0D8"/>
                </a:solidFill>
              </a:rPr>
              <a:t>FY2025 Revenue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37560" y="1627632"/>
            <a:ext cx="2788920" cy="1325880"/>
          </a:xfrm>
          <a:prstGeom prst="rect">
            <a:avLst/>
          </a:prstGeom>
          <a:solidFill>
            <a:srgbClr val="143248"/>
          </a:solidFill>
          <a:ln w="12700">
            <a:solidFill>
              <a:srgbClr val="255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37560" y="1627632"/>
            <a:ext cx="2788920" cy="4572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02152" y="1719072"/>
            <a:ext cx="2468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</a:rPr>
              <a:t>1.89M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02152" y="2212848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C5540"/>
                </a:solidFill>
              </a:rPr>
              <a:t>+8% YoY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02152" y="2487168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8D0D8"/>
                </a:solidFill>
              </a:rPr>
              <a:t>Annual Patients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1627632"/>
            <a:ext cx="2788920" cy="1325880"/>
          </a:xfrm>
          <a:prstGeom prst="rect">
            <a:avLst/>
          </a:prstGeom>
          <a:solidFill>
            <a:srgbClr val="143248"/>
          </a:solidFill>
          <a:ln w="12700">
            <a:solidFill>
              <a:srgbClr val="255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09360" y="1627632"/>
            <a:ext cx="2788920" cy="4572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2" y="1719072"/>
            <a:ext cx="2468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</a:rPr>
              <a:t>4 → 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73952" y="2212848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C5540"/>
                </a:solidFill>
              </a:rPr>
              <a:t>by 2028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3952" y="2487168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8D0D8"/>
                </a:solidFill>
              </a:rPr>
              <a:t>Hospitals (beds: 835→1,675)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81160" y="1627632"/>
            <a:ext cx="2788920" cy="1325880"/>
          </a:xfrm>
          <a:prstGeom prst="rect">
            <a:avLst/>
          </a:prstGeom>
          <a:solidFill>
            <a:srgbClr val="143248"/>
          </a:solidFill>
          <a:ln w="12700">
            <a:solidFill>
              <a:srgbClr val="255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281160" y="1627632"/>
            <a:ext cx="2788920" cy="4572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45752" y="1719072"/>
            <a:ext cx="2468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</a:rPr>
              <a:t>900+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5752" y="2212848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C5540"/>
                </a:solidFill>
              </a:rPr>
              <a:t>50+ specialties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45752" y="2487168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8D0D8"/>
                </a:solidFill>
              </a:rPr>
              <a:t>Doctors in Network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090672"/>
            <a:ext cx="5669280" cy="3566160"/>
          </a:xfrm>
          <a:prstGeom prst="rect">
            <a:avLst/>
          </a:prstGeom>
          <a:solidFill>
            <a:srgbClr val="0A1E2C"/>
          </a:solidFill>
          <a:ln w="12700">
            <a:solidFill>
              <a:srgbClr val="255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318211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C5540"/>
                </a:solidFill>
              </a:rPr>
              <a:t>Established Excellence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8" y="3566160"/>
            <a:ext cx="5120640" cy="18288"/>
          </a:xfrm>
          <a:prstGeom prst="rect">
            <a:avLst/>
          </a:prstGeom>
          <a:solidFill>
            <a:srgbClr val="255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0352" y="3639312"/>
            <a:ext cx="534924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950" b="0">
                <a:solidFill>
                  <a:srgbClr val="C8D0D8"/>
                </a:solidFill>
              </a:rPr>
              <a:t>→  Founded 1978 by Dr. Soliman Fakeeh — Jeddah's first private hospital</a:t>
            </a:r>
          </a:p>
          <a:p>
            <a:pPr algn="l">
              <a:spcBef>
                <a:spcPts val="400"/>
              </a:spcBef>
            </a:pPr>
            <a:r>
              <a:rPr sz="950" b="0">
                <a:solidFill>
                  <a:srgbClr val="C8D0D8"/>
                </a:solidFill>
              </a:rPr>
              <a:t>→  JCI Accredited 6th consecutive time | ANCC Magnet Nursing Recognition</a:t>
            </a:r>
          </a:p>
          <a:p>
            <a:pPr algn="l">
              <a:spcBef>
                <a:spcPts val="400"/>
              </a:spcBef>
            </a:pPr>
            <a:r>
              <a:rPr sz="950" b="0">
                <a:solidFill>
                  <a:srgbClr val="C8D0D8"/>
                </a:solidFill>
              </a:rPr>
              <a:t>→  CAP Lab: zero deficiencies | CEBAHI &amp; Saudi Commission accredited</a:t>
            </a:r>
          </a:p>
          <a:p>
            <a:pPr algn="l">
              <a:spcBef>
                <a:spcPts val="400"/>
              </a:spcBef>
            </a:pPr>
            <a:r>
              <a:rPr sz="950" b="0">
                <a:solidFill>
                  <a:srgbClr val="C8D0D8"/>
                </a:solidFill>
              </a:rPr>
              <a:t>→  #1 private hospital in Saudi Arabia — Newsweek 2022–2025</a:t>
            </a:r>
          </a:p>
          <a:p>
            <a:pPr algn="l">
              <a:spcBef>
                <a:spcPts val="400"/>
              </a:spcBef>
            </a:pPr>
            <a:r>
              <a:rPr sz="950" b="0">
                <a:solidFill>
                  <a:srgbClr val="C8D0D8"/>
                </a:solidFill>
              </a:rPr>
              <a:t>→  First private-sector robotic surgery program in Saudi Arabia</a:t>
            </a:r>
          </a:p>
          <a:p>
            <a:pPr algn="l">
              <a:spcBef>
                <a:spcPts val="400"/>
              </a:spcBef>
            </a:pPr>
            <a:r>
              <a:rPr sz="950" b="0">
                <a:solidFill>
                  <a:srgbClr val="C8D0D8"/>
                </a:solidFill>
              </a:rPr>
              <a:t>→  Largest NICU in Western Province | 1st IVF &amp; 1st heart transplant (West KSA)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9360" y="3090672"/>
            <a:ext cx="5669280" cy="3566160"/>
          </a:xfrm>
          <a:prstGeom prst="rect">
            <a:avLst/>
          </a:prstGeom>
          <a:solidFill>
            <a:srgbClr val="0A1E2C"/>
          </a:solidFill>
          <a:ln w="12700">
            <a:solidFill>
              <a:srgbClr val="255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10528" y="318211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C5540"/>
                </a:solidFill>
              </a:rPr>
              <a:t>Ambitious Growth Agenda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10528" y="3566160"/>
            <a:ext cx="5120640" cy="18288"/>
          </a:xfrm>
          <a:prstGeom prst="rect">
            <a:avLst/>
          </a:prstGeom>
          <a:solidFill>
            <a:srgbClr val="255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73952" y="3639312"/>
            <a:ext cx="534924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950" b="0">
                <a:solidFill>
                  <a:srgbClr val="C8D0D8"/>
                </a:solidFill>
              </a:rPr>
              <a:t>→  Target: 7 hospitals · 1,675 beds · 9 medical centers by 2028</a:t>
            </a:r>
          </a:p>
          <a:p>
            <a:pPr algn="l">
              <a:spcBef>
                <a:spcPts val="400"/>
              </a:spcBef>
            </a:pPr>
            <a:r>
              <a:rPr sz="950" b="0">
                <a:solidFill>
                  <a:srgbClr val="C8D0D8"/>
                </a:solidFill>
              </a:rPr>
              <a:t>→  HEAL Hospital (SAR 461M Neuroscience centre) — construction 2025</a:t>
            </a:r>
          </a:p>
          <a:p>
            <a:pPr algn="l">
              <a:spcBef>
                <a:spcPts val="400"/>
              </a:spcBef>
            </a:pPr>
            <a:r>
              <a:rPr sz="950" b="0">
                <a:solidFill>
                  <a:srgbClr val="C8D0D8"/>
                </a:solidFill>
              </a:rPr>
              <a:t>→  DSFH Madinah opened 2025 — city's first advanced oncology centre</a:t>
            </a:r>
          </a:p>
          <a:p>
            <a:pPr algn="l">
              <a:spcBef>
                <a:spcPts val="400"/>
              </a:spcBef>
            </a:pPr>
            <a:r>
              <a:rPr sz="950" b="0">
                <a:solidFill>
                  <a:srgbClr val="C8D0D8"/>
                </a:solidFill>
              </a:rPr>
              <a:t>→  Acquired Saudia Airlines Medical Services (KSA's 1st govt. privatization)</a:t>
            </a:r>
          </a:p>
          <a:p>
            <a:pPr algn="l">
              <a:spcBef>
                <a:spcPts val="400"/>
              </a:spcBef>
            </a:pPr>
            <a:r>
              <a:rPr sz="950" b="0">
                <a:solidFill>
                  <a:srgbClr val="C8D0D8"/>
                </a:solidFill>
              </a:rPr>
              <a:t>→  SAR 938M Alinma Bank credit facility secured for expansion</a:t>
            </a:r>
          </a:p>
          <a:p>
            <a:pPr algn="l">
              <a:spcBef>
                <a:spcPts val="400"/>
              </a:spcBef>
            </a:pPr>
            <a:r>
              <a:rPr sz="950" b="0">
                <a:solidFill>
                  <a:srgbClr val="C8D0D8"/>
                </a:solidFill>
              </a:rPr>
              <a:t>→  UAE: Fakeeh University Hospital + Medicentres acquisition (Dubai)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65653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amigo.ai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201168"/>
            <a:ext cx="237744" cy="237744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48056" y="237744"/>
            <a:ext cx="237744" cy="237744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84632" y="274320"/>
            <a:ext cx="237744" cy="237744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2286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</a:rPr>
              <a:t>Amigo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566928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</a:rPr>
              <a:t>We understand the challenges faced by Fakeeh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15568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A6A7A"/>
                </a:solidFill>
              </a:rPr>
              <a:t>Healthcare organizations at Fakeeh's scale struggle to efficiently deliver care as demand outpaces capacity.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508760"/>
            <a:ext cx="11338560" cy="18288"/>
          </a:xfrm>
          <a:prstGeom prst="rect">
            <a:avLst/>
          </a:prstGeom>
          <a:solidFill>
            <a:srgbClr val="C8D0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664208"/>
            <a:ext cx="3749039" cy="23317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1664208"/>
            <a:ext cx="3749039" cy="32004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" y="1728216"/>
            <a:ext cx="3520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Lost Revenue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" y="2066544"/>
            <a:ext cx="349300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Explosive Patient Volume Growth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" y="2487168"/>
            <a:ext cx="3493008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8D0D8"/>
                </a:solidFill>
              </a:rPr>
              <a:t>1.89M patients growing 8%+ YoY. Clinical staff cannot scale at the same pace — every new hospital multiplies patient engagement burden.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3776" y="3584448"/>
            <a:ext cx="3493008" cy="1828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3776" y="3648456"/>
            <a:ext cx="34930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C5540"/>
                </a:solidFill>
              </a:rPr>
              <a:t>$1M annual revenue lost per provider at capacity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15968" y="1664208"/>
            <a:ext cx="3749039" cy="23317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5968" y="1664208"/>
            <a:ext cx="3749039" cy="32004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25696" y="1728216"/>
            <a:ext cx="3520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Unfilled Schedules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43984" y="2066544"/>
            <a:ext cx="349300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Post-Visit Follow-Up Gap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43984" y="2487168"/>
            <a:ext cx="3493008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8D0D8"/>
                </a:solidFill>
              </a:rPr>
              <a:t>1.89M discharges annually. Systematically following up every patient for medication adherence and recovery is operationally impossible at current staffing.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43984" y="3584448"/>
            <a:ext cx="3493008" cy="1828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43984" y="3648456"/>
            <a:ext cx="34930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C5540"/>
                </a:solidFill>
              </a:rPr>
              <a:t>$200 lost per unfilled visit from no-shows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66176" y="1664208"/>
            <a:ext cx="3749039" cy="23317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66176" y="1664208"/>
            <a:ext cx="3749039" cy="32004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75904" y="1728216"/>
            <a:ext cx="3520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High Costs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4192" y="2066544"/>
            <a:ext cx="349300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Multi-Language Patient Population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2487168"/>
            <a:ext cx="3493008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8D0D8"/>
                </a:solidFill>
              </a:rPr>
              <a:t>Jeddah serves a diverse population requiring care in Arabic dialects, English, Urdu, Tagalog and more — across all Fakeeh facilities.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94192" y="3584448"/>
            <a:ext cx="3493008" cy="1828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94192" y="3648456"/>
            <a:ext cx="34930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C5540"/>
                </a:solidFill>
              </a:rPr>
              <a:t>2 hours wasted per hour of patient care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4151376"/>
            <a:ext cx="3749039" cy="23317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5760" y="4151376"/>
            <a:ext cx="3749039" cy="32004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5488" y="4215384"/>
            <a:ext cx="3520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High Turnover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3776" y="4553712"/>
            <a:ext cx="349300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Rapid Multi-Site Expansion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3776" y="4974336"/>
            <a:ext cx="3493008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8D0D8"/>
                </a:solidFill>
              </a:rPr>
              <a:t>Scaling 4→7 hospitals and 9 medical centers by 2028 means replicating patient engagement operations without a scalable digital model.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93776" y="6071616"/>
            <a:ext cx="3493008" cy="1828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3776" y="6135624"/>
            <a:ext cx="34930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C5540"/>
                </a:solidFill>
              </a:rPr>
              <a:t>43% physician burnout rate nationally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15968" y="4151376"/>
            <a:ext cx="3749039" cy="23317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315968" y="4151376"/>
            <a:ext cx="3749039" cy="32004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25696" y="4215384"/>
            <a:ext cx="3520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Patient Drop-Off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43984" y="4553712"/>
            <a:ext cx="349300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Chronic Disease Management Burden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43984" y="4974336"/>
            <a:ext cx="3493008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8D0D8"/>
                </a:solidFill>
              </a:rPr>
              <a:t>With 50+ specialties incl. cardiology, oncology, nephrology — managing ongoing patient engagement for chronic conditions consumes disproportionate bandwidth.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43984" y="6071616"/>
            <a:ext cx="3493008" cy="1828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43984" y="6135624"/>
            <a:ext cx="34930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C5540"/>
                </a:solidFill>
              </a:rPr>
              <a:t>$15K lifetime value lost per patient drop-off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266176" y="4151376"/>
            <a:ext cx="3749039" cy="23317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266176" y="4151376"/>
            <a:ext cx="3749039" cy="32004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375904" y="4215384"/>
            <a:ext cx="3520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Missed Quality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94192" y="4553712"/>
            <a:ext cx="349300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Home Healthcare Coordination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94192" y="4974336"/>
            <a:ext cx="3493008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8D0D8"/>
                </a:solidFill>
              </a:rPr>
              <a:t>Fakeeh Home Health Care spans 6 cities. Remote monitoring and check-ins rely on manual outreach — creating inconsistent patient experience.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394192" y="6071616"/>
            <a:ext cx="3493008" cy="1828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394192" y="6135624"/>
            <a:ext cx="34930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C5540"/>
                </a:solidFill>
              </a:rPr>
              <a:t>Missed quality measures from care gaps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760" y="65653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amigo.ai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607040" y="201168"/>
            <a:ext cx="256032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643616" y="237744"/>
            <a:ext cx="256032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680192" y="274320"/>
            <a:ext cx="256032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08792" y="23774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Amigo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20040"/>
            <a:ext cx="9875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</a:rPr>
              <a:t>How Amigo transforms the patient care journey at Fakeeh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07899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FCCBB"/>
                </a:solidFill>
              </a:rPr>
              <a:t>8 AI-powered touchpoints across the complete patient journey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" y="1508760"/>
            <a:ext cx="2834640" cy="2286000"/>
          </a:xfrm>
          <a:prstGeom prst="rect">
            <a:avLst/>
          </a:prstGeom>
          <a:solidFill>
            <a:srgbClr val="9633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706624" y="1600200"/>
            <a:ext cx="384048" cy="38404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06624" y="16184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B44030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1636776"/>
            <a:ext cx="2148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Proactive Patient Outreach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" y="2331720"/>
            <a:ext cx="2514600" cy="18288"/>
          </a:xfrm>
          <a:prstGeom prst="rect">
            <a:avLst/>
          </a:prstGeom>
          <a:solidFill>
            <a:srgbClr val="CC5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" y="2423160"/>
            <a:ext cx="2578608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DDD5"/>
                </a:solidFill>
              </a:rPr>
              <a:t>Reactivate dormant patients, fill schedule gaps, outbound appointment booking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28415" y="1508760"/>
            <a:ext cx="2834640" cy="2286000"/>
          </a:xfrm>
          <a:prstGeom prst="rect">
            <a:avLst/>
          </a:prstGeom>
          <a:solidFill>
            <a:srgbClr val="9633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687567" y="1600200"/>
            <a:ext cx="384048" cy="38404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87567" y="16184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B44030"/>
                </a:solidFill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56431" y="1636776"/>
            <a:ext cx="2148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Scheduling &amp; Reminders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56431" y="2331720"/>
            <a:ext cx="2514600" cy="18288"/>
          </a:xfrm>
          <a:prstGeom prst="rect">
            <a:avLst/>
          </a:prstGeom>
          <a:solidFill>
            <a:srgbClr val="CC5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56431" y="2423160"/>
            <a:ext cx="2578608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DDD5"/>
                </a:solidFill>
              </a:rPr>
              <a:t>Cut no-shows by 50% and free up front-desk staff across 120+ Fakeeh clinics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59" y="1508760"/>
            <a:ext cx="2834640" cy="2286000"/>
          </a:xfrm>
          <a:prstGeom prst="rect">
            <a:avLst/>
          </a:prstGeom>
          <a:solidFill>
            <a:srgbClr val="9633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668511" y="1600200"/>
            <a:ext cx="384048" cy="38404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68511" y="16184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B44030"/>
                </a:solidFill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37375" y="1636776"/>
            <a:ext cx="2148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Clinical Intake &amp; Triage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37375" y="2331720"/>
            <a:ext cx="2514600" cy="18288"/>
          </a:xfrm>
          <a:prstGeom prst="rect">
            <a:avLst/>
          </a:prstGeom>
          <a:solidFill>
            <a:srgbClr val="CC5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7375" y="2423160"/>
            <a:ext cx="2578608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DDD5"/>
                </a:solidFill>
              </a:rPr>
              <a:t>Eliminate wait times and route Fakeeh patients to the right specialty in seconds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290304" y="1508760"/>
            <a:ext cx="2834640" cy="2286000"/>
          </a:xfrm>
          <a:prstGeom prst="rect">
            <a:avLst/>
          </a:prstGeom>
          <a:solidFill>
            <a:srgbClr val="9633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1649456" y="1600200"/>
            <a:ext cx="384048" cy="38404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649456" y="16184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B44030"/>
                </a:solidFill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1636776"/>
            <a:ext cx="2148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Patient Education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418320" y="2331720"/>
            <a:ext cx="2514600" cy="18288"/>
          </a:xfrm>
          <a:prstGeom prst="rect">
            <a:avLst/>
          </a:prstGeom>
          <a:solidFill>
            <a:srgbClr val="CC5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18320" y="2423160"/>
            <a:ext cx="2578608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DDD5"/>
                </a:solidFill>
              </a:rPr>
              <a:t>Prep patients before arrival; cut visit times by 30% across all hospitals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7472" y="3959352"/>
            <a:ext cx="2834640" cy="2286000"/>
          </a:xfrm>
          <a:prstGeom prst="rect">
            <a:avLst/>
          </a:prstGeom>
          <a:solidFill>
            <a:srgbClr val="9633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706624" y="4050792"/>
            <a:ext cx="384048" cy="38404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06624" y="4069080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B44030"/>
                </a:solidFill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5488" y="4087368"/>
            <a:ext cx="2148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Provider Copilot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75488" y="4782312"/>
            <a:ext cx="2514600" cy="18288"/>
          </a:xfrm>
          <a:prstGeom prst="rect">
            <a:avLst/>
          </a:prstGeom>
          <a:solidFill>
            <a:srgbClr val="CC5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5488" y="4873752"/>
            <a:ext cx="2578608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DDD5"/>
                </a:solidFill>
              </a:rPr>
              <a:t>Deliver clinical decision support and elevate patient outcomes for 900+ Fakeeh doctors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328415" y="3959352"/>
            <a:ext cx="2834640" cy="2286000"/>
          </a:xfrm>
          <a:prstGeom prst="rect">
            <a:avLst/>
          </a:prstGeom>
          <a:solidFill>
            <a:srgbClr val="9633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5687567" y="4050792"/>
            <a:ext cx="384048" cy="38404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87567" y="4069080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B44030"/>
                </a:solidFill>
              </a:rPr>
              <a:t>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56431" y="4087368"/>
            <a:ext cx="2148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Post-Visit Follow-ups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456431" y="4782312"/>
            <a:ext cx="2514600" cy="18288"/>
          </a:xfrm>
          <a:prstGeom prst="rect">
            <a:avLst/>
          </a:prstGeom>
          <a:solidFill>
            <a:srgbClr val="CC5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456431" y="4873752"/>
            <a:ext cx="2578608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DDD5"/>
                </a:solidFill>
              </a:rPr>
              <a:t>Answer patient questions and free providers from callbacks — 1.89M patients annually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09359" y="3959352"/>
            <a:ext cx="2834640" cy="2286000"/>
          </a:xfrm>
          <a:prstGeom prst="rect">
            <a:avLst/>
          </a:prstGeom>
          <a:solidFill>
            <a:srgbClr val="9633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668511" y="4050792"/>
            <a:ext cx="384048" cy="38404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668511" y="4069080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B44030"/>
                </a:solidFill>
              </a:rPr>
              <a:t>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37375" y="4087368"/>
            <a:ext cx="2148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Ongoing 24/7 Virtual Care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437375" y="4782312"/>
            <a:ext cx="2514600" cy="18288"/>
          </a:xfrm>
          <a:prstGeom prst="rect">
            <a:avLst/>
          </a:prstGeom>
          <a:solidFill>
            <a:srgbClr val="CC5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37375" y="4873752"/>
            <a:ext cx="2578608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DDD5"/>
                </a:solidFill>
              </a:rPr>
              <a:t>Engage Fakeeh patients beyond their visit to improve chronic disease adherence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290304" y="3959352"/>
            <a:ext cx="2834640" cy="2286000"/>
          </a:xfrm>
          <a:prstGeom prst="rect">
            <a:avLst/>
          </a:prstGeom>
          <a:solidFill>
            <a:srgbClr val="9633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1649456" y="4050792"/>
            <a:ext cx="384048" cy="38404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1649456" y="4069080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B44030"/>
                </a:solidFill>
              </a:rPr>
              <a:t>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418320" y="4087368"/>
            <a:ext cx="2148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RPM &amp; Patient Insights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418320" y="4782312"/>
            <a:ext cx="2514600" cy="18288"/>
          </a:xfrm>
          <a:prstGeom prst="rect">
            <a:avLst/>
          </a:prstGeom>
          <a:solidFill>
            <a:srgbClr val="CC5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418320" y="4873752"/>
            <a:ext cx="2578608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DDD5"/>
                </a:solidFill>
              </a:rPr>
              <a:t>Flag at-risk patients and gain visibility into population health across all 6 home health cities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9633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65760" y="65653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CCBB"/>
                </a:solidFill>
              </a:rPr>
              <a:t>amigo.ai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201168"/>
            <a:ext cx="237744" cy="237744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48056" y="237744"/>
            <a:ext cx="237744" cy="237744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84632" y="274320"/>
            <a:ext cx="237744" cy="237744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2286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</a:rPr>
              <a:t>Amigo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530352"/>
            <a:ext cx="6400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A1A1A"/>
                </a:solidFill>
              </a:rPr>
              <a:t>One patient, every touchpoint.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675120" y="164592"/>
            <a:ext cx="5120640" cy="1097280"/>
          </a:xfrm>
          <a:prstGeom prst="rect">
            <a:avLst/>
          </a:prstGeom>
          <a:solidFill>
            <a:srgbClr val="EEEAE2"/>
          </a:solidFill>
          <a:ln w="12700">
            <a:solidFill>
              <a:srgbClr val="C8D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0" y="237744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1">
                <a:solidFill>
                  <a:srgbClr val="1A1A1A"/>
                </a:solidFill>
              </a:rPr>
              <a:t>Ahmed's chronic care journey at Fakeeh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576072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A6A7A"/>
                </a:solidFill>
              </a:rPr>
              <a:t>Ahmed, 58  ·  Diabetic &amp; hypertensive  ·  Regular DSFH Jeddah patient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868680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B44030"/>
                </a:solidFill>
              </a:rPr>
              <a:t>Powered by Amigo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1353312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A6A7A"/>
                </a:solidFill>
              </a:rPr>
              <a:t>Onboarding: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1645920"/>
            <a:ext cx="2103120" cy="18288"/>
          </a:xfrm>
          <a:prstGeom prst="rect">
            <a:avLst/>
          </a:prstGeom>
          <a:solidFill>
            <a:srgbClr val="C8D0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78608" y="1353312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A6A7A"/>
                </a:solidFill>
              </a:rPr>
              <a:t>Pre-visit: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78608" y="1645920"/>
            <a:ext cx="2103120" cy="18288"/>
          </a:xfrm>
          <a:prstGeom prst="rect">
            <a:avLst/>
          </a:prstGeom>
          <a:solidFill>
            <a:srgbClr val="C8D0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28032" y="1353312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A6A7A"/>
                </a:solidFill>
              </a:rPr>
              <a:t>Visit: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28032" y="1645920"/>
            <a:ext cx="2103120" cy="18288"/>
          </a:xfrm>
          <a:prstGeom prst="rect">
            <a:avLst/>
          </a:prstGeom>
          <a:solidFill>
            <a:srgbClr val="C8D0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86600" y="1353312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A6A7A"/>
                </a:solidFill>
              </a:rPr>
              <a:t>Post-visit: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86600" y="1645920"/>
            <a:ext cx="2103120" cy="18288"/>
          </a:xfrm>
          <a:prstGeom prst="rect">
            <a:avLst/>
          </a:prstGeom>
          <a:solidFill>
            <a:srgbClr val="C8D0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45168" y="1353312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A6A7A"/>
                </a:solidFill>
              </a:rPr>
              <a:t>Ongoing care: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45168" y="1645920"/>
            <a:ext cx="2103120" cy="18288"/>
          </a:xfrm>
          <a:prstGeom prst="rect">
            <a:avLst/>
          </a:prstGeom>
          <a:solidFill>
            <a:srgbClr val="C8D0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0040" y="1783080"/>
            <a:ext cx="11521440" cy="2148840"/>
          </a:xfrm>
          <a:prstGeom prst="rect">
            <a:avLst/>
          </a:prstGeom>
          <a:solidFill>
            <a:srgbClr val="EEEAE2"/>
          </a:solidFill>
          <a:ln w="6350">
            <a:solidFill>
              <a:srgbClr val="C8D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182880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B44030"/>
                </a:solidFill>
              </a:rPr>
              <a:t>Amigo agent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4904" y="2084831"/>
            <a:ext cx="199339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2C3E50"/>
                </a:solidFill>
              </a:rPr>
              <a:t>"Ahmed, you're overdue for a diabetes check. I've found a slot Thursday at DSFH. Want me to book it?"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33472" y="2084831"/>
            <a:ext cx="199339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2C3E50"/>
                </a:solidFill>
              </a:rPr>
              <a:t>"Your appointment is tomorrow. Any new symptoms for Dr. Al-Rashidi? Here's what to bring..."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82896" y="2084831"/>
            <a:ext cx="199339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2C3E50"/>
                </a:solidFill>
              </a:rPr>
              <a:t>Dr. Al-Rashidi reviews Ahmed's full history, flagged care gaps, and new HbA1c concerns before entering.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41464" y="2084831"/>
            <a:ext cx="199339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2C3E50"/>
                </a:solidFill>
              </a:rPr>
              <a:t>"Your A1C is 7.2 — manageable! Dr. Al-Rashidi has started you on adjusted Metformin. Dietitian booked for next week."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2084831"/>
            <a:ext cx="199339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2C3E50"/>
                </a:solidFill>
              </a:rPr>
              <a:t>"You hit your 8,000 steps goal yesterday! How's the new Metformin dose feeling? Any stomach issues?"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4069080"/>
            <a:ext cx="11521440" cy="2176272"/>
          </a:xfrm>
          <a:prstGeom prst="rect">
            <a:avLst/>
          </a:prstGeom>
          <a:solidFill>
            <a:srgbClr val="FFFFFF"/>
          </a:solidFill>
          <a:ln w="6350">
            <a:solidFill>
              <a:srgbClr val="C8D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411480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5A6A7A"/>
                </a:solidFill>
              </a:rPr>
              <a:t>Touchpoints</a:t>
            </a:r>
          </a:p>
        </p:txBody>
      </p:sp>
      <p:sp>
        <p:nvSpPr>
          <p:cNvPr id="32" name="Oval 31"/>
          <p:cNvSpPr/>
          <p:nvPr/>
        </p:nvSpPr>
        <p:spPr>
          <a:xfrm>
            <a:off x="393192" y="4443984"/>
            <a:ext cx="91440" cy="91440"/>
          </a:xfrm>
          <a:prstGeom prst="ellipse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57784" y="4352544"/>
            <a:ext cx="18470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C3E50"/>
                </a:solidFill>
              </a:rPr>
              <a:t>Overdue visit flagged</a:t>
            </a:r>
          </a:p>
        </p:txBody>
      </p:sp>
      <p:sp>
        <p:nvSpPr>
          <p:cNvPr id="34" name="Oval 33"/>
          <p:cNvSpPr/>
          <p:nvPr/>
        </p:nvSpPr>
        <p:spPr>
          <a:xfrm>
            <a:off x="393192" y="4901184"/>
            <a:ext cx="91440" cy="91440"/>
          </a:xfrm>
          <a:prstGeom prst="ellipse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57784" y="4809744"/>
            <a:ext cx="18470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C3E50"/>
                </a:solidFill>
              </a:rPr>
              <a:t>Outbound appt. booked</a:t>
            </a:r>
          </a:p>
        </p:txBody>
      </p:sp>
      <p:sp>
        <p:nvSpPr>
          <p:cNvPr id="36" name="Oval 35"/>
          <p:cNvSpPr/>
          <p:nvPr/>
        </p:nvSpPr>
        <p:spPr>
          <a:xfrm>
            <a:off x="393192" y="5358384"/>
            <a:ext cx="91440" cy="91440"/>
          </a:xfrm>
          <a:prstGeom prst="ellipse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57784" y="5266944"/>
            <a:ext cx="18470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C3E50"/>
                </a:solidFill>
              </a:rPr>
              <a:t>Insurance verified</a:t>
            </a:r>
          </a:p>
        </p:txBody>
      </p:sp>
      <p:sp>
        <p:nvSpPr>
          <p:cNvPr id="38" name="Oval 37"/>
          <p:cNvSpPr/>
          <p:nvPr/>
        </p:nvSpPr>
        <p:spPr>
          <a:xfrm>
            <a:off x="2651760" y="4443984"/>
            <a:ext cx="91440" cy="91440"/>
          </a:xfrm>
          <a:prstGeom prst="ellipse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816352" y="4352544"/>
            <a:ext cx="18470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C3E50"/>
                </a:solidFill>
              </a:rPr>
              <a:t>Intake completed</a:t>
            </a:r>
          </a:p>
        </p:txBody>
      </p:sp>
      <p:sp>
        <p:nvSpPr>
          <p:cNvPr id="40" name="Oval 39"/>
          <p:cNvSpPr/>
          <p:nvPr/>
        </p:nvSpPr>
        <p:spPr>
          <a:xfrm>
            <a:off x="2651760" y="4901184"/>
            <a:ext cx="91440" cy="91440"/>
          </a:xfrm>
          <a:prstGeom prst="ellipse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816352" y="4809744"/>
            <a:ext cx="18470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C3E50"/>
                </a:solidFill>
              </a:rPr>
              <a:t>Appt. reminder sent</a:t>
            </a:r>
          </a:p>
        </p:txBody>
      </p:sp>
      <p:sp>
        <p:nvSpPr>
          <p:cNvPr id="42" name="Oval 41"/>
          <p:cNvSpPr/>
          <p:nvPr/>
        </p:nvSpPr>
        <p:spPr>
          <a:xfrm>
            <a:off x="2651760" y="5358384"/>
            <a:ext cx="91440" cy="91440"/>
          </a:xfrm>
          <a:prstGeom prst="ellipse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16352" y="5266944"/>
            <a:ext cx="18470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C3E50"/>
                </a:solidFill>
              </a:rPr>
              <a:t>Patient prep info shared</a:t>
            </a:r>
          </a:p>
        </p:txBody>
      </p:sp>
      <p:sp>
        <p:nvSpPr>
          <p:cNvPr id="44" name="Oval 43"/>
          <p:cNvSpPr/>
          <p:nvPr/>
        </p:nvSpPr>
        <p:spPr>
          <a:xfrm>
            <a:off x="4901184" y="4443984"/>
            <a:ext cx="91440" cy="91440"/>
          </a:xfrm>
          <a:prstGeom prst="ellipse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65776" y="4352544"/>
            <a:ext cx="18470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C3E50"/>
                </a:solidFill>
              </a:rPr>
              <a:t>Provider fully briefed</a:t>
            </a:r>
          </a:p>
        </p:txBody>
      </p:sp>
      <p:sp>
        <p:nvSpPr>
          <p:cNvPr id="46" name="Oval 45"/>
          <p:cNvSpPr/>
          <p:nvPr/>
        </p:nvSpPr>
        <p:spPr>
          <a:xfrm>
            <a:off x="4901184" y="4901184"/>
            <a:ext cx="91440" cy="91440"/>
          </a:xfrm>
          <a:prstGeom prst="ellipse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65776" y="4809744"/>
            <a:ext cx="18470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C3E50"/>
                </a:solidFill>
              </a:rPr>
              <a:t>Copilot ensures nothing missed</a:t>
            </a:r>
          </a:p>
        </p:txBody>
      </p:sp>
      <p:sp>
        <p:nvSpPr>
          <p:cNvPr id="48" name="Oval 47"/>
          <p:cNvSpPr/>
          <p:nvPr/>
        </p:nvSpPr>
        <p:spPr>
          <a:xfrm>
            <a:off x="4901184" y="5358384"/>
            <a:ext cx="91440" cy="91440"/>
          </a:xfrm>
          <a:prstGeom prst="ellipse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65776" y="5266944"/>
            <a:ext cx="18470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C3E50"/>
                </a:solidFill>
              </a:rPr>
              <a:t>Personalized session</a:t>
            </a:r>
          </a:p>
        </p:txBody>
      </p:sp>
      <p:sp>
        <p:nvSpPr>
          <p:cNvPr id="50" name="Oval 49"/>
          <p:cNvSpPr/>
          <p:nvPr/>
        </p:nvSpPr>
        <p:spPr>
          <a:xfrm>
            <a:off x="7159752" y="4443984"/>
            <a:ext cx="91440" cy="91440"/>
          </a:xfrm>
          <a:prstGeom prst="ellipse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324344" y="4352544"/>
            <a:ext cx="18470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C3E50"/>
                </a:solidFill>
              </a:rPr>
              <a:t>Lab results in plain Arabic</a:t>
            </a:r>
          </a:p>
        </p:txBody>
      </p:sp>
      <p:sp>
        <p:nvSpPr>
          <p:cNvPr id="52" name="Oval 51"/>
          <p:cNvSpPr/>
          <p:nvPr/>
        </p:nvSpPr>
        <p:spPr>
          <a:xfrm>
            <a:off x="7159752" y="4901184"/>
            <a:ext cx="91440" cy="91440"/>
          </a:xfrm>
          <a:prstGeom prst="ellipse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24344" y="4809744"/>
            <a:ext cx="18470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C3E50"/>
                </a:solidFill>
              </a:rPr>
              <a:t>Metformin Rx drafted</a:t>
            </a:r>
          </a:p>
        </p:txBody>
      </p:sp>
      <p:sp>
        <p:nvSpPr>
          <p:cNvPr id="54" name="Oval 53"/>
          <p:cNvSpPr/>
          <p:nvPr/>
        </p:nvSpPr>
        <p:spPr>
          <a:xfrm>
            <a:off x="7159752" y="5358384"/>
            <a:ext cx="91440" cy="91440"/>
          </a:xfrm>
          <a:prstGeom prst="ellipse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324344" y="5266944"/>
            <a:ext cx="18470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C3E50"/>
                </a:solidFill>
              </a:rPr>
              <a:t>Dietitian referred</a:t>
            </a:r>
          </a:p>
        </p:txBody>
      </p:sp>
      <p:sp>
        <p:nvSpPr>
          <p:cNvPr id="56" name="Oval 55"/>
          <p:cNvSpPr/>
          <p:nvPr/>
        </p:nvSpPr>
        <p:spPr>
          <a:xfrm>
            <a:off x="9418320" y="4443984"/>
            <a:ext cx="91440" cy="91440"/>
          </a:xfrm>
          <a:prstGeom prst="ellipse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582912" y="4352544"/>
            <a:ext cx="18470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C3E50"/>
                </a:solidFill>
              </a:rPr>
              <a:t>24/7 health coaching</a:t>
            </a:r>
          </a:p>
        </p:txBody>
      </p:sp>
      <p:sp>
        <p:nvSpPr>
          <p:cNvPr id="58" name="Oval 57"/>
          <p:cNvSpPr/>
          <p:nvPr/>
        </p:nvSpPr>
        <p:spPr>
          <a:xfrm>
            <a:off x="9418320" y="4901184"/>
            <a:ext cx="91440" cy="91440"/>
          </a:xfrm>
          <a:prstGeom prst="ellipse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582912" y="4809744"/>
            <a:ext cx="18470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C3E50"/>
                </a:solidFill>
              </a:rPr>
              <a:t>Progress check-ins</a:t>
            </a:r>
          </a:p>
        </p:txBody>
      </p:sp>
      <p:sp>
        <p:nvSpPr>
          <p:cNvPr id="60" name="Oval 59"/>
          <p:cNvSpPr/>
          <p:nvPr/>
        </p:nvSpPr>
        <p:spPr>
          <a:xfrm>
            <a:off x="9418320" y="5358384"/>
            <a:ext cx="91440" cy="91440"/>
          </a:xfrm>
          <a:prstGeom prst="ellipse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582912" y="5266944"/>
            <a:ext cx="18470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C3E50"/>
                </a:solidFill>
              </a:rPr>
              <a:t>Medication adherence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20040" y="6355080"/>
            <a:ext cx="11521440" cy="347472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6373368"/>
            <a:ext cx="11338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Amigo agents handle front- and back-office tasks to free up Fakeeh staff and make patients feel cared for throughout their journey.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201168"/>
            <a:ext cx="237744" cy="237744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48056" y="237744"/>
            <a:ext cx="237744" cy="237744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84632" y="274320"/>
            <a:ext cx="237744" cy="237744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2286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</a:rPr>
              <a:t>Amigo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548640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A1A1A"/>
                </a:solidFill>
              </a:rPr>
              <a:t>The Amigo advantage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15568"/>
            <a:ext cx="8229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A6A7A"/>
                </a:solidFill>
              </a:rPr>
              <a:t>Why Amigo — not a generic chatbot, not a point solution.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481328"/>
            <a:ext cx="11338560" cy="18288"/>
          </a:xfrm>
          <a:prstGeom prst="rect">
            <a:avLst/>
          </a:prstGeom>
          <a:solidFill>
            <a:srgbClr val="C8D0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57276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0D2B3D"/>
                </a:solidFill>
              </a:rPr>
              <a:t>Amigo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0" y="157276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A6A7A"/>
                </a:solidFill>
              </a:rPr>
              <a:t>Other Healthcare Agents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029968"/>
            <a:ext cx="1133856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C8D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121408"/>
            <a:ext cx="5852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</a:rPr>
              <a:t>One unified platform for all agent use cases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0" y="2121408"/>
            <a:ext cx="329184" cy="329184"/>
          </a:xfrm>
          <a:prstGeom prst="ellipse">
            <a:avLst/>
          </a:prstGeom>
          <a:solidFill>
            <a:srgbClr val="0D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0" y="2121408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7" name="Oval 16"/>
          <p:cNvSpPr/>
          <p:nvPr/>
        </p:nvSpPr>
        <p:spPr>
          <a:xfrm>
            <a:off x="9966960" y="2121408"/>
            <a:ext cx="329184" cy="329184"/>
          </a:xfrm>
          <a:prstGeom prst="ellipse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66960" y="2121408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5A6A7A"/>
                </a:solidFill>
              </a:rPr>
              <a:t>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578608"/>
            <a:ext cx="11338560" cy="512064"/>
          </a:xfrm>
          <a:prstGeom prst="rect">
            <a:avLst/>
          </a:prstGeom>
          <a:solidFill>
            <a:srgbClr val="F0EDE8"/>
          </a:solidFill>
          <a:ln w="6350">
            <a:solidFill>
              <a:srgbClr val="C8D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2670048"/>
            <a:ext cx="5852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</a:rPr>
              <a:t>Custom-built for your patient population</a:t>
            </a:r>
          </a:p>
        </p:txBody>
      </p:sp>
      <p:sp>
        <p:nvSpPr>
          <p:cNvPr id="21" name="Oval 20"/>
          <p:cNvSpPr/>
          <p:nvPr/>
        </p:nvSpPr>
        <p:spPr>
          <a:xfrm>
            <a:off x="7315200" y="2670048"/>
            <a:ext cx="329184" cy="329184"/>
          </a:xfrm>
          <a:prstGeom prst="ellipse">
            <a:avLst/>
          </a:prstGeom>
          <a:solidFill>
            <a:srgbClr val="0D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0" y="2670048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23" name="Oval 22"/>
          <p:cNvSpPr/>
          <p:nvPr/>
        </p:nvSpPr>
        <p:spPr>
          <a:xfrm>
            <a:off x="9966960" y="2670048"/>
            <a:ext cx="329184" cy="329184"/>
          </a:xfrm>
          <a:prstGeom prst="ellipse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66960" y="2670048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5A6A7A"/>
                </a:solidFill>
              </a:rPr>
              <a:t>✕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3127248"/>
            <a:ext cx="1133856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C8D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3218688"/>
            <a:ext cx="5852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</a:rPr>
              <a:t>Deploy in weeks with deep EHR integrations</a:t>
            </a:r>
          </a:p>
        </p:txBody>
      </p:sp>
      <p:sp>
        <p:nvSpPr>
          <p:cNvPr id="27" name="Oval 26"/>
          <p:cNvSpPr/>
          <p:nvPr/>
        </p:nvSpPr>
        <p:spPr>
          <a:xfrm>
            <a:off x="7315200" y="3218688"/>
            <a:ext cx="329184" cy="329184"/>
          </a:xfrm>
          <a:prstGeom prst="ellipse">
            <a:avLst/>
          </a:prstGeom>
          <a:solidFill>
            <a:srgbClr val="0D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0" y="3218688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29" name="Oval 28"/>
          <p:cNvSpPr/>
          <p:nvPr/>
        </p:nvSpPr>
        <p:spPr>
          <a:xfrm>
            <a:off x="9966960" y="3218688"/>
            <a:ext cx="329184" cy="329184"/>
          </a:xfrm>
          <a:prstGeom prst="ellipse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66960" y="3218688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5A6A7A"/>
                </a:solidFill>
              </a:rPr>
              <a:t>✕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3675887"/>
            <a:ext cx="11338560" cy="512064"/>
          </a:xfrm>
          <a:prstGeom prst="rect">
            <a:avLst/>
          </a:prstGeom>
          <a:solidFill>
            <a:srgbClr val="F0EDE8"/>
          </a:solidFill>
          <a:ln w="6350">
            <a:solidFill>
              <a:srgbClr val="C8D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3767327"/>
            <a:ext cx="5852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</a:rPr>
              <a:t>Dedicated Agent Engineer</a:t>
            </a:r>
          </a:p>
        </p:txBody>
      </p:sp>
      <p:sp>
        <p:nvSpPr>
          <p:cNvPr id="33" name="Oval 32"/>
          <p:cNvSpPr/>
          <p:nvPr/>
        </p:nvSpPr>
        <p:spPr>
          <a:xfrm>
            <a:off x="7315200" y="3767327"/>
            <a:ext cx="329184" cy="329184"/>
          </a:xfrm>
          <a:prstGeom prst="ellipse">
            <a:avLst/>
          </a:prstGeom>
          <a:solidFill>
            <a:srgbClr val="0D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0" y="3767327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35" name="Oval 34"/>
          <p:cNvSpPr/>
          <p:nvPr/>
        </p:nvSpPr>
        <p:spPr>
          <a:xfrm>
            <a:off x="9966960" y="3767327"/>
            <a:ext cx="329184" cy="329184"/>
          </a:xfrm>
          <a:prstGeom prst="ellipse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966960" y="3767327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5A6A7A"/>
                </a:solidFill>
              </a:rPr>
              <a:t>✕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4224528"/>
            <a:ext cx="1133856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C8D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" y="4315968"/>
            <a:ext cx="5852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</a:rPr>
              <a:t>Transparent and auditable reasoning</a:t>
            </a:r>
          </a:p>
        </p:txBody>
      </p:sp>
      <p:sp>
        <p:nvSpPr>
          <p:cNvPr id="39" name="Oval 38"/>
          <p:cNvSpPr/>
          <p:nvPr/>
        </p:nvSpPr>
        <p:spPr>
          <a:xfrm>
            <a:off x="7315200" y="4315968"/>
            <a:ext cx="329184" cy="329184"/>
          </a:xfrm>
          <a:prstGeom prst="ellipse">
            <a:avLst/>
          </a:prstGeom>
          <a:solidFill>
            <a:srgbClr val="0D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0" y="4315968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41" name="Oval 40"/>
          <p:cNvSpPr/>
          <p:nvPr/>
        </p:nvSpPr>
        <p:spPr>
          <a:xfrm>
            <a:off x="9966960" y="4315968"/>
            <a:ext cx="329184" cy="329184"/>
          </a:xfrm>
          <a:prstGeom prst="ellipse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966960" y="4315968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5A6A7A"/>
                </a:solidFill>
              </a:rPr>
              <a:t>✕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" y="4773168"/>
            <a:ext cx="11338560" cy="512064"/>
          </a:xfrm>
          <a:prstGeom prst="rect">
            <a:avLst/>
          </a:prstGeom>
          <a:solidFill>
            <a:srgbClr val="F0EDE8"/>
          </a:solidFill>
          <a:ln w="6350">
            <a:solidFill>
              <a:srgbClr val="C8D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6928" y="4864608"/>
            <a:ext cx="5852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</a:rPr>
              <a:t>Simulation-validated evaluations (Digital Residency™)</a:t>
            </a:r>
          </a:p>
        </p:txBody>
      </p:sp>
      <p:sp>
        <p:nvSpPr>
          <p:cNvPr id="45" name="Oval 44"/>
          <p:cNvSpPr/>
          <p:nvPr/>
        </p:nvSpPr>
        <p:spPr>
          <a:xfrm>
            <a:off x="7315200" y="4864608"/>
            <a:ext cx="329184" cy="329184"/>
          </a:xfrm>
          <a:prstGeom prst="ellipse">
            <a:avLst/>
          </a:prstGeom>
          <a:solidFill>
            <a:srgbClr val="0D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15200" y="4864608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47" name="Oval 46"/>
          <p:cNvSpPr/>
          <p:nvPr/>
        </p:nvSpPr>
        <p:spPr>
          <a:xfrm>
            <a:off x="9966960" y="4864608"/>
            <a:ext cx="329184" cy="329184"/>
          </a:xfrm>
          <a:prstGeom prst="ellipse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6960" y="4864608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5A6A7A"/>
                </a:solidFill>
              </a:rPr>
              <a:t>✕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11480" y="5321808"/>
            <a:ext cx="1133856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C8D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66928" y="5413248"/>
            <a:ext cx="5852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</a:rPr>
              <a:t>Continuous agent self-improvement</a:t>
            </a:r>
          </a:p>
        </p:txBody>
      </p:sp>
      <p:sp>
        <p:nvSpPr>
          <p:cNvPr id="51" name="Oval 50"/>
          <p:cNvSpPr/>
          <p:nvPr/>
        </p:nvSpPr>
        <p:spPr>
          <a:xfrm>
            <a:off x="7315200" y="5413248"/>
            <a:ext cx="329184" cy="329184"/>
          </a:xfrm>
          <a:prstGeom prst="ellipse">
            <a:avLst/>
          </a:prstGeom>
          <a:solidFill>
            <a:srgbClr val="0D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315200" y="5413248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53" name="Oval 52"/>
          <p:cNvSpPr/>
          <p:nvPr/>
        </p:nvSpPr>
        <p:spPr>
          <a:xfrm>
            <a:off x="9966960" y="5413248"/>
            <a:ext cx="329184" cy="329184"/>
          </a:xfrm>
          <a:prstGeom prst="ellipse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966960" y="5413248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5A6A7A"/>
                </a:solidFill>
              </a:rPr>
              <a:t>✕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11480" y="5870448"/>
            <a:ext cx="11338560" cy="512064"/>
          </a:xfrm>
          <a:prstGeom prst="rect">
            <a:avLst/>
          </a:prstGeom>
          <a:solidFill>
            <a:srgbClr val="F0EDE8"/>
          </a:solidFill>
          <a:ln w="6350">
            <a:solidFill>
              <a:srgbClr val="C8D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66928" y="5961888"/>
            <a:ext cx="5852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</a:rPr>
              <a:t>You own all agent IP and patient data</a:t>
            </a:r>
          </a:p>
        </p:txBody>
      </p:sp>
      <p:sp>
        <p:nvSpPr>
          <p:cNvPr id="57" name="Oval 56"/>
          <p:cNvSpPr/>
          <p:nvPr/>
        </p:nvSpPr>
        <p:spPr>
          <a:xfrm>
            <a:off x="7315200" y="5961888"/>
            <a:ext cx="329184" cy="329184"/>
          </a:xfrm>
          <a:prstGeom prst="ellipse">
            <a:avLst/>
          </a:prstGeom>
          <a:solidFill>
            <a:srgbClr val="0D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315200" y="5961888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59" name="Oval 58"/>
          <p:cNvSpPr/>
          <p:nvPr/>
        </p:nvSpPr>
        <p:spPr>
          <a:xfrm>
            <a:off x="9966960" y="5961888"/>
            <a:ext cx="329184" cy="329184"/>
          </a:xfrm>
          <a:prstGeom prst="ellipse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966960" y="5961888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5A6A7A"/>
                </a:solidFill>
              </a:rPr>
              <a:t>✕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11480" y="6400800"/>
            <a:ext cx="11338560" cy="347472"/>
          </a:xfrm>
          <a:prstGeom prst="rect">
            <a:avLst/>
          </a:prstGeom>
          <a:solidFill>
            <a:srgbClr val="F5ECE8"/>
          </a:solidFill>
          <a:ln w="12700">
            <a:solidFill>
              <a:srgbClr val="B440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66928" y="6419088"/>
            <a:ext cx="11064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63324"/>
                </a:solidFill>
              </a:rPr>
              <a:t>🇸🇦  Amigo has an active partnership with Heal (KSA/UAE) — proven GCC deployment track. Arabic-first, 100+ languages, HIPAA · SOC 2 · GDPR compliant.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607040" y="201168"/>
            <a:ext cx="256032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643616" y="237744"/>
            <a:ext cx="256032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680192" y="274320"/>
            <a:ext cx="256032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08792" y="23774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Amigo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02920"/>
            <a:ext cx="8229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0" i="0">
                <a:solidFill>
                  <a:srgbClr val="FFFFFF"/>
                </a:solidFill>
              </a:rPr>
              <a:t>Your AI partner, end to end.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170432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8D0D8"/>
                </a:solidFill>
              </a:rPr>
              <a:t>From discovery to post-development, our team handles the complexity so Fakeeh can stay focused on care.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600200"/>
            <a:ext cx="11338560" cy="18288"/>
          </a:xfrm>
          <a:prstGeom prst="rect">
            <a:avLst/>
          </a:prstGeom>
          <a:solidFill>
            <a:srgbClr val="255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828800"/>
            <a:ext cx="5669280" cy="1353312"/>
          </a:xfrm>
          <a:prstGeom prst="rect">
            <a:avLst/>
          </a:prstGeom>
          <a:solidFill>
            <a:srgbClr val="143248"/>
          </a:solidFill>
          <a:ln w="12700">
            <a:solidFill>
              <a:srgbClr val="255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48640" y="1965960"/>
            <a:ext cx="621792" cy="621792"/>
          </a:xfrm>
          <a:prstGeom prst="ellipse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984248"/>
            <a:ext cx="621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1920240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Discovery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233172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8D0D8"/>
                </a:solidFill>
              </a:rPr>
              <a:t>We deeply understand Fakeeh's unique workflows and goals — not pre-built templates.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1828800"/>
            <a:ext cx="5669280" cy="1353312"/>
          </a:xfrm>
          <a:prstGeom prst="rect">
            <a:avLst/>
          </a:prstGeom>
          <a:solidFill>
            <a:srgbClr val="143248"/>
          </a:solidFill>
          <a:ln w="12700">
            <a:solidFill>
              <a:srgbClr val="255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37960" y="1965960"/>
            <a:ext cx="621792" cy="621792"/>
          </a:xfrm>
          <a:prstGeom prst="ellipse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60" y="1984248"/>
            <a:ext cx="621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1920240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Custom Agent Build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233172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8D0D8"/>
                </a:solidFill>
              </a:rPr>
              <a:t>Tailor agents for your needs: Arabic intake, post-visit follow-up, chronic care, home health.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310128"/>
            <a:ext cx="5669280" cy="1353312"/>
          </a:xfrm>
          <a:prstGeom prst="rect">
            <a:avLst/>
          </a:prstGeom>
          <a:solidFill>
            <a:srgbClr val="143248"/>
          </a:solidFill>
          <a:ln w="12700">
            <a:solidFill>
              <a:srgbClr val="255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48640" y="3447288"/>
            <a:ext cx="621792" cy="621792"/>
          </a:xfrm>
          <a:prstGeom prst="ellipse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3465576"/>
            <a:ext cx="621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3401568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Rigorous Testing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3813048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8D0D8"/>
                </a:solidFill>
              </a:rPr>
              <a:t>Millions of simulated sessions before launch — accuracy, brand consistency, edge case handling.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3310128"/>
            <a:ext cx="5669280" cy="1353312"/>
          </a:xfrm>
          <a:prstGeom prst="rect">
            <a:avLst/>
          </a:prstGeom>
          <a:solidFill>
            <a:srgbClr val="143248"/>
          </a:solidFill>
          <a:ln w="12700">
            <a:solidFill>
              <a:srgbClr val="255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537960" y="3447288"/>
            <a:ext cx="621792" cy="621792"/>
          </a:xfrm>
          <a:prstGeom prst="ellipse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37960" y="3465576"/>
            <a:ext cx="621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0" y="3401568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Development in 6 Weeks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3813048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8D0D8"/>
                </a:solidFill>
              </a:rPr>
              <a:t>Full engineering and IT support. Integrate with Fakeeh's YASASII HIS &amp; EHRs. Go live in 6 weeks.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4791456"/>
            <a:ext cx="5669280" cy="1353312"/>
          </a:xfrm>
          <a:prstGeom prst="rect">
            <a:avLst/>
          </a:prstGeom>
          <a:solidFill>
            <a:srgbClr val="143248"/>
          </a:solidFill>
          <a:ln w="12700">
            <a:solidFill>
              <a:srgbClr val="255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48640" y="4928616"/>
            <a:ext cx="621792" cy="621792"/>
          </a:xfrm>
          <a:prstGeom prst="ellipse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4946904"/>
            <a:ext cx="621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25880" y="488289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Monitoring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25880" y="5294376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8D0D8"/>
                </a:solidFill>
              </a:rPr>
              <a:t>Continuous monitoring with real-time risk flags, full visibility into agent performance and ROI.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4791456"/>
            <a:ext cx="5669280" cy="1353312"/>
          </a:xfrm>
          <a:prstGeom prst="rect">
            <a:avLst/>
          </a:prstGeom>
          <a:solidFill>
            <a:srgbClr val="143248"/>
          </a:solidFill>
          <a:ln w="12700">
            <a:solidFill>
              <a:srgbClr val="255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537960" y="4928616"/>
            <a:ext cx="621792" cy="621792"/>
          </a:xfrm>
          <a:prstGeom prst="ellipse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37960" y="4946904"/>
            <a:ext cx="621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0" y="488289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Continuous Improvement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0" y="5294376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8D0D8"/>
                </a:solidFill>
              </a:rPr>
              <a:t>We refine your agents based on real Fakeeh patient interactions so they get smarter over time.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" y="6327648"/>
            <a:ext cx="11338560" cy="27432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1480" y="63550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C5540"/>
                </a:solidFill>
              </a:rPr>
              <a:t>6 weeks from concept to live agents →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72400" y="635508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8D0D8"/>
                </a:solidFill>
              </a:rPr>
              <a:t>Schedule your discovery session:  amigo.ai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474720" y="6473952"/>
            <a:ext cx="5239512" cy="347472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11880" y="6492240"/>
            <a:ext cx="4937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Let's build the future of care at Fakeeh together.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