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0"/>
            <a:ext cx="2743200" cy="146304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5486400"/>
            <a:ext cx="4114800" cy="146304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5486400"/>
            <a:ext cx="1828800" cy="146304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2743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43616" y="310896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0192" y="347472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08792" y="3108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Amigo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3474720" cy="347472"/>
          </a:xfrm>
          <a:prstGeom prst="rect">
            <a:avLst/>
          </a:prstGeom>
          <a:solidFill>
            <a:srgbClr val="8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9844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BB"/>
                </a:solidFill>
              </a:rPr>
              <a:t>CONFIDENTIAL  ·  PRESENTED TO FAKEEH CARE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</a:rPr>
              <a:t>Scaling Care at Fakeeh.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CCBB"/>
                </a:solidFill>
              </a:rPr>
              <a:t>Powered by Amigo.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0D5"/>
                </a:solidFill>
              </a:rPr>
              <a:t>How Amigo's patient-facing clinical AI agents can multiply Fakeeh Care Group's
capacity — without scaling headcount.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46320"/>
            <a:ext cx="2148840" cy="347472"/>
          </a:xfrm>
          <a:prstGeom prst="rect">
            <a:avLst/>
          </a:prstGeom>
          <a:solidFill>
            <a:srgbClr val="8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64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BB"/>
                </a:solidFill>
              </a:rPr>
              <a:t>🏥  Fakeeh Care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4846320"/>
            <a:ext cx="2148840" cy="347472"/>
          </a:xfrm>
          <a:prstGeom prst="rect">
            <a:avLst/>
          </a:prstGeom>
          <a:solidFill>
            <a:srgbClr val="8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4864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BB"/>
                </a:solidFill>
              </a:rPr>
              <a:t>🤖  Amigo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59" y="4846320"/>
            <a:ext cx="2148840" cy="347472"/>
          </a:xfrm>
          <a:prstGeom prst="rect">
            <a:avLst/>
          </a:prstGeom>
          <a:solidFill>
            <a:srgbClr val="8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864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BB"/>
                </a:solidFill>
              </a:rPr>
              <a:t>🇸🇦  Vision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19456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256032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03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943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About Amigo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A7A"/>
                </a:solidFill>
              </a:rPr>
              <a:t>The trusted platform for building, training, and deploying patient-facing clinical AI agents.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1133856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55648"/>
            <a:ext cx="5303520" cy="1371600"/>
          </a:xfrm>
          <a:prstGeom prst="rect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"We understand the challenges faced
by healthcare organizations."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5303520" cy="804672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874519"/>
            <a:ext cx="54864" cy="8046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94767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4030"/>
                </a:solidFill>
              </a:rPr>
              <a:t>Lost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Provider capacity outpaced by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3055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A"/>
                </a:solidFill>
              </a:rPr>
              <a:t>$1M / year / provider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70632"/>
            <a:ext cx="5303520" cy="804672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70632"/>
            <a:ext cx="54864" cy="8046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43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4030"/>
                </a:solidFill>
              </a:rPr>
              <a:t>High Turnover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43% physician burnout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2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A"/>
                </a:solidFill>
              </a:rPr>
              <a:t>$500K replacement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66744"/>
            <a:ext cx="5303520" cy="804672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666744"/>
            <a:ext cx="54864" cy="8046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739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4030"/>
                </a:solidFill>
              </a:rPr>
              <a:t>High Costs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325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 hrs wasted per hour of patient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922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A"/>
                </a:solidFill>
              </a:rPr>
              <a:t>Clinical inefficiency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62856"/>
            <a:ext cx="5303520" cy="804672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562856"/>
            <a:ext cx="54864" cy="8046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636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4030"/>
                </a:solidFill>
              </a:rPr>
              <a:t>Unfilled Schedules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9286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No-shows &amp; cancellations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818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A"/>
                </a:solidFill>
              </a:rPr>
              <a:t>$200 lost per unfilled visit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458968"/>
            <a:ext cx="5303520" cy="804672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5458968"/>
            <a:ext cx="54864" cy="8046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4030"/>
                </a:solidFill>
              </a:rPr>
              <a:t>Patient Drop-Off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824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Cannot influence experience outside visit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715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A"/>
                </a:solidFill>
              </a:rPr>
              <a:t>$15K lifetime value lost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755648"/>
            <a:ext cx="5806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18288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Amigo expands provider capacity.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377440"/>
            <a:ext cx="5394960" cy="914400"/>
          </a:xfrm>
          <a:prstGeom prst="rect">
            <a:avLst/>
          </a:prstGeom>
          <a:solidFill>
            <a:srgbClr val="F7F5F0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2377440"/>
            <a:ext cx="640080" cy="292608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242316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4323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5X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9260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patient capacity per provider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383280"/>
            <a:ext cx="5394960" cy="914400"/>
          </a:xfrm>
          <a:prstGeom prst="rect">
            <a:avLst/>
          </a:prstGeom>
          <a:solidFill>
            <a:srgbClr val="F7F5F0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3383280"/>
            <a:ext cx="640080" cy="292608"/>
          </a:xfrm>
          <a:prstGeom prst="rect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34290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4381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400%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39319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increase in billable 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120"/>
            <a:ext cx="5394960" cy="914400"/>
          </a:xfrm>
          <a:prstGeom prst="rect">
            <a:avLst/>
          </a:prstGeom>
          <a:solidFill>
            <a:srgbClr val="F7F5F0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4389120"/>
            <a:ext cx="640080" cy="292608"/>
          </a:xfrm>
          <a:prstGeom prst="rect">
            <a:avLst/>
          </a:prstGeom>
          <a:solidFill>
            <a:srgbClr val="2C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0488" y="44348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OUTCOMES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443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49377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lift in patient outcome measures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5394960"/>
            <a:ext cx="5394960" cy="914400"/>
          </a:xfrm>
          <a:prstGeom prst="rect">
            <a:avLst/>
          </a:prstGeom>
          <a:solidFill>
            <a:srgbClr val="F7F5F0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5394960"/>
            <a:ext cx="640080" cy="292608"/>
          </a:xfrm>
          <a:prstGeom prst="rect">
            <a:avLst/>
          </a:prstGeom>
          <a:solidFill>
            <a:srgbClr val="4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0488" y="544068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4498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22.2x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59436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total return on investment (Ivim Health)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37744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2743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77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Fakeeh Care Group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0D8"/>
                </a:solidFill>
              </a:rPr>
              <a:t>Dubai-based private healthcare conglomerate with regional leadership — founded 1978, listed 2024.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11338560" cy="18288"/>
          </a:xfrm>
          <a:prstGeom prst="rect">
            <a:avLst/>
          </a:prstGeom>
          <a:solidFill>
            <a:srgbClr val="2A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2788920" cy="1325880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2788920" cy="4572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1907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SAR 3.1B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128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5540"/>
                </a:solidFill>
              </a:rPr>
              <a:t>+11%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87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0D8"/>
                </a:solidFill>
              </a:rPr>
              <a:t>FY2025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627632"/>
            <a:ext cx="2788920" cy="1325880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627632"/>
            <a:ext cx="2788920" cy="4572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171907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1.89M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2128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5540"/>
                </a:solidFill>
              </a:rPr>
              <a:t>+8% YoY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487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0D8"/>
                </a:solidFill>
              </a:rPr>
              <a:t>Annual Patients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27632"/>
            <a:ext cx="2788920" cy="1325880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627632"/>
            <a:ext cx="2788920" cy="4572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71907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4 →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2128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5540"/>
                </a:solidFill>
              </a:rPr>
              <a:t>by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487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0D8"/>
                </a:solidFill>
              </a:rPr>
              <a:t>Hospitals (beds: 835→1,675)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627632"/>
            <a:ext cx="2788920" cy="1325880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1627632"/>
            <a:ext cx="2788920" cy="4572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171907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22128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5540"/>
                </a:solidFill>
              </a:rPr>
              <a:t>50+ specialties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487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0D8"/>
                </a:solidFill>
              </a:rPr>
              <a:t>Doctors in Network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90672"/>
            <a:ext cx="5669280" cy="3566160"/>
          </a:xfrm>
          <a:prstGeom prst="rect">
            <a:avLst/>
          </a:prstGeom>
          <a:solidFill>
            <a:srgbClr val="0A1E2C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182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5540"/>
                </a:solidFill>
              </a:rPr>
              <a:t>Established Excellence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66160"/>
            <a:ext cx="5120640" cy="18288"/>
          </a:xfrm>
          <a:prstGeom prst="rect">
            <a:avLst/>
          </a:prstGeom>
          <a:solidFill>
            <a:srgbClr val="2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39312"/>
            <a:ext cx="5349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Founded 1978 by Dr. Soliman Fakeeh — Saudi Arabia's first private hospital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JCI Accredited 6th consecutive time | ANCC Magnet Nursing Recognition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CAP Lab: zero deficiencies | CEBAHI accredited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Fakeeh University Hospital — flagship Dubai facility (Dubai Silicon Oasis)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First private-sector robotic surgery program in the GCC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Medicentres acquisition — 22-clinic primary care network across Dubai &amp; UAE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090672"/>
            <a:ext cx="5669280" cy="3566160"/>
          </a:xfrm>
          <a:prstGeom prst="rect">
            <a:avLst/>
          </a:prstGeom>
          <a:solidFill>
            <a:srgbClr val="0A1E2C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182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5540"/>
                </a:solidFill>
              </a:rPr>
              <a:t>Ambitious Growth Agenda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0528" y="3566160"/>
            <a:ext cx="5120640" cy="18288"/>
          </a:xfrm>
          <a:prstGeom prst="rect">
            <a:avLst/>
          </a:prstGeom>
          <a:solidFill>
            <a:srgbClr val="2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639312"/>
            <a:ext cx="5349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Target: 7 hospitals · 1,675 beds · 9 medical centers by 2028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HEAL Hospital (AED 500M+ Neuroscience centre) — construction underway 2025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Expanding oncology &amp; tertiary care across Dubai and the Northern Emirates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Partnership with Dubai Health Authority &amp; DHA-accredited facilities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AED credit facility secured for GCC-wide expansion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C8D0D8"/>
                </a:solidFill>
              </a:rPr>
              <a:t>→  Headquarters: Dubai Silicon Oasis — positioned as UAE's healthcare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37744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274320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286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669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We understand the challenges faced by Fakeeh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</a:rPr>
              <a:t>Healthcare organizations at Fakeeh's scale struggle to efficiently deliver care as demand outpaces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1133856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64208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282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Lost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06654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Explosive Patient Volume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487168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1.89M patients growing 8%+ YoY. Clinical staff cannot scale at the same pace — every new hospital multiplies patient engagement burden.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584448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64845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$1M annual revenue lost per provider at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664208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664208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17282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Unfilled Schedules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06654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Post-Visit Follow-Up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87168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1.89M discharges annually. Systematically following up every patient for medication adherence and recovery is operationally impossible at current staffing.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3584448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364845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$200 lost per unfilled visit from no-shows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6" y="1664208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6" y="1664208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17282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High Costs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06654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Multi-Language Patient Population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487168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Dubai serves a diverse population requiring care in Arabic, English, Urdu, Tagalog, Hindi and more — across all Fakeeh facilities.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94192" y="3584448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648456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2 hours wasted per hour of patient care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51376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51376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21538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High Turnover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45537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Rapid Multi-Site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4974336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Scaling 4→7 hospitals and 9 medical centers by 2028 means replicating patient engagement operations without a scalable digital model.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6071616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61356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43% physician burnout rate nationally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4151376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4151376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421538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Patient Drop-Off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3984" y="45537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Chronic Disease Management Burden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4" y="4974336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With 50+ specialties incl. cardiology, oncology, nephrology — managing ongoing patient engagement for chronic conditions consumes disproportionate bandwidth.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43984" y="6071616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43984" y="61356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$15K lifetime value lost per patient drop-off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6" y="4151376"/>
            <a:ext cx="3749039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66176" y="4151376"/>
            <a:ext cx="3749039" cy="3200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421538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Missed 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5537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Home Healthcare Coordination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974336"/>
            <a:ext cx="3493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0D8"/>
                </a:solidFill>
              </a:rPr>
              <a:t>Fakeeh Home Health Care spans 6 cities. Remote monitoring and check-ins rely on manual outreach — creating inconsistent patient experience.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94192" y="6071616"/>
            <a:ext cx="3493008" cy="182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6135624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5540"/>
                </a:solidFill>
              </a:rPr>
              <a:t>Missed quality measures from care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20116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43616" y="237744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80192" y="2743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08792" y="2377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Amigo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00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How Amigo transforms the patient care journey at Fakeeh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CBB"/>
                </a:solidFill>
              </a:rPr>
              <a:t>8 AI-powered touchpoints across the complete patient 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08760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06624" y="16002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3677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Proactive Patient Outreach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331720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23160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Reactivate dormant patients, fill schedule gaps, outbound appointment booking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5" y="1508760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7" y="16002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7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1" y="163677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Scheduling &amp; Reminders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1" y="2331720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1" y="2423160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Cut no-shows by 50% and free up front-desk staff across 120+ Fakeeh clinics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1508760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68511" y="16002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1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5" y="163677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Clinical Intake &amp; Triage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5" y="2331720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5" y="2423160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Eliminate wait times and route Fakeeh patients to the right specialty in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1508760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49456" y="16002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49456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63677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Patient Education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2331720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423160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Prep patients before arrival; cut visit times by 30% across all hospitals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3959352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06624" y="4050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0690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08736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Provider Copilot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4782312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873752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Deliver clinical decision support and elevate patient outcomes for 900+ Fakeeh doctors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28415" y="3959352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87567" y="4050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7567" y="40690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1" y="408736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Post-Visit Follow-ups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6431" y="4782312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431" y="4873752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Answer patient questions and free providers from callbacks — 1.89M patients annually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3959352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68511" y="4050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1" y="40690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5" y="408736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Ongoing 24/7 Virtual Care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37375" y="4782312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7375" y="4873752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Engage Fakeeh patients beyond their visit to improve chronic disease adherence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0304" y="3959352"/>
            <a:ext cx="2834640" cy="2286000"/>
          </a:xfrm>
          <a:prstGeom prst="rect">
            <a:avLst/>
          </a:prstGeom>
          <a:solidFill>
            <a:srgbClr val="96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649456" y="4050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49456" y="40690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4030"/>
                </a:solidFill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08736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RPM &amp; Patient Insights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4782312"/>
            <a:ext cx="2514600" cy="18288"/>
          </a:xfrm>
          <a:prstGeom prst="rect">
            <a:avLst/>
          </a:prstGeom>
          <a:solidFill>
            <a:srgbClr val="CC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873752"/>
            <a:ext cx="2578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D5"/>
                </a:solidFill>
              </a:rPr>
              <a:t>Flag at-risk patients and gain visibility into population health across all 6 home health cities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37744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274320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286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One patient, every touchpoint.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4592"/>
            <a:ext cx="5120640" cy="1097280"/>
          </a:xfrm>
          <a:prstGeom prst="rect">
            <a:avLst/>
          </a:prstGeom>
          <a:solidFill>
            <a:srgbClr val="EEEAE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A1A1A"/>
                </a:solidFill>
              </a:rPr>
              <a:t>Ahmed's chronic care journey at Fakeeh University Hospital,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760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Ahmed, 58  ·  Diabetic &amp; hypertensive  ·  Regular Fakeeh University Hospital patient, Dubai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8686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4030"/>
                </a:solidFill>
              </a:rPr>
              <a:t>Powered by Amigo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Onboarding: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45920"/>
            <a:ext cx="210312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Pre-visit: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645920"/>
            <a:ext cx="210312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Visit: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1645920"/>
            <a:ext cx="210312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Post-visit: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645920"/>
            <a:ext cx="210312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Ongoing care: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1645920"/>
            <a:ext cx="210312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783080"/>
            <a:ext cx="11521440" cy="2148840"/>
          </a:xfrm>
          <a:prstGeom prst="rect">
            <a:avLst/>
          </a:prstGeom>
          <a:solidFill>
            <a:srgbClr val="EEEAE2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44030"/>
                </a:solidFill>
              </a:rPr>
              <a:t>Amigo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84831"/>
            <a:ext cx="1993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"Ahmed, you're overdue for a diabetes check. I've found a slot Thursday at Fakeeh University Hospital. Want me to book it?"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2084831"/>
            <a:ext cx="1993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"Your appointment is tomorrow. Any new symptoms for Dr. Al-Rashidi? Here's what to bring..."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2896" y="2084831"/>
            <a:ext cx="1993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Dr. Al-Mansoori reviews Ahmed's full history, flagged care gaps, and new HbA1c concerns before entering.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464" y="2084831"/>
            <a:ext cx="1993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"Your A1C is 7.2 — manageable! Dr. Al-Rashidi has started you on adjusted Metformin. Dietitian booked for next week."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084831"/>
            <a:ext cx="1993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"You hit your 8,000 steps goal yesterday! How's the new Metformin dose feeling? Any stomach issues?"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069080"/>
            <a:ext cx="1152144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114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6A7A"/>
                </a:solidFill>
              </a:rPr>
              <a:t>Touchpoints</a:t>
            </a:r>
          </a:p>
        </p:txBody>
      </p:sp>
      <p:sp>
        <p:nvSpPr>
          <p:cNvPr id="32" name="Oval 31"/>
          <p:cNvSpPr/>
          <p:nvPr/>
        </p:nvSpPr>
        <p:spPr>
          <a:xfrm>
            <a:off x="393192" y="44439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43525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Overdue visit flagged</a:t>
            </a:r>
          </a:p>
        </p:txBody>
      </p:sp>
      <p:sp>
        <p:nvSpPr>
          <p:cNvPr id="34" name="Oval 33"/>
          <p:cNvSpPr/>
          <p:nvPr/>
        </p:nvSpPr>
        <p:spPr>
          <a:xfrm>
            <a:off x="393192" y="49011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4809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Outbound appt. booked</a:t>
            </a:r>
          </a:p>
        </p:txBody>
      </p:sp>
      <p:sp>
        <p:nvSpPr>
          <p:cNvPr id="36" name="Oval 35"/>
          <p:cNvSpPr/>
          <p:nvPr/>
        </p:nvSpPr>
        <p:spPr>
          <a:xfrm>
            <a:off x="393192" y="53583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5266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Insurance verified</a:t>
            </a:r>
          </a:p>
        </p:txBody>
      </p:sp>
      <p:sp>
        <p:nvSpPr>
          <p:cNvPr id="38" name="Oval 37"/>
          <p:cNvSpPr/>
          <p:nvPr/>
        </p:nvSpPr>
        <p:spPr>
          <a:xfrm>
            <a:off x="2651760" y="44439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43525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Intake completed</a:t>
            </a:r>
          </a:p>
        </p:txBody>
      </p:sp>
      <p:sp>
        <p:nvSpPr>
          <p:cNvPr id="40" name="Oval 39"/>
          <p:cNvSpPr/>
          <p:nvPr/>
        </p:nvSpPr>
        <p:spPr>
          <a:xfrm>
            <a:off x="2651760" y="49011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4809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Appt. reminder sent</a:t>
            </a:r>
          </a:p>
        </p:txBody>
      </p:sp>
      <p:sp>
        <p:nvSpPr>
          <p:cNvPr id="42" name="Oval 41"/>
          <p:cNvSpPr/>
          <p:nvPr/>
        </p:nvSpPr>
        <p:spPr>
          <a:xfrm>
            <a:off x="2651760" y="53583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16352" y="5266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Patient prep info shared</a:t>
            </a:r>
          </a:p>
        </p:txBody>
      </p:sp>
      <p:sp>
        <p:nvSpPr>
          <p:cNvPr id="44" name="Oval 43"/>
          <p:cNvSpPr/>
          <p:nvPr/>
        </p:nvSpPr>
        <p:spPr>
          <a:xfrm>
            <a:off x="4901184" y="44439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43525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Provider fully briefed</a:t>
            </a:r>
          </a:p>
        </p:txBody>
      </p:sp>
      <p:sp>
        <p:nvSpPr>
          <p:cNvPr id="46" name="Oval 45"/>
          <p:cNvSpPr/>
          <p:nvPr/>
        </p:nvSpPr>
        <p:spPr>
          <a:xfrm>
            <a:off x="4901184" y="49011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65776" y="4809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Copilot ensures nothing missed</a:t>
            </a:r>
          </a:p>
        </p:txBody>
      </p:sp>
      <p:sp>
        <p:nvSpPr>
          <p:cNvPr id="48" name="Oval 47"/>
          <p:cNvSpPr/>
          <p:nvPr/>
        </p:nvSpPr>
        <p:spPr>
          <a:xfrm>
            <a:off x="4901184" y="53583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65776" y="5266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Personalized session</a:t>
            </a:r>
          </a:p>
        </p:txBody>
      </p:sp>
      <p:sp>
        <p:nvSpPr>
          <p:cNvPr id="50" name="Oval 49"/>
          <p:cNvSpPr/>
          <p:nvPr/>
        </p:nvSpPr>
        <p:spPr>
          <a:xfrm>
            <a:off x="7159752" y="44439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24344" y="43525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Lab results in plain Arabic</a:t>
            </a:r>
          </a:p>
        </p:txBody>
      </p:sp>
      <p:sp>
        <p:nvSpPr>
          <p:cNvPr id="52" name="Oval 51"/>
          <p:cNvSpPr/>
          <p:nvPr/>
        </p:nvSpPr>
        <p:spPr>
          <a:xfrm>
            <a:off x="7159752" y="49011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24344" y="4809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Metformin Rx drafted</a:t>
            </a:r>
          </a:p>
        </p:txBody>
      </p:sp>
      <p:sp>
        <p:nvSpPr>
          <p:cNvPr id="54" name="Oval 53"/>
          <p:cNvSpPr/>
          <p:nvPr/>
        </p:nvSpPr>
        <p:spPr>
          <a:xfrm>
            <a:off x="7159752" y="53583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24344" y="5266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Dietitian referred</a:t>
            </a:r>
          </a:p>
        </p:txBody>
      </p:sp>
      <p:sp>
        <p:nvSpPr>
          <p:cNvPr id="56" name="Oval 55"/>
          <p:cNvSpPr/>
          <p:nvPr/>
        </p:nvSpPr>
        <p:spPr>
          <a:xfrm>
            <a:off x="9418320" y="44439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82912" y="43525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24/7 health coaching</a:t>
            </a:r>
          </a:p>
        </p:txBody>
      </p:sp>
      <p:sp>
        <p:nvSpPr>
          <p:cNvPr id="58" name="Oval 57"/>
          <p:cNvSpPr/>
          <p:nvPr/>
        </p:nvSpPr>
        <p:spPr>
          <a:xfrm>
            <a:off x="9418320" y="49011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82912" y="4809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Progress check-ins</a:t>
            </a:r>
          </a:p>
        </p:txBody>
      </p:sp>
      <p:sp>
        <p:nvSpPr>
          <p:cNvPr id="60" name="Oval 59"/>
          <p:cNvSpPr/>
          <p:nvPr/>
        </p:nvSpPr>
        <p:spPr>
          <a:xfrm>
            <a:off x="9418320" y="5358384"/>
            <a:ext cx="91440" cy="91440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82912" y="5266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Medication adherence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373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Amigo agents handle front- and back-office tasks to free up Fakeeh staff and make patients feel cared for throughout their journey.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37744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274320"/>
            <a:ext cx="237744" cy="237744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286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48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The Amigo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</a:rPr>
              <a:t>Why Amigo — not a generic chatbot, not a point 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81328"/>
            <a:ext cx="11338560" cy="18288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2B3D"/>
                </a:solidFill>
              </a:rPr>
              <a:t>Amigo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572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A7A"/>
                </a:solidFill>
              </a:rPr>
              <a:t>Other Healthcare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29968"/>
            <a:ext cx="11338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One unified platform for all agent use cases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12140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1214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Oval 16"/>
          <p:cNvSpPr/>
          <p:nvPr/>
        </p:nvSpPr>
        <p:spPr>
          <a:xfrm>
            <a:off x="9966960" y="212140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1214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78608"/>
            <a:ext cx="11338560" cy="512064"/>
          </a:xfrm>
          <a:prstGeom prst="rect">
            <a:avLst/>
          </a:prstGeom>
          <a:solidFill>
            <a:srgbClr val="F0EDE8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Custom-built for your patient population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267004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6700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Oval 22"/>
          <p:cNvSpPr/>
          <p:nvPr/>
        </p:nvSpPr>
        <p:spPr>
          <a:xfrm>
            <a:off x="9966960" y="267004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6700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27248"/>
            <a:ext cx="11338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186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Deploy in weeks with deep EHR integrations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321868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18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Oval 28"/>
          <p:cNvSpPr/>
          <p:nvPr/>
        </p:nvSpPr>
        <p:spPr>
          <a:xfrm>
            <a:off x="9966960" y="321868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3218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675887"/>
            <a:ext cx="11338560" cy="512064"/>
          </a:xfrm>
          <a:prstGeom prst="rect">
            <a:avLst/>
          </a:prstGeom>
          <a:solidFill>
            <a:srgbClr val="F0EDE8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767327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Dedicated Agent Engineer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0" y="3767327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6732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Oval 34"/>
          <p:cNvSpPr/>
          <p:nvPr/>
        </p:nvSpPr>
        <p:spPr>
          <a:xfrm>
            <a:off x="9966960" y="3767327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76732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24528"/>
            <a:ext cx="11338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31596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Transparent and auditable reasoning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0" y="431596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315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Oval 40"/>
          <p:cNvSpPr/>
          <p:nvPr/>
        </p:nvSpPr>
        <p:spPr>
          <a:xfrm>
            <a:off x="9966960" y="431596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4315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773168"/>
            <a:ext cx="11338560" cy="512064"/>
          </a:xfrm>
          <a:prstGeom prst="rect">
            <a:avLst/>
          </a:prstGeom>
          <a:solidFill>
            <a:srgbClr val="F0EDE8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48646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Simulation-validated evaluations (Digital Residency™)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0" y="486460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864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Oval 46"/>
          <p:cNvSpPr/>
          <p:nvPr/>
        </p:nvSpPr>
        <p:spPr>
          <a:xfrm>
            <a:off x="9966960" y="486460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4864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321808"/>
            <a:ext cx="11338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54132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Continuous agent self-improvement</a:t>
            </a:r>
          </a:p>
        </p:txBody>
      </p:sp>
      <p:sp>
        <p:nvSpPr>
          <p:cNvPr id="51" name="Oval 50"/>
          <p:cNvSpPr/>
          <p:nvPr/>
        </p:nvSpPr>
        <p:spPr>
          <a:xfrm>
            <a:off x="7315200" y="541324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54132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Oval 52"/>
          <p:cNvSpPr/>
          <p:nvPr/>
        </p:nvSpPr>
        <p:spPr>
          <a:xfrm>
            <a:off x="9966960" y="541324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54132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870448"/>
            <a:ext cx="11338560" cy="512064"/>
          </a:xfrm>
          <a:prstGeom prst="rect">
            <a:avLst/>
          </a:prstGeom>
          <a:solidFill>
            <a:srgbClr val="F0EDE8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9618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You own all agent IP and patient data</a:t>
            </a:r>
          </a:p>
        </p:txBody>
      </p:sp>
      <p:sp>
        <p:nvSpPr>
          <p:cNvPr id="57" name="Oval 56"/>
          <p:cNvSpPr/>
          <p:nvPr/>
        </p:nvSpPr>
        <p:spPr>
          <a:xfrm>
            <a:off x="7315200" y="5961888"/>
            <a:ext cx="329184" cy="329184"/>
          </a:xfrm>
          <a:prstGeom prst="ellipse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59618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9" name="Oval 58"/>
          <p:cNvSpPr/>
          <p:nvPr/>
        </p:nvSpPr>
        <p:spPr>
          <a:xfrm>
            <a:off x="9966960" y="5961888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59618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6A7A"/>
                </a:solidFill>
              </a:rPr>
              <a:t>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400800"/>
            <a:ext cx="11338560" cy="347472"/>
          </a:xfrm>
          <a:prstGeom prst="rect">
            <a:avLst/>
          </a:prstGeom>
          <a:solidFill>
            <a:srgbClr val="F5ECE8"/>
          </a:solidFill>
          <a:ln w="12700">
            <a:solidFill>
              <a:srgbClr val="B4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63324"/>
                </a:solidFill>
              </a:rPr>
              <a:t>🇦🇪  Amigo has an active partnership with Heal (UAE/GCC) — proven regional deployment track. Arabic-first, 100+ languages, HIPAA · SOC 2 · GDPR compliant.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20116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43616" y="237744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80192" y="2743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08792" y="2377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Amigo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Your AI partner,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0D8"/>
                </a:solidFill>
              </a:rPr>
              <a:t>From discovery to post-development, our team handles the complexity so Fakeeh can stay focused on 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11338560" cy="18288"/>
          </a:xfrm>
          <a:prstGeom prst="rect">
            <a:avLst/>
          </a:prstGeom>
          <a:solidFill>
            <a:srgbClr val="2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965960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8424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We deeply understand Fakeeh's unique workflows and goals — not pre-built templates.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1965960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8424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20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 Agent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Tailor agents for your needs: Arabic intake, post-visit follow-up, chronic care, home health.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10128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447288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6557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4015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Rigorous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1304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Millions of simulated sessions before launch — accuracy, brand consistency, edge case handling.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10128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3447288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46557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4015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Development in 6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1304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Full engineering and IT support. Integrate with Fakeeh's YASASII HIS &amp; EHRs. Go live in 6 weeks.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91456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4928616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4690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8828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294376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Continuous monitoring with real-time risk flags, full visibility into agent performance and ROI.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791456"/>
            <a:ext cx="5669280" cy="1353312"/>
          </a:xfrm>
          <a:prstGeom prst="rect">
            <a:avLst/>
          </a:prstGeom>
          <a:solidFill>
            <a:srgbClr val="143248"/>
          </a:solidFill>
          <a:ln w="12700">
            <a:solidFill>
              <a:srgbClr val="2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7960" y="4928616"/>
            <a:ext cx="621792" cy="621792"/>
          </a:xfrm>
          <a:prstGeom prst="ellipse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94690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8828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Continuous 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94376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0D8"/>
                </a:solidFill>
              </a:rPr>
              <a:t>We refine your agents based on real Fakeeh patient interactions so they get smarter over time.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327648"/>
            <a:ext cx="11338560" cy="2743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5540"/>
                </a:solidFill>
              </a:rPr>
              <a:t>6 weeks from concept to live agents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355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0D8"/>
                </a:solidFill>
              </a:rPr>
              <a:t>Schedule your discovery session:  amigo.ai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6473952"/>
            <a:ext cx="5239512" cy="347472"/>
          </a:xfrm>
          <a:prstGeom prst="rect">
            <a:avLst/>
          </a:prstGeom>
          <a:solidFill>
            <a:srgbClr val="B4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64922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Let's build the future of care at Fakeeh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