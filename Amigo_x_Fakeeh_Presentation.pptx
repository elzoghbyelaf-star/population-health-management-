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8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78624" y="1417319"/>
            <a:ext cx="4023360" cy="402336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27264" y="1965960"/>
            <a:ext cx="2926080" cy="292608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67344" y="2606040"/>
            <a:ext cx="1645920" cy="164592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0292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A7"/>
                </a:solidFill>
              </a:rPr>
              <a:t>● CONFIDENTIAL PROPOSAL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Scaling Care at Fakeeh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A7"/>
                </a:solidFill>
              </a:rPr>
              <a:t>with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How Amigo's patient-facing clinical AI platform can multiply
Fakeeh Care Group's clinical capacity — without scaling headcount.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1828800" cy="329184"/>
          </a:xfrm>
          <a:prstGeom prst="rect">
            <a:avLst/>
          </a:prstGeom>
          <a:solidFill>
            <a:srgbClr val="1E3045"/>
          </a:solidFill>
          <a:ln w="1270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🏥  Fakeeh Care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657600"/>
            <a:ext cx="1828800" cy="329184"/>
          </a:xfrm>
          <a:prstGeom prst="rect">
            <a:avLst/>
          </a:prstGeom>
          <a:solidFill>
            <a:srgbClr val="1E3045"/>
          </a:solidFill>
          <a:ln w="1270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🤖  Amigo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657600"/>
            <a:ext cx="1828800" cy="329184"/>
          </a:xfrm>
          <a:prstGeom prst="rect">
            <a:avLst/>
          </a:prstGeom>
          <a:solidFill>
            <a:srgbClr val="1E3045"/>
          </a:solidFill>
          <a:ln w="1270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🇸🇦  Vision 2030 Aligned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amigo.ai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977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EE"/>
                </a:solidFill>
              </a:rPr>
              <a:t>×  Fakeeh Care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About Amigo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"Turn Clinical Expertise into Exponential Capacity."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84831"/>
            <a:ext cx="12984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D1B2A"/>
                </a:solidFill>
              </a:rPr>
              <a:t>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Autonomous patient encounters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084831"/>
            <a:ext cx="12984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12140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D1B2A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8716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Safety incidents to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084831"/>
            <a:ext cx="12984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12140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D1B2A"/>
                </a:solidFill>
              </a:rPr>
              <a:t>6 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8716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Concept →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084831"/>
            <a:ext cx="12984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2140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D1B2A"/>
                </a:solidFill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8716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Languages incl. Arabic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90672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3639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Amigo is the trusted platform for building, training &amp; deploying patient-facing clinical AI agents. Founded 2023 · Headquartered NYC · Backed by Madrona &amp; Optum Ventures ($17M raised). Partners define their AI strategy; Amigo builds &amp; launches custom agents safely in 6 weeks — no engineering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Backed by:  Madrona · Optum Ventures   |   Total Raised: $17M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097280"/>
            <a:ext cx="58521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Digital Residency™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5361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Millions of simulated patient scenarios — adversarial &amp; edge cases — before any real patient. 100% safety pass rate required.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468880"/>
            <a:ext cx="58521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Amigo Actions (Real-World)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9077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Agents order labs, write to EHR, schedule appointments, message care team — not just advisory chatbots.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840480"/>
            <a:ext cx="58521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913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Context Graph &amp; 4-Tier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793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Living, evolving understanding of each patient shared across multi-agent care team in real 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5212080"/>
            <a:ext cx="58521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85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Enterprise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6509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HIPAA · SOC 2 Type II · GDPR · Epic · Oracle Health · Athenahealth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Fakeeh Care Group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17957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SAR 3.1B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FY2025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↑ +11% 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051560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051560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1" y="117957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1.89M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Annual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↑ +8% YoY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051560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051560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117957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 Hospitals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KSA Network (→7 by 2028)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835 beds &amp; growing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06039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606039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734055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20954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Doctors in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520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50+ specialties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2606039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79" y="2606039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1" y="2734055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47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1" y="320954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Of Clinical Excellence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1" y="3520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Founded 1978, Jeddah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06039"/>
            <a:ext cx="3749039" cy="1389888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2606039"/>
            <a:ext cx="3749039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1" y="2734055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JCI x6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320954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Consecutive Accreditation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1" y="3520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</a:rPr>
              <a:t>+ ANCC Magnet Nursing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224528"/>
            <a:ext cx="5852160" cy="2377440"/>
          </a:xfrm>
          <a:prstGeom prst="rect">
            <a:avLst/>
          </a:prstGeom>
          <a:solidFill>
            <a:srgbClr val="0A1624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315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Established Strength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091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JCI accredited — 6th consecutive reaccreditation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CAP Lab: zero deficiencies | ANCC Magnet Nursing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#1 private hospital in KSA — Newsweek 2022–2025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First private-sector robotic surgery in Saudi Arabia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Largest NICU in Western Province of KSA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224528"/>
            <a:ext cx="5852160" cy="2377440"/>
          </a:xfrm>
          <a:prstGeom prst="rect">
            <a:avLst/>
          </a:prstGeom>
          <a:solidFill>
            <a:srgbClr val="0A1624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15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Ambitious Growth Agenda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7091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Target: 7 hospitals, 1,675 beds, 9 centers by 2028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SAR 938M Alinma Bank credit facility secured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HEAL Hospital (SAR 461M Neuroscience) underway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Acquired Saudia Airlines Medical Services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BBCCDD"/>
                </a:solidFill>
              </a:rPr>
              <a:t>→  UAE expansion: FUH + Medicentres acquisition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Identified Challenges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602736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Explosive Patient Volume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57400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1.89M annual patients growing 8%+ YoY. Clinical staff cannot
scale at the same pace — every new hospital multiplies the
patient engagement burden.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337560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Capacity 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360273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1612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1645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Post-Visit Follow-Up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057400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1.89M discharges/consultations annually. Systematically
following up every patient for medication adherence, recovery,
and chronic care is operationally impossible.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19" y="3337560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33375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Care Continuity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602736"/>
            <a:ext cx="3749039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1612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645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Multi-Language Patient Population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057400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Diverse expatriate &amp; national population requiring care in
Arabic dialects, English, Urdu, Tagalog, and more — across
all Fakeeh facilities.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3337560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3375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Accessibility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6391655"/>
            <a:ext cx="3749039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9502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3483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Rapid Multi-Site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46319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Scaling 4→7 hospitals and 9 medical centers by 2028 means
replicating patient engagement operations across Jeddah,
Riyadh, Madinah, Makkah, NEOM without a scalable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126479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12647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Operational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6391655"/>
            <a:ext cx="3749039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19" y="39502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19" y="443483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Chronic Disease Management Burden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19" y="4846319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With 50+ specialties incl. cardiology, oncology, nephrology,
managing ongoing patient engagement consumes
disproportionate clinical bandwidth.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19" y="6126479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19" y="612647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Clinical Efficiency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6391655"/>
            <a:ext cx="3749039" cy="54864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9502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43483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Home Healthcare Coordination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846319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Fakeeh Home Health Care operates across 6 cities. Remote
patient monitoring &amp; check-ins rely on manual outreach —
creating inconsistent patient experience.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6126479"/>
            <a:ext cx="146304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612647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Remote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Amigo Solution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11548872" cy="384048"/>
          </a:xfrm>
          <a:prstGeom prst="rect">
            <a:avLst/>
          </a:prstGeom>
          <a:solidFill>
            <a:srgbClr val="00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9A7"/>
                </a:solidFill>
              </a:rPr>
              <a:t>FAKEEH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4241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9A7"/>
                </a:solidFill>
              </a:rPr>
              <a:t>AMIGO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042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9A7"/>
                </a:solidFill>
              </a:rPr>
              <a:t>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08176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1728216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53896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Explosive patient volume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453896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24/7 AI Agents handle routine inquiries, triage &amp; scheduling — freeing clinicians for high-complexity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664208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64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80–90% deflection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95144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261518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340864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Post-visit follow-up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40864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Outbound AI Engagement — automated post-visit check-ins, medication reminders, recovery tracking at population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2551176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551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100%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82112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3502152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278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Multi-language patient population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27832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100+ Language Support including Arabic dialects — natively deployed, no translation layer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438144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3438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Full inclusivity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" y="4389120"/>
            <a:ext cx="164592" cy="164592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Multi-site rapid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11480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Scalable Agent Architecture — one platform centrally managed, deployed across all Fakeeh facilities and brands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4325112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43251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Instant replication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956048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5276088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0176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Chronic disease management burden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00176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Chronic Care AI — ongoing engagement, care plan adherence, lab result debriefs, medication guidance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5212080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5212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Significant reduction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843016"/>
            <a:ext cx="11548872" cy="859536"/>
          </a:xfrm>
          <a:prstGeom prst="rect">
            <a:avLst/>
          </a:prstGeom>
          <a:solidFill>
            <a:srgbClr val="10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200" y="6163056"/>
            <a:ext cx="164592" cy="164592"/>
          </a:xfrm>
          <a:prstGeom prst="ellipse">
            <a:avLst/>
          </a:prstGeom>
          <a:solidFill>
            <a:srgbClr val="15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88736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Home healthcare coordination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888736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Home Health AI Agents — proactive remote check-ins, vitals follow-up, escalation routing across 6 cities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6099048"/>
            <a:ext cx="1828800" cy="292608"/>
          </a:xfrm>
          <a:prstGeom prst="rect">
            <a:avLst/>
          </a:prstGeom>
          <a:solidFill>
            <a:srgbClr val="00403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60990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A7"/>
                </a:solidFill>
              </a:rPr>
              <a:t>Consistent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Amigo Use Cases for Fakeeh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1179576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179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AI Triage &amp;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4538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Across 120+ outpatient clinics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01368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Intelligent AI agents screen patients before appointments — collecting symptoms, history &amp; urgency. Routes to the right specialty, reducing no-shows and misrouting across all facilities.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64408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Reduces admin time per patient by 40%+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051560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19" y="1179576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11612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7" y="1179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Chronic Care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14538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Cardiology · Oncology · Nephrology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1801368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Persistent agents manage ongoing patient relationships. Proactively reach out for medication adherence, lifestyle monitoring, and early warning escalation — at full population scale.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19" y="3264408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3273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80–90% reduction in routine chronic care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051560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051560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60" y="1179576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1612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1179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Lab Result Debriefs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14538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Integrated with Fakeeh's YASASII 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801368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AI agents explain lab &amp; radiology results in plain language and the patient's preferred language — reducing the thousands of 'what does this mean?' calls that consume clinician time daily.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264408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273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Frees 2–4 hours/day per clinical department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840479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480" y="3968495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950207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9684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Home Health AI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242815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All 6 home health cities covered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590287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Automated check-ins for Fakeeh Home Health Care patients — vitals prompts, medication reminders, wound care guidance, and escalation to nursing staff when deterioration is detected.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7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624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Consistent care quality across all cities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59" y="3840479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19" y="3968495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19" y="3950207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🎗️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0327" y="39684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Oncology Survivorship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0327" y="4242815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DSFH Madinah Cancer Centre + Jeddah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19" y="4590287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Dedicated cancer survivorship agents — side effect monitoring, psychological support check-ins, appointment reminders, and connecting patients to palliative or social services.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19" y="6053327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39" y="60624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Improved survivorship outcomes &amp; CSAT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840479"/>
            <a:ext cx="374903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840479"/>
            <a:ext cx="3749039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66760" y="3968495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3950207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39684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NEOM AI-Native Care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7968" y="4242815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Personalized · Predictive · Genomics-Ready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590287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For Fakeeh's NEOM hospital — Amigo's advanced personalized agents align perfectly with NEOM's vision for AI-driven, genomics-integrated, preventive healthcare.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66760" y="6053327"/>
            <a:ext cx="3474720" cy="292608"/>
          </a:xfrm>
          <a:prstGeom prst="rect">
            <a:avLst/>
          </a:prstGeom>
          <a:solidFill>
            <a:srgbClr val="E6F9F5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60624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98F"/>
                </a:solidFill>
              </a:rPr>
              <a:t>✓  First AI-native hospital care model in KSA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8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685800"/>
            <a:ext cx="5486400" cy="5486400"/>
          </a:xfrm>
          <a:prstGeom prst="ellipse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097280" y="1417319"/>
            <a:ext cx="4023360" cy="4023360"/>
          </a:xfrm>
          <a:prstGeom prst="ellipse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365759" y="2148840"/>
            <a:ext cx="2560320" cy="2560320"/>
          </a:xfrm>
          <a:prstGeom prst="ellipse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Amigo?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258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DFFF5"/>
                </a:solidFill>
              </a:rPr>
              <a:t>Built for exactly this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20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3M+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80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EE"/>
                </a:solidFill>
              </a:rPr>
              <a:t>Autonomous patient encounters completed worldwide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4389120" cy="402336"/>
          </a:xfrm>
          <a:prstGeom prst="rect">
            <a:avLst/>
          </a:prstGeom>
          <a:solidFill>
            <a:srgbClr val="00554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5753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🛡️  Zero safety incidents · 99.9%+ safety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4389120" cy="402336"/>
          </a:xfrm>
          <a:prstGeom prst="rect">
            <a:avLst/>
          </a:prstGeom>
          <a:solidFill>
            <a:srgbClr val="00554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07822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🇸🇦  Active Middle East presence via Heal partnership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0"/>
            <a:ext cx="697687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286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Makes Amigo Different for Fakeeh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822960"/>
            <a:ext cx="6492240" cy="1078992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40680" y="10972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8961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Trained Like Doctors, Not Like Chatbots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26187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CC"/>
                </a:solidFill>
              </a:rPr>
              <a:t>Digital Residency™ simulates millions of patient scenarios — including adversarial &amp; edge cases — before any real patient interaction. Aligned with Fakeeh's JCI standards.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2011680"/>
            <a:ext cx="6492240" cy="1078992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40680" y="228600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0848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YASASII-Ready EHR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5059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CC"/>
                </a:solidFill>
              </a:rPr>
              <a:t>Amigo integrates natively with major EHRs and can bridge to Fakeeh's proprietary YASASII HIS — ensuring agents read &amp; write to the same patient record clinicians use.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3200400"/>
            <a:ext cx="6492240" cy="1078992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40680" y="347472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27355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Arabic-First, Multi-Dialect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63931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CC"/>
                </a:solidFill>
              </a:rPr>
              <a:t>Native Arabic support across dialects — Gulf, Egyptian, Levantine — plus 100+ languages covering Fakeeh's full patient demographics in KSA and UAE.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4389120"/>
            <a:ext cx="6492240" cy="1078992"/>
          </a:xfrm>
          <a:prstGeom prst="rect">
            <a:avLst/>
          </a:prstGeom>
          <a:solidFill>
            <a:srgbClr val="142638"/>
          </a:solidFill>
          <a:ln w="12700">
            <a:solidFill>
              <a:srgbClr val="1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40680" y="466344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4622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Real Actions, Not Just Advice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82803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CC"/>
                </a:solidFill>
              </a:rPr>
              <a:t>Agents order labs, schedule appointments, write clinical notes — directly supporting Fakeeh's digital transformation and Vision 2030 paperless hospital targets.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5577840"/>
            <a:ext cx="6492240" cy="822960"/>
          </a:xfrm>
          <a:prstGeom prst="rect">
            <a:avLst/>
          </a:prstGeom>
          <a:solidFill>
            <a:srgbClr val="00302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5596128"/>
            <a:ext cx="63093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C9A7"/>
                </a:solidFill>
              </a:rPr>
              <a:t>🤝  Established Middle East Presence: Amigo has an active partnership with Heal (KSA/UAE) to expand clinical AI across the Middle East — Fakeeh joins a proven regional deployment track.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-1371600"/>
            <a:ext cx="5486400" cy="5486400"/>
          </a:xfrm>
          <a:prstGeom prst="rect">
            <a:avLst/>
          </a:prstGeom>
          <a:solidFill>
            <a:srgbClr val="00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371600" y="3200400"/>
            <a:ext cx="5486400" cy="5486400"/>
          </a:xfrm>
          <a:prstGeom prst="rect">
            <a:avLst/>
          </a:prstGeom>
          <a:solidFill>
            <a:srgbClr val="1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00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A7"/>
                </a:solidFill>
              </a:rPr>
              <a:t>THE PATH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Let's Build the Future of Healthcare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CC"/>
                </a:solidFill>
              </a:rPr>
              <a:t>Amigo goes from concept to production in 6 weeks.
Here's how we propose to begin the partnership with Fakeeh Care Group.</a:t>
            </a:r>
          </a:p>
        </p:txBody>
      </p:sp>
      <p:sp>
        <p:nvSpPr>
          <p:cNvPr id="8" name="Oval 7"/>
          <p:cNvSpPr/>
          <p:nvPr/>
        </p:nvSpPr>
        <p:spPr>
          <a:xfrm>
            <a:off x="1216152" y="2148840"/>
            <a:ext cx="713232" cy="713232"/>
          </a:xfrm>
          <a:prstGeom prst="ellipse">
            <a:avLst/>
          </a:prstGeom>
          <a:solidFill>
            <a:srgbClr val="003028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2148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00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Discovery
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9359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ACC"/>
                </a:solidFill>
              </a:rPr>
              <a:t>Map Fakeeh's top 3 patient engagement bottlenecks with clinical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3317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547872" y="2148840"/>
            <a:ext cx="713232" cy="713232"/>
          </a:xfrm>
          <a:prstGeom prst="ellipse">
            <a:avLst/>
          </a:prstGeom>
          <a:solidFill>
            <a:srgbClr val="003028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148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900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Pilot
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9359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ACC"/>
                </a:solidFill>
              </a:rPr>
              <a:t>Co-design a focused 6-week pilot — e.g. post-discharge follow-up at DSFH Jeddah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3317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879592" y="2148840"/>
            <a:ext cx="713232" cy="713232"/>
          </a:xfrm>
          <a:prstGeom prst="ellipse">
            <a:avLst/>
          </a:prstGeom>
          <a:solidFill>
            <a:srgbClr val="003028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2148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900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
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59359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ACC"/>
                </a:solidFill>
              </a:rPr>
              <a:t>Digital Residency™ — trained on Fakeeh's patient population, Arabic dialects, protocols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3317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211312" y="2148840"/>
            <a:ext cx="713232" cy="713232"/>
          </a:xfrm>
          <a:prstGeom prst="ellipse">
            <a:avLst/>
          </a:prstGeom>
          <a:solidFill>
            <a:srgbClr val="003028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2148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9900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Safe
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59359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ACC"/>
                </a:solidFill>
              </a:rPr>
              <a:t>Deploy to live patients with full monitoring, safety dashboards, clinical oversight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3317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543032" y="2148840"/>
            <a:ext cx="713232" cy="713232"/>
          </a:xfrm>
          <a:prstGeom prst="ellipse">
            <a:avLst/>
          </a:prstGeom>
          <a:solidFill>
            <a:srgbClr val="003028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2148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9900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Scale Across
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593592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AACC"/>
                </a:solidFill>
              </a:rPr>
              <a:t>Expand across all hospitals, home health, UAE → 7-hospital 2028 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86784" y="5486400"/>
            <a:ext cx="2743200" cy="4754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6784" y="550468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Schedule Discovery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0807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7799"/>
                </a:solidFill>
              </a:rPr>
              <a:t>Contact: amigo.ai  ·  Backed by Madrona &amp; Optum Ventures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