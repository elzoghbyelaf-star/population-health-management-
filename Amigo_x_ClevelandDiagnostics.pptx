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A5E9"/>
                </a:solidFill>
                <a:latin typeface="Segoe UI"/>
              </a:rPr>
              <a:t>PARTNERSHIP 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7259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1E3A8A"/>
                </a:solidFill>
                <a:latin typeface="Segoe UI"/>
              </a:rPr>
              <a:t>Amigo × Cleveland Diagnostics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334155"/>
                </a:solidFill>
                <a:latin typeface="Segoe UI"/>
              </a:rPr>
              <a:t>Scaling early cancer detection from a validated test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334155"/>
                </a:solidFill>
                <a:latin typeface="Segoe UI"/>
              </a:rPr>
              <a:t>to a population-scale screening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8648" y="4526280"/>
            <a:ext cx="6400800" cy="4114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Segoe UI"/>
              </a:rPr>
              <a:t>AI agents that identify eligible patients, drive adoption, and generate real-world evidence — for IsoPSA and beyond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Prepared for Cleveland Diagnostics, Inc.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A5E9"/>
                </a:solidFill>
                <a:latin typeface="Segoe UI"/>
              </a:rPr>
              <a:t>elzoghby.elaf@amigo.ai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Cleveland Diagnostics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260604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3852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3A8A"/>
                </a:solidFill>
                <a:latin typeface="Segoe UI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414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FDA PMA approval of IsoPSA (Dec 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783080"/>
            <a:ext cx="260604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93852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3A8A"/>
                </a:solidFill>
                <a:latin typeface="Segoe UI"/>
              </a:rPr>
              <a:t>$75M+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4414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Growth capital raised (2024, Novo Holdings)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783080"/>
            <a:ext cx="260604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93852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3A8A"/>
                </a:solidFill>
                <a:latin typeface="Segoe UI"/>
              </a:rPr>
              <a:t>~90%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414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Sensitivity for high-grade cancer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783080"/>
            <a:ext cx="260604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93852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3A8A"/>
                </a:solidFill>
                <a:latin typeface="Segoe UI"/>
              </a:rPr>
              <a:t>0.78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414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Validation AUC (n≈1,093, 8 sites)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017520"/>
            <a:ext cx="5577840" cy="32004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017520"/>
            <a:ext cx="557784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246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3A8A"/>
                </a:solidFill>
                <a:latin typeface="Segoe UI"/>
              </a:rPr>
              <a:t>WHO THEY 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5844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Precision-oncology biotech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8130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Cleveland, OH — rooted in predecessor AnalizaDx.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0565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Core platform: SIA / IsoClear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342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Reads protein structure, not concentration, to find cancer isoforms.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62686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Lead product: IsoPSA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8554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Stratifies high-grade prostate-cancer risk; aids the biopsy decision.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1480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Regulatory milestone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766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FDA Premarket Approval as an IVD kit (Dec 2025).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6692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Leadership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897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Michael Iskra named CEO (Jan 2026) to drive scale-up.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017520"/>
            <a:ext cx="5422392" cy="32004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3640" y="3017520"/>
            <a:ext cx="5422392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46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3A8A"/>
                </a:solidFill>
                <a:latin typeface="Segoe UI"/>
              </a:rPr>
              <a:t>EVIDENCE &amp; POSITIONING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6393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✓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Prospective, multicenter validation (Klein et al., 2022)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041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✓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Outperformed total PSA and % free PSA on AUC &amp; specificity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4439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✓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SUO 2025: accuracy shown with and without mpMRI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846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✓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Competes with mpMRI pathways, 4Kscore, PHI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3949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E3A8A"/>
                </a:solidFill>
                <a:latin typeface="Segoe UI"/>
              </a:rPr>
              <a:t>SINGLE-PRODUCT TODAY — PIPELINE AHEAD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669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Segoe UI"/>
              </a:rPr>
              <a:t>IsoPSA is the sole commercial product; the SIA platform can extend to other cancers.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Strategic Pain Points After FDA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Segoe UI"/>
              </a:rPr>
              <a:t>Approval is won. The harder problem is now commercial — turning a validated test into standard-of-care at national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3657600" cy="16002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82296" cy="1600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963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1.  </a:t>
            </a:r>
            <a:r>
              <a:rPr sz="1350" b="1" i="0">
                <a:solidFill>
                  <a:srgbClr val="1E3A8A"/>
                </a:solidFill>
                <a:latin typeface="Segoe UI"/>
              </a:rPr>
              <a:t>Commercial scale-up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98648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34155"/>
                </a:solidFill>
                <a:latin typeface="Segoe UI"/>
              </a:rPr>
              <a:t>Moving from a niche lab-developed test to nationwide IVD adoption — with a salesforce that can't reach every urologist and PCP.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2331720"/>
            <a:ext cx="3657600" cy="16002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6552" y="2331720"/>
            <a:ext cx="82296" cy="1600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4963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2.  </a:t>
            </a:r>
            <a:r>
              <a:rPr sz="1350" b="1" i="0">
                <a:solidFill>
                  <a:srgbClr val="1E3A8A"/>
                </a:solidFill>
                <a:latin typeface="Segoe UI"/>
              </a:rPr>
              <a:t>Patient identification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2898648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34155"/>
                </a:solidFill>
                <a:latin typeface="Segoe UI"/>
              </a:rPr>
              <a:t>The right patients (men 50+, rising PSA) surface in primary care, where risk-stratification is inconsistent and IsoPSA is rarely top-of-mind.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0184" y="2331720"/>
            <a:ext cx="3657600" cy="16002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0184" y="2331720"/>
            <a:ext cx="82296" cy="1600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24963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3.  </a:t>
            </a:r>
            <a:r>
              <a:rPr sz="1350" b="1" i="0">
                <a:solidFill>
                  <a:srgbClr val="1E3A8A"/>
                </a:solidFill>
                <a:latin typeface="Segoe UI"/>
              </a:rPr>
              <a:t>Physician &amp; payer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2898648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34155"/>
                </a:solidFill>
                <a:latin typeface="Segoe UI"/>
              </a:rPr>
              <a:t>Ordering behavior is hard to shift; reimbursement and payer coverage remain unclear and slow the funnel.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87952"/>
            <a:ext cx="3657600" cy="16002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87952"/>
            <a:ext cx="82296" cy="1600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35254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4.  </a:t>
            </a:r>
            <a:r>
              <a:rPr sz="1350" b="1" i="0">
                <a:solidFill>
                  <a:srgbClr val="1E3A8A"/>
                </a:solidFill>
                <a:latin typeface="Segoe UI"/>
              </a:rPr>
              <a:t>Real-world evidence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75488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34155"/>
                </a:solidFill>
                <a:latin typeface="Segoe UI"/>
              </a:rPr>
              <a:t>Payers and guideline bodies want real-world outcomes; key data (e.g. SUO 2025) is conference-stage, not yet peer-reviewed.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4187952"/>
            <a:ext cx="3657600" cy="16002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16552" y="4187952"/>
            <a:ext cx="82296" cy="1600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4" y="435254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5.  </a:t>
            </a:r>
            <a:r>
              <a:rPr sz="1350" b="1" i="0">
                <a:solidFill>
                  <a:srgbClr val="1E3A8A"/>
                </a:solidFill>
                <a:latin typeface="Segoe UI"/>
              </a:rPr>
              <a:t>Competitive 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475488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34155"/>
                </a:solidFill>
                <a:latin typeface="Segoe UI"/>
              </a:rPr>
              <a:t>mpMRI pathways, 4Kscore and PHI compete for the same biopsy-decision moment — differentiation must be continually proven.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0184" y="4187952"/>
            <a:ext cx="3657600" cy="160020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30184" y="4187952"/>
            <a:ext cx="82296" cy="1600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435254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6.  </a:t>
            </a:r>
            <a:r>
              <a:rPr sz="1350" b="1" i="0">
                <a:solidFill>
                  <a:srgbClr val="1E3A8A"/>
                </a:solidFill>
                <a:latin typeface="Segoe UI"/>
              </a:rPr>
              <a:t>Single-product concentration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475488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334155"/>
                </a:solidFill>
                <a:latin typeface="Segoe UI"/>
              </a:rPr>
              <a:t>Revenue rests entirely on IsoPSA; pipeline expansion needs large longitudinal datasets and validation partners.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Solving the Pain Points with Amigo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Segoe UI"/>
              </a:rPr>
              <a:t>Each Amigo AI agent maps directly onto a Cleveland Diagnostics gap — not a dashboard, an agent that 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86000"/>
            <a:ext cx="3931920" cy="41148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3749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PAIN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286000"/>
            <a:ext cx="3063240" cy="41148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304288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AMIGO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286000"/>
            <a:ext cx="4005072" cy="41148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304288"/>
            <a:ext cx="38221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HOW IT SOLVES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88920"/>
            <a:ext cx="3931920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34639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3A8A"/>
                </a:solidFill>
                <a:latin typeface="Segoe UI"/>
              </a:rPr>
              <a:t>Finding eligible patients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788920"/>
            <a:ext cx="3063240" cy="713232"/>
          </a:xfrm>
          <a:prstGeom prst="roundRect">
            <a:avLst>
              <a:gd name="adj" fmla="val 10000"/>
            </a:avLst>
          </a:prstGeom>
          <a:ln w="15875">
            <a:solidFill>
              <a:srgbClr val="0EA5E9"/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834639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200" b="1" i="0">
                <a:solidFill>
                  <a:srgbClr val="1E3A8A"/>
                </a:solidFill>
                <a:latin typeface="Segoe UI"/>
              </a:rPr>
              <a:t>Risk Stratification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788920"/>
            <a:ext cx="4005072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843784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Predictive scoring flags men 50+ with rising PSA across the population — a ready demand funnel for IsoPSA.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557015"/>
            <a:ext cx="3931920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02735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3A8A"/>
                </a:solidFill>
                <a:latin typeface="Segoe UI"/>
              </a:rPr>
              <a:t>Patients slip through primary care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557015"/>
            <a:ext cx="3063240" cy="713232"/>
          </a:xfrm>
          <a:prstGeom prst="roundRect">
            <a:avLst>
              <a:gd name="adj" fmla="val 10000"/>
            </a:avLst>
          </a:prstGeom>
          <a:ln w="15875">
            <a:solidFill>
              <a:srgbClr val="0EA5E9"/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602735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200" b="1" i="0">
                <a:solidFill>
                  <a:srgbClr val="1E3A8A"/>
                </a:solidFill>
                <a:latin typeface="Segoe UI"/>
              </a:rPr>
              <a:t>Observation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3557015"/>
            <a:ext cx="4005072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611879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24/7 surveillance detects newly elevated PSA labs in real time and triggers an IsoPSA recommendation at the point of care.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325112"/>
            <a:ext cx="3931920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70832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3A8A"/>
                </a:solidFill>
                <a:latin typeface="Segoe UI"/>
              </a:rPr>
              <a:t>Adoption &amp; ordering behavior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325112"/>
            <a:ext cx="3063240" cy="713232"/>
          </a:xfrm>
          <a:prstGeom prst="roundRect">
            <a:avLst>
              <a:gd name="adj" fmla="val 10000"/>
            </a:avLst>
          </a:prstGeom>
          <a:ln w="15875">
            <a:solidFill>
              <a:srgbClr val="0EA5E9"/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370832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200" b="1" i="0">
                <a:solidFill>
                  <a:srgbClr val="1E3A8A"/>
                </a:solidFill>
                <a:latin typeface="Segoe UI"/>
              </a:rPr>
              <a:t>Campaign Tracking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325112"/>
            <a:ext cx="4005072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37997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Closed-loop screening campaigns with live dashboards drive physician ordering and patient follow-through.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93208"/>
            <a:ext cx="3931920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38928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3A8A"/>
                </a:solidFill>
                <a:latin typeface="Segoe UI"/>
              </a:rPr>
              <a:t>Real-world evidence gap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5093208"/>
            <a:ext cx="3063240" cy="713232"/>
          </a:xfrm>
          <a:prstGeom prst="roundRect">
            <a:avLst>
              <a:gd name="adj" fmla="val 10000"/>
            </a:avLst>
          </a:prstGeom>
          <a:ln w="15875">
            <a:solidFill>
              <a:srgbClr val="0EA5E9"/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5138928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200" b="1" i="0">
                <a:solidFill>
                  <a:srgbClr val="1E3A8A"/>
                </a:solidFill>
                <a:latin typeface="Segoe UI"/>
              </a:rPr>
              <a:t>Patient Profile (HIE)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5093208"/>
            <a:ext cx="4005072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5148072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360° longitudinal records generate real-world outcomes data for payers, guidelines and label expansion.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861304"/>
            <a:ext cx="3931920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907024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3A8A"/>
                </a:solidFill>
                <a:latin typeface="Segoe UI"/>
              </a:rPr>
              <a:t>Payer value &amp; pipeline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26280" y="5861304"/>
            <a:ext cx="3063240" cy="713232"/>
          </a:xfrm>
          <a:prstGeom prst="roundRect">
            <a:avLst>
              <a:gd name="adj" fmla="val 10000"/>
            </a:avLst>
          </a:prstGeom>
          <a:ln w="15875">
            <a:solidFill>
              <a:srgbClr val="0EA5E9"/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5907024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200" b="1" i="0">
                <a:solidFill>
                  <a:srgbClr val="1E3A8A"/>
                </a:solidFill>
                <a:latin typeface="Segoe UI"/>
              </a:rPr>
              <a:t>Simulation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5861304"/>
            <a:ext cx="4005072" cy="713232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5916168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5"/>
                </a:solidFill>
                <a:latin typeface="Segoe UI"/>
              </a:rPr>
              <a:t>Digital-twin engine models biopsy-avoidance ROI for payer dossiers and forecasts new SIA biomarker programs.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5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High-Value Use Cases for Cleveland Diagnostics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011680"/>
            <a:ext cx="3657600" cy="169164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011680"/>
            <a:ext cx="365760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267712"/>
            <a:ext cx="502920" cy="5029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860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26771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3A8A"/>
                </a:solidFill>
                <a:latin typeface="Segoe UI"/>
              </a:rPr>
              <a:t>Population-scale demand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52928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Screen millions of longitudinal records to surface every IsoPSA-eligible man and route them to ordering providers — a continuous, self-refilling top of funnel.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011680"/>
            <a:ext cx="3657600" cy="169164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6552" y="2011680"/>
            <a:ext cx="365760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45152" y="2267712"/>
            <a:ext cx="502920" cy="5029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22860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26771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3A8A"/>
                </a:solidFill>
                <a:latin typeface="Segoe UI"/>
              </a:rPr>
              <a:t>Reflex screening pathway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2852928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Elevated PSA in primary care automatically triggers an IsoPSA reflex recommendation, closing the gap between lab result and risk-stratified biopsy decision.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4" y="2011680"/>
            <a:ext cx="3657600" cy="169164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30184" y="2011680"/>
            <a:ext cx="365760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58784" y="2267712"/>
            <a:ext cx="502920" cy="5029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2860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226771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3A8A"/>
                </a:solidFill>
                <a:latin typeface="Segoe UI"/>
              </a:rPr>
              <a:t>Real-world evidence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6" y="2852928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HIE-powered outcomes tracking builds the peer-review-grade real-world dataset payers and guideline committees require for coverage and inclusion.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31920"/>
            <a:ext cx="3657600" cy="169164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931920"/>
            <a:ext cx="365760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1879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3A8A"/>
                </a:solidFill>
                <a:latin typeface="Segoe UI"/>
              </a:rPr>
              <a:t>Payer value modeling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773168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Simulate biopsy-avoidance and cost savings per population to arm reimbursement negotiations with quantified, defensible ROI.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6552" y="3931920"/>
            <a:ext cx="3657600" cy="169164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16552" y="3931920"/>
            <a:ext cx="365760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45152" y="4187952"/>
            <a:ext cx="502920" cy="5029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420624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5232" y="41879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3A8A"/>
                </a:solidFill>
                <a:latin typeface="Segoe UI"/>
              </a:rPr>
              <a:t>Guideline &amp; literature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2584" y="4773168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The NLP engine (2,000+ papers/month) keeps medical affairs ahead of evidence, competitors and guideline shifts in prostate diagnostics.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0184" y="3931920"/>
            <a:ext cx="3657600" cy="169164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30184" y="3931920"/>
            <a:ext cx="365760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558784" y="4187952"/>
            <a:ext cx="502920" cy="5029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58784" y="420624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64" y="41879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3A8A"/>
                </a:solidFill>
                <a:latin typeface="Segoe UI"/>
              </a:rPr>
              <a:t>Pipeline acceleration beyond IsoPSA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86216" y="4773168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Reuse Amigo's cancer focus areas + longitudinal cohorts to validate future SIA biomarkers — de-risking the single-product concentration.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What the Partnership Delivers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269748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874519"/>
            <a:ext cx="269748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3A8A"/>
                </a:solidFill>
                <a:latin typeface="Segoe UI"/>
              </a:rPr>
              <a:t>↑ 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496312"/>
            <a:ext cx="2478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>
                <a:solidFill>
                  <a:srgbClr val="64748B"/>
                </a:solidFill>
                <a:latin typeface="Segoe UI"/>
              </a:rPr>
              <a:t>More eligible patients identified and routed to IsoPSA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874519"/>
            <a:ext cx="269748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4992" y="1874519"/>
            <a:ext cx="269748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0756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3A8A"/>
                </a:solidFill>
                <a:latin typeface="Segoe UI"/>
              </a:rPr>
              <a:t>↑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96312"/>
            <a:ext cx="2478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>
                <a:solidFill>
                  <a:srgbClr val="64748B"/>
                </a:solidFill>
                <a:latin typeface="Segoe UI"/>
              </a:rPr>
              <a:t>Closed-loop campaigns lift provider ordering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874519"/>
            <a:ext cx="269748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7064" y="1874519"/>
            <a:ext cx="269748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20756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3A8A"/>
                </a:solidFill>
                <a:latin typeface="Segoe UI"/>
              </a:rPr>
              <a:t>↑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496312"/>
            <a:ext cx="2478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>
                <a:solidFill>
                  <a:srgbClr val="64748B"/>
                </a:solidFill>
                <a:latin typeface="Segoe UI"/>
              </a:rPr>
              <a:t>Real-world data for payers &amp; guidelines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874519"/>
            <a:ext cx="2697480" cy="105156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9136" y="1874519"/>
            <a:ext cx="269748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20756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E3A8A"/>
                </a:solidFill>
                <a:latin typeface="Segoe UI"/>
              </a:rPr>
              <a:t>↓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2496312"/>
            <a:ext cx="2478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>
                <a:solidFill>
                  <a:srgbClr val="64748B"/>
                </a:solidFill>
                <a:latin typeface="Segoe UI"/>
              </a:rPr>
              <a:t>Pipeline diversification beyond a single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461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3A8A"/>
                </a:solidFill>
                <a:latin typeface="Segoe UI"/>
              </a:rPr>
              <a:t>A PHASED ROADMAP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611880"/>
            <a:ext cx="2761488" cy="23317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3611880"/>
            <a:ext cx="2761488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3831336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Weeks 0–6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4142232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3A8A"/>
                </a:solidFill>
                <a:latin typeface="Segoe UI"/>
              </a:rPr>
              <a:t>Deploy &amp; integrate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690872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Connect to HIE / lab feeds and stand up the eligible-patient model — Amigo deploys in as little as 6 weeks.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4348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3611880"/>
            <a:ext cx="2761488" cy="23317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3611880"/>
            <a:ext cx="2761488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0168" y="3831336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Quarter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4142232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3A8A"/>
                </a:solidFill>
                <a:latin typeface="Segoe UI"/>
              </a:rPr>
              <a:t>Reflex pathway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690872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Elevated-PSA surveillance triggers IsoPSA recommendations; first adoption campaign runs with live dashboards.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4348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611880"/>
            <a:ext cx="2761488" cy="23317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55080" y="3611880"/>
            <a:ext cx="2761488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3831336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Quarters 2–3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6248" y="4142232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3A8A"/>
                </a:solidFill>
                <a:latin typeface="Segoe UI"/>
              </a:rPr>
              <a:t>Evidence &amp; payers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8" y="4690872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Longitudinal outcomes accrue into an RWE dataset; simulation powers payer value dossiers.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44348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3611880"/>
            <a:ext cx="2761488" cy="23317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81160" y="3611880"/>
            <a:ext cx="2761488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82328" y="3831336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Quarter 4+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2328" y="4142232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3A8A"/>
                </a:solidFill>
                <a:latin typeface="Segoe UI"/>
              </a:rPr>
              <a:t>Expand the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2328" y="4690872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Extend agents to new SIA biomarkers and cancer programs across the national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Amigo — Population Health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2697480" cy="9601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938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22.2x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86584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Return on investment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783080"/>
            <a:ext cx="2697480" cy="9601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92938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6M+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386584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Patient interactions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783080"/>
            <a:ext cx="2697480" cy="9601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192938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6 wks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386584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To full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783080"/>
            <a:ext cx="2697480" cy="96012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92938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386584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Hospital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926080"/>
            <a:ext cx="5577840" cy="315468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926080"/>
            <a:ext cx="557784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54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3A8A"/>
                </a:solidFill>
                <a:latin typeface="Segoe UI"/>
              </a:rPr>
              <a:t>AI AGENT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Observation —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Live population surveillance, 24/7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50791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Risk Stratification —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Identify high-risk patients before crisis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35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Simulation —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Forecast intervention outcomes (digital twin)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0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Campaign Tracking —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Closed-loop action with live 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⚡  </a:t>
            </a:r>
            <a:r>
              <a:rPr sz="1150" b="1" i="0">
                <a:solidFill>
                  <a:srgbClr val="1E3A8A"/>
                </a:solidFill>
                <a:latin typeface="Segoe UI"/>
              </a:rPr>
              <a:t>Patient Profile —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360° longitudinal view, HIE-powered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926080"/>
            <a:ext cx="5422392" cy="315468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2926080"/>
            <a:ext cx="5422392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154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3A8A"/>
                </a:solidFill>
                <a:latin typeface="Segoe UI"/>
              </a:rPr>
              <a:t>WHY AMIGO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566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✦  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Not dashboards — AI agents that 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9502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✦  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Built on billions of longitudinal health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33425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✦  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NLP engine processing 2,000+ papers / 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183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✦  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Clinical + administrative intelligence, unified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023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✦  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8 clinical focus areas — incl. 4 cancers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5046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3A8A"/>
                </a:solidFill>
                <a:latin typeface="Segoe UI"/>
              </a:rPr>
              <a:t>SOC 2 Type II · HIPAA · GDPR · Local Data Residency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760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94A3B8"/>
                </a:solidFill>
                <a:latin typeface="Segoe UI"/>
              </a:rPr>
              <a:t>Backed by General Catalyst · Madrona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8FAFF"/>
              </a:gs>
              <a:gs pos="100000">
                <a:srgbClr val="EEF2F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E3A8A"/>
                </a:solidFill>
                <a:latin typeface="Georgia"/>
              </a:rPr>
              <a:t>Amigo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21792"/>
            <a:ext cx="777240" cy="2743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3A8A"/>
                </a:solidFill>
                <a:latin typeface="Segoe UI"/>
              </a:rPr>
              <a:t>Why Amigo for Cleveland Diagnostics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1737360"/>
            <a:ext cx="777240" cy="3200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6492240" cy="109728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649224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A5E9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3055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3A8A"/>
                </a:solidFill>
                <a:latin typeface="Segoe UI"/>
              </a:rPr>
              <a:t>Purpose-built for cancer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9631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Amigo already runs population-scale cancer focus areas — prostate risk-stratification is a natural extension, not a new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00400"/>
            <a:ext cx="6492240" cy="109728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0400"/>
            <a:ext cx="649224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A5E9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6499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3A8A"/>
                </a:solidFill>
                <a:latin typeface="Segoe UI"/>
              </a:rPr>
              <a:t>From test to standard-of-care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3075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Agents close every gap in the IsoPSA journey: find the patient, prompt the order, prove the outcome.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34840"/>
            <a:ext cx="6492240" cy="1097280"/>
          </a:xfrm>
          <a:prstGeom prst="roundRect">
            <a:avLst>
              <a:gd name="adj" fmla="val 6000"/>
            </a:avLst>
          </a:prstGeom>
          <a:ln w="9525">
            <a:solidFill>
              <a:srgbClr val="1E3A8A">
                <a:alpha val="18000"/>
              </a:srgbClr>
            </a:solidFill>
          </a:ln>
          <a:effectLst/>
          <a:gradFill>
            <a:gsLst>
              <a:gs pos="0">
                <a:srgbClr val="FFFFFF"/>
              </a:gs>
              <a:gs pos="100000">
                <a:srgbClr val="F0F5FF"/>
              </a:gs>
            </a:gsLst>
            <a:lin ang="5400000" scaled="1"/>
          </a:gradFill>
          <a:effectLst>
            <a:outerShdw blurRad="54864" dist="27432" dir="5400000" rotWithShape="0">
              <a:srgbClr val="1E3A8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6492240" cy="6400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A5E9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99431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3A8A"/>
                </a:solidFill>
                <a:latin typeface="Segoe UI"/>
              </a:rPr>
              <a:t>Proven, compliant,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6519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22.2x ROI, deployment in ~6 weeks, and SOC 2 / HIPAA / GDPR out of the 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65960"/>
            <a:ext cx="4370832" cy="3703320"/>
          </a:xfrm>
          <a:prstGeom prst="roundRect">
            <a:avLst>
              <a:gd name="adj" fmla="val 5000"/>
            </a:avLst>
          </a:prstGeom>
          <a:ln>
            <a:noFill/>
          </a:ln>
          <a:effectLst/>
          <a:gradFill>
            <a:gsLst>
              <a:gs pos="0">
                <a:srgbClr val="1E3A8A"/>
              </a:gs>
              <a:gs pos="100000">
                <a:srgbClr val="0EA5E9"/>
              </a:gs>
            </a:gsLst>
            <a:lin ang="3600000" scaled="1"/>
          </a:gradFill>
          <a:effectLst>
            <a:outerShdw blurRad="91440" dist="45720" dir="5400000" rotWithShape="0">
              <a:srgbClr val="1E3A8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377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BFE"/>
                </a:solidFill>
                <a:latin typeface="Segoe UI"/>
              </a:rPr>
              <a:t>READY TO 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74320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Prostate cancer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detection at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national scale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343400"/>
            <a:ext cx="2999232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5720" dist="27432" dir="5400000" rotWithShape="0">
              <a:srgbClr val="1E3A8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361688"/>
            <a:ext cx="299923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3A8A"/>
                </a:solidFill>
                <a:latin typeface="Segoe UI"/>
              </a:rPr>
              <a:t>Let's Meet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0749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elzoghby.elaf@amigo.ai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3949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BFDBFE"/>
                </a:solidFill>
                <a:latin typeface="Segoe UI"/>
              </a:rPr>
              <a:t>Predict.  Prevent.  Act.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Amigo  ·  Population Health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