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051560"/>
            <a:ext cx="7132320" cy="7132320"/>
          </a:xfrm>
          <a:prstGeom prst="ellipse">
            <a:avLst/>
          </a:prstGeom>
          <a:noFill/>
          <a:ln w="12700">
            <a:solidFill>
              <a:srgbClr val="B14A2B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-228600"/>
            <a:ext cx="5486400" cy="5486400"/>
          </a:xfrm>
          <a:prstGeom prst="ellipse">
            <a:avLst/>
          </a:prstGeom>
          <a:noFill/>
          <a:ln w="12700">
            <a:solidFill>
              <a:srgbClr val="B14A2B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72600" y="548640"/>
            <a:ext cx="3931920" cy="3931920"/>
          </a:xfrm>
          <a:prstGeom prst="ellipse">
            <a:avLst/>
          </a:prstGeom>
          <a:noFill/>
          <a:ln w="12700">
            <a:solidFill>
              <a:srgbClr val="B14A2B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04120" y="1280160"/>
            <a:ext cx="2468880" cy="2468880"/>
          </a:xfrm>
          <a:prstGeom prst="ellipse">
            <a:avLst/>
          </a:prstGeom>
          <a:noFill/>
          <a:ln w="12700">
            <a:solidFill>
              <a:srgbClr val="B14A2B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22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200">
                <a:solidFill>
                  <a:srgbClr val="8B8478"/>
                </a:solidFill>
                <a:latin typeface="Space Mono"/>
              </a:rPr>
              <a:t>PARTNERSHIP OPPORTUNITY  ·  AMIGO × CLEVELAND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9509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221D17"/>
                </a:solidFill>
                <a:latin typeface="Playfair Display"/>
              </a:rPr>
              <a:t>Scale IsoPSA</a:t>
            </a:r>
          </a:p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221D17"/>
                </a:solidFill>
                <a:latin typeface="Playfair Display"/>
              </a:rPr>
              <a:t>to standard of care.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977639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1">
                <a:solidFill>
                  <a:srgbClr val="B14A2B"/>
                </a:solidFill>
                <a:latin typeface="Playfair Display"/>
              </a:rPr>
              <a:t>Predict. Prevent. 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 spc="200">
                <a:solidFill>
                  <a:srgbClr val="8B8478"/>
                </a:solidFill>
                <a:latin typeface="Space Mono"/>
              </a:rPr>
              <a:t>PREPARED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20304A"/>
                </a:solidFill>
                <a:latin typeface="Playfair Display"/>
              </a:rPr>
              <a:t>Cleveland Diagnostics, Inc.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B14A2B"/>
                </a:solidFill>
                <a:latin typeface="Space Mono"/>
              </a:rPr>
              <a:t>THE 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Cleveland Diagnostics at a glance.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572768"/>
            <a:ext cx="1325880" cy="41148"/>
          </a:xfrm>
          <a:prstGeom prst="rect">
            <a:avLst/>
          </a:prstGeom>
          <a:solidFill>
            <a:srgbClr val="B1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2670048" cy="1417320"/>
          </a:xfrm>
          <a:prstGeom prst="roundRect">
            <a:avLst>
              <a:gd name="adj" fmla="val 8387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1122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B14A2B"/>
                </a:solidFill>
                <a:latin typeface="Playfair Display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624328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FDA PMA approval of IsoPSA (Dec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99815"/>
            <a:ext cx="22677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B8478"/>
                </a:solidFill>
                <a:latin typeface="Space Mono"/>
              </a:rPr>
              <a:t>FDA ·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965960"/>
            <a:ext cx="2670048" cy="1417320"/>
          </a:xfrm>
          <a:prstGeom prst="roundRect">
            <a:avLst>
              <a:gd name="adj" fmla="val 8387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94176" y="21122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20304A"/>
                </a:solidFill>
                <a:latin typeface="Playfair Display"/>
              </a:rPr>
              <a:t>$75M+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624328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Growth capital raised, led by Novo Holdings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2464" y="3099815"/>
            <a:ext cx="22677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B8478"/>
                </a:solidFill>
                <a:latin typeface="Space Mono"/>
              </a:rPr>
              <a:t>Business Wire · 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1965960"/>
            <a:ext cx="2670048" cy="1417320"/>
          </a:xfrm>
          <a:prstGeom prst="roundRect">
            <a:avLst>
              <a:gd name="adj" fmla="val 8387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1122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B14A2B"/>
                </a:solidFill>
                <a:latin typeface="Playfair Display"/>
              </a:rPr>
              <a:t>~90%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2624328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Sensitivity for high-grade cancer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099815"/>
            <a:ext cx="22677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B8478"/>
                </a:solidFill>
                <a:latin typeface="Space Mono"/>
              </a:rPr>
              <a:t>Klein et al. · 2022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1965960"/>
            <a:ext cx="2670048" cy="1417320"/>
          </a:xfrm>
          <a:prstGeom prst="roundRect">
            <a:avLst>
              <a:gd name="adj" fmla="val 8387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21122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20304A"/>
                </a:solidFill>
                <a:latin typeface="Playfair Display"/>
              </a:rPr>
              <a:t>0.78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624328"/>
            <a:ext cx="22677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Validation AUC, n≈1,093 across 8 sites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3099815"/>
            <a:ext cx="22677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B8478"/>
                </a:solidFill>
                <a:latin typeface="Space Mono"/>
              </a:rPr>
              <a:t>Urologic Oncology · 2022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11880"/>
            <a:ext cx="5513832" cy="2514600"/>
          </a:xfrm>
          <a:prstGeom prst="roundRect">
            <a:avLst>
              <a:gd name="adj" fmla="val 4727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822191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WHO THEY 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1605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1D17"/>
                </a:solidFill>
                <a:latin typeface="Playfair Display"/>
              </a:rPr>
              <a:t>Precision-oncology biotech</a:t>
            </a:r>
            <a:r>
              <a:rPr sz="950" b="0" i="0">
                <a:solidFill>
                  <a:srgbClr val="47423B"/>
                </a:solidFill>
                <a:latin typeface="Inter"/>
              </a:rPr>
              <a:t>  —  Cleveland, OH — rooted in predecessor AnalizaDx.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4636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1D17"/>
                </a:solidFill>
                <a:latin typeface="Playfair Display"/>
              </a:rPr>
              <a:t>Platform: SIA / IsoClear</a:t>
            </a:r>
            <a:r>
              <a:rPr sz="950" b="0" i="0">
                <a:solidFill>
                  <a:srgbClr val="47423B"/>
                </a:solidFill>
                <a:latin typeface="Inter"/>
              </a:rPr>
              <a:t>  —  Reads protein structure, not concentration, to find cancer isoforms.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51114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1D17"/>
                </a:solidFill>
                <a:latin typeface="Playfair Display"/>
              </a:rPr>
              <a:t>Lead product: IsoPSA</a:t>
            </a:r>
            <a:r>
              <a:rPr sz="950" b="0" i="0">
                <a:solidFill>
                  <a:srgbClr val="47423B"/>
                </a:solidFill>
                <a:latin typeface="Inter"/>
              </a:rPr>
              <a:t>  —  Stratifies high-grade prostate-cancer risk; aids the biopsy decision.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1D17"/>
                </a:solidFill>
                <a:latin typeface="Playfair Display"/>
              </a:rPr>
              <a:t>New CEO</a:t>
            </a:r>
            <a:r>
              <a:rPr sz="950" b="0" i="0">
                <a:solidFill>
                  <a:srgbClr val="47423B"/>
                </a:solidFill>
                <a:latin typeface="Inter"/>
              </a:rPr>
              <a:t>  —  Michael Iskra (Jan 2026), to drive commercial scale-up.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73368" y="3611880"/>
            <a:ext cx="5148072" cy="2514600"/>
          </a:xfrm>
          <a:prstGeom prst="roundRect">
            <a:avLst>
              <a:gd name="adj" fmla="val 4727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1112" y="3822191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EVIDENCE &amp; POSITIONING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416052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14A2B"/>
                </a:solidFill>
                <a:latin typeface="Inter"/>
              </a:rPr>
              <a:t>→  </a:t>
            </a:r>
            <a:r>
              <a:rPr sz="1050" b="0" i="0">
                <a:solidFill>
                  <a:srgbClr val="47423B"/>
                </a:solidFill>
                <a:latin typeface="Inter"/>
              </a:rPr>
              <a:t>Prospective, multicenter validation (Klein et al., 2022)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14A2B"/>
                </a:solidFill>
                <a:latin typeface="Inter"/>
              </a:rPr>
              <a:t>→  </a:t>
            </a:r>
            <a:r>
              <a:rPr sz="1050" b="0" i="0">
                <a:solidFill>
                  <a:srgbClr val="47423B"/>
                </a:solidFill>
                <a:latin typeface="Inter"/>
              </a:rPr>
              <a:t>Beat total PSA and % free PSA on AUC and specificity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11112" y="492861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14A2B"/>
                </a:solidFill>
                <a:latin typeface="Inter"/>
              </a:rPr>
              <a:t>→  </a:t>
            </a:r>
            <a:r>
              <a:rPr sz="1050" b="0" i="0">
                <a:solidFill>
                  <a:srgbClr val="47423B"/>
                </a:solidFill>
                <a:latin typeface="Inter"/>
              </a:rPr>
              <a:t>SUO 2025: accuracy shown with and without mpMRI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53126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14A2B"/>
                </a:solidFill>
                <a:latin typeface="Inter"/>
              </a:rPr>
              <a:t>→  </a:t>
            </a:r>
            <a:r>
              <a:rPr sz="1050" b="0" i="0">
                <a:solidFill>
                  <a:srgbClr val="47423B"/>
                </a:solidFill>
                <a:latin typeface="Inter"/>
              </a:rPr>
              <a:t>Competes with mpMRI pathways, 4Kscore, PHI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574243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8B8478"/>
                </a:solidFill>
                <a:latin typeface="Inter"/>
              </a:rPr>
              <a:t>Single product today — SIA platform can extend to other cancers.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B14A2B"/>
                </a:solidFill>
                <a:latin typeface="Space Mono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The approval is won.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The scale-up isn't.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2139696"/>
            <a:ext cx="1325880" cy="41148"/>
          </a:xfrm>
          <a:prstGeom prst="rect">
            <a:avLst/>
          </a:prstGeom>
          <a:solidFill>
            <a:srgbClr val="B1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47423B"/>
                </a:solidFill>
                <a:latin typeface="Inter"/>
              </a:rPr>
              <a:t>Turning a validated test into standard-of-care at national scale is now the binding constraint.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97480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880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181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1D17"/>
                </a:solidFill>
                <a:latin typeface="Playfair Display"/>
              </a:rPr>
              <a:t>Commercial scale-up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52044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From a niche lab-developed test to nationwide IVD adoption — a salesforce can't reach every urologist and PCP.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7" y="2697480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880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31181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1D17"/>
                </a:solidFill>
                <a:latin typeface="Playfair Display"/>
              </a:rPr>
              <a:t>Patient identification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352044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Eligible men (50+, rising PSA) surface in primary care, where risk-stratification is inconsistent and IsoPSA is rarely top-of-mind.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697480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2880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31181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1D17"/>
                </a:solidFill>
                <a:latin typeface="Playfair Display"/>
              </a:rPr>
              <a:t>Adoption &amp; reimbursement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3520440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Ordering behavior is hard to shift; payer coverage remains unclear and slows the funnel.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471416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6542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1D17"/>
                </a:solidFill>
                <a:latin typeface="Playfair Display"/>
              </a:rPr>
              <a:t>Real-world evidence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294376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Payers and guideline bodies want real-world outcomes; key data (SUO 2025) is conference-stage, not yet peer-reviewed.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7" y="4471416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46542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4892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1D17"/>
                </a:solidFill>
                <a:latin typeface="Playfair Display"/>
              </a:rPr>
              <a:t>Competitive pressure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7" y="5294376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mpMRI pathways, 4Kscore and PHI compete for the same biopsy-decision moment — differentiation must be re-proven.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4471416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46542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48920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1D17"/>
                </a:solidFill>
                <a:latin typeface="Playfair Display"/>
              </a:rPr>
              <a:t>Single-product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5294376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Revenue rests entirely on IsoPSA; pipeline expansion needs large longitudinal datasets and validation partners.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B14A2B"/>
                </a:solidFill>
                <a:latin typeface="Space Mono"/>
              </a:rPr>
              <a:t>THE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Every gap maps to an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572768"/>
            <a:ext cx="1325880" cy="41148"/>
          </a:xfrm>
          <a:prstGeom prst="rect">
            <a:avLst/>
          </a:prstGeom>
          <a:solidFill>
            <a:srgbClr val="B1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1488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PAIN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14884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AMIGO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488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HOW IT SOLVES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78024"/>
            <a:ext cx="10881360" cy="18288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60904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1D17"/>
                </a:solidFill>
                <a:latin typeface="Playfair Display"/>
              </a:rPr>
              <a:t>Finding eligible patients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1648" y="2660904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4A2B"/>
                </a:solidFill>
                <a:latin typeface="Inter"/>
              </a:rPr>
              <a:t>▸ </a:t>
            </a:r>
            <a:r>
              <a:rPr sz="1250" b="0" i="0">
                <a:solidFill>
                  <a:srgbClr val="20304A"/>
                </a:solidFill>
                <a:latin typeface="Playfair Display"/>
              </a:rPr>
              <a:t>Risk Stratification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60904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Predictive scoring flags men 50+ with rising PSA across the population — a ready, self-refilling demand funnel for IsoPSA.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337560"/>
            <a:ext cx="10881360" cy="10972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10712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1D17"/>
                </a:solidFill>
                <a:latin typeface="Playfair Display"/>
              </a:rPr>
              <a:t>Patients slip through primary 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1648" y="3410712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4A2B"/>
                </a:solidFill>
                <a:latin typeface="Inter"/>
              </a:rPr>
              <a:t>▸ </a:t>
            </a:r>
            <a:r>
              <a:rPr sz="1250" b="0" i="0">
                <a:solidFill>
                  <a:srgbClr val="20304A"/>
                </a:solidFill>
                <a:latin typeface="Playfair Display"/>
              </a:rPr>
              <a:t>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410712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24/7 surveillance detects newly elevated PSA labs in real time and prompts an IsoPSA recommendation at the point of care.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087368"/>
            <a:ext cx="10881360" cy="10972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160520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1D17"/>
                </a:solidFill>
                <a:latin typeface="Playfair Display"/>
              </a:rPr>
              <a:t>Adoption &amp; ordering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160520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4A2B"/>
                </a:solidFill>
                <a:latin typeface="Inter"/>
              </a:rPr>
              <a:t>▸ </a:t>
            </a:r>
            <a:r>
              <a:rPr sz="1250" b="0" i="0">
                <a:solidFill>
                  <a:srgbClr val="20304A"/>
                </a:solidFill>
                <a:latin typeface="Playfair Display"/>
              </a:rPr>
              <a:t>Campaign Tracking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60520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Closed-loop screening campaigns with live dashboards drive physician ordering and patient follow-through.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837176"/>
            <a:ext cx="10881360" cy="10972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910328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1D17"/>
                </a:solidFill>
                <a:latin typeface="Playfair Display"/>
              </a:rPr>
              <a:t>Real-world evidence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4910328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4A2B"/>
                </a:solidFill>
                <a:latin typeface="Inter"/>
              </a:rPr>
              <a:t>▸ </a:t>
            </a:r>
            <a:r>
              <a:rPr sz="1250" b="0" i="0">
                <a:solidFill>
                  <a:srgbClr val="20304A"/>
                </a:solidFill>
                <a:latin typeface="Playfair Display"/>
              </a:rPr>
              <a:t>Patient Profile (HIE)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910328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360° longitudinal records generate real-world outcomes data for payers, guidelines and label expansion.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586984"/>
            <a:ext cx="10881360" cy="10972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660136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1D17"/>
                </a:solidFill>
                <a:latin typeface="Playfair Display"/>
              </a:rPr>
              <a:t>Payer value &amp;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41648" y="5660136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4A2B"/>
                </a:solidFill>
                <a:latin typeface="Inter"/>
              </a:rPr>
              <a:t>▸ </a:t>
            </a:r>
            <a:r>
              <a:rPr sz="1250" b="0" i="0">
                <a:solidFill>
                  <a:srgbClr val="20304A"/>
                </a:solidFill>
                <a:latin typeface="Playfair Display"/>
              </a:rPr>
              <a:t>Simulation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660136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Digital-twin engine models biopsy-avoidance ROI for payer dossiers and forecasts new SIA biomarker programs.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B14A2B"/>
                </a:solidFill>
                <a:latin typeface="Space Mono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Where the value compounds.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572768"/>
            <a:ext cx="1325880" cy="41148"/>
          </a:xfrm>
          <a:prstGeom prst="rect">
            <a:avLst/>
          </a:prstGeom>
          <a:solidFill>
            <a:srgbClr val="B1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32304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21D17"/>
                </a:solidFill>
                <a:latin typeface="Playfair Display"/>
              </a:rPr>
              <a:t>Population-scale demand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4436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Screen millions of longitudinal records to surface every IsoPSA-eligible man and route them to ordering providers.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011680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1945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432304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21D17"/>
                </a:solidFill>
                <a:latin typeface="Playfair Display"/>
              </a:rPr>
              <a:t>Reflex screening pathway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4436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Elevated PSA in primary care auto-triggers an IsoPSA reflex recommendation — closing the gap from lab result to biopsy decision.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011680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8" y="21945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432304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21D17"/>
                </a:solidFill>
                <a:latin typeface="Playfair Display"/>
              </a:rPr>
              <a:t>Real-world evidence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94436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HIE-powered outcomes tracking builds the peer-review-grade RWE dataset payers and guideline committees require.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85616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9684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2062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21D17"/>
                </a:solidFill>
                <a:latin typeface="Playfair Display"/>
              </a:rPr>
              <a:t>Payer value modeling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1830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Simulate biopsy-avoidance and cost savings per population to arm reimbursement negotiations with defensible ROI.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7" y="3785616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7" y="39684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7" y="42062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21D17"/>
                </a:solidFill>
                <a:latin typeface="Playfair Display"/>
              </a:rPr>
              <a:t>Guideline &amp; literature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471830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The NLP engine keeps medical affairs ahead of evidence, competitors and guideline shifts in prostate diagnostics.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56448" y="3785616"/>
            <a:ext cx="3566160" cy="1572768"/>
          </a:xfrm>
          <a:prstGeom prst="roundRect">
            <a:avLst>
              <a:gd name="adj" fmla="val 755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96849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 spc="100">
                <a:solidFill>
                  <a:srgbClr val="B14A2B"/>
                </a:solidFill>
                <a:latin typeface="Space Mono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20624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21D17"/>
                </a:solidFill>
                <a:latin typeface="Playfair Display"/>
              </a:rPr>
              <a:t>Pipeline acceleration beyond IsoPSA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471830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969" b="0" i="0">
                <a:solidFill>
                  <a:srgbClr val="47423B"/>
                </a:solidFill>
                <a:latin typeface="Inter"/>
              </a:rPr>
              <a:t>Reuse Amigo's cancer cohorts and longitudinal data to validate future SIA biomarkers — de-risking single-product reliance.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B14A2B"/>
                </a:solidFill>
                <a:latin typeface="Space Mono"/>
              </a:rPr>
              <a:t>THE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From first agent to national screening reach.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572768"/>
            <a:ext cx="1325880" cy="41148"/>
          </a:xfrm>
          <a:prstGeom prst="rect">
            <a:avLst/>
          </a:prstGeom>
          <a:solidFill>
            <a:srgbClr val="B1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14600"/>
            <a:ext cx="2670048" cy="2331720"/>
          </a:xfrm>
          <a:prstGeom prst="roundRect">
            <a:avLst>
              <a:gd name="adj" fmla="val 509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7157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00">
                <a:solidFill>
                  <a:srgbClr val="B14A2B"/>
                </a:solidFill>
                <a:latin typeface="Space Mono"/>
              </a:rPr>
              <a:t>PHASE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266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304A"/>
                </a:solidFill>
                <a:latin typeface="Playfair Display"/>
              </a:rPr>
              <a:t>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93591"/>
            <a:ext cx="22494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47423B"/>
                </a:solidFill>
                <a:latin typeface="Inter"/>
              </a:rPr>
              <a:t>Co-define eligible-patient criteria and map HIE / lab data foundations with the clinical team.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507992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00">
                <a:solidFill>
                  <a:srgbClr val="8B8478"/>
                </a:solidFill>
                <a:latin typeface="Space Mono"/>
              </a:rPr>
              <a:t>WEEKS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7" y="33832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14A2B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2514600"/>
            <a:ext cx="2670048" cy="2331720"/>
          </a:xfrm>
          <a:prstGeom prst="roundRect">
            <a:avLst>
              <a:gd name="adj" fmla="val 509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2464" y="27157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00">
                <a:solidFill>
                  <a:srgbClr val="B14A2B"/>
                </a:solidFill>
                <a:latin typeface="Space Mono"/>
              </a:rPr>
              <a:t>PHASE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30266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304A"/>
                </a:solidFill>
                <a:latin typeface="Playfair Display"/>
              </a:rPr>
              <a:t>First agent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4" y="3593591"/>
            <a:ext cx="22494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47423B"/>
                </a:solidFill>
                <a:latin typeface="Inter"/>
              </a:rPr>
              <a:t>Risk-stratification model runs on real data — 70–80% pre-built, the rest calibrated to the population.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2464" y="4507992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00">
                <a:solidFill>
                  <a:srgbClr val="8B8478"/>
                </a:solidFill>
                <a:latin typeface="Space Mono"/>
              </a:rPr>
              <a:t>~6 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33832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14A2B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2514600"/>
            <a:ext cx="2670048" cy="2331720"/>
          </a:xfrm>
          <a:prstGeom prst="roundRect">
            <a:avLst>
              <a:gd name="adj" fmla="val 509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27157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00">
                <a:solidFill>
                  <a:srgbClr val="B14A2B"/>
                </a:solidFill>
                <a:latin typeface="Space Mono"/>
              </a:rPr>
              <a:t>PHASE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30266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304A"/>
                </a:solidFill>
                <a:latin typeface="Playfair Display"/>
              </a:rPr>
              <a:t>Reflex &amp; campaigns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3593591"/>
            <a:ext cx="22494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47423B"/>
                </a:solidFill>
                <a:latin typeface="Inter"/>
              </a:rPr>
              <a:t>Elevated-PSA surveillance triggers IsoPSA prompts; adoption campaigns run with live dashboards.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4507992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00">
                <a:solidFill>
                  <a:srgbClr val="8B8478"/>
                </a:solidFill>
                <a:latin typeface="Space Mono"/>
              </a:rPr>
              <a:t>QUARTERS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3383280"/>
            <a:ext cx="292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14A2B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2514600"/>
            <a:ext cx="2670048" cy="2331720"/>
          </a:xfrm>
          <a:prstGeom prst="roundRect">
            <a:avLst>
              <a:gd name="adj" fmla="val 5098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744" y="27157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00">
                <a:solidFill>
                  <a:srgbClr val="B14A2B"/>
                </a:solidFill>
                <a:latin typeface="Space Mono"/>
              </a:rPr>
              <a:t>PHASE 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3026664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304A"/>
                </a:solidFill>
                <a:latin typeface="Playfair Display"/>
              </a:rPr>
              <a:t>Evidence &amp; expand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744" y="3593591"/>
            <a:ext cx="22494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47423B"/>
                </a:solidFill>
                <a:latin typeface="Inter"/>
              </a:rPr>
              <a:t>RWE accrues for payers; simulation powers value dossiers; extend to new SIA biomarkers.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744" y="4507992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00">
                <a:solidFill>
                  <a:srgbClr val="8B8478"/>
                </a:solidFill>
                <a:latin typeface="Space Mono"/>
              </a:rPr>
              <a:t>ONGOING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074920"/>
            <a:ext cx="10881360" cy="18288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30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1D17"/>
                </a:solidFill>
                <a:latin typeface="Playfair Display"/>
              </a:rPr>
              <a:t>Deployment in ~6 weeks</a:t>
            </a:r>
            <a:r>
              <a:rPr sz="1200" b="0" i="0">
                <a:solidFill>
                  <a:srgbClr val="47423B"/>
                </a:solidFill>
                <a:latin typeface="Inter"/>
              </a:rPr>
              <a:t>  ·  no model reaches production without clinical sign-off. We ship the loop — find the patient, prompt the order, prove the outcome.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8B8478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B14A2B"/>
                </a:solidFill>
                <a:latin typeface="Space Mono"/>
              </a:rPr>
              <a:t>THE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50976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21D17"/>
                </a:solidFill>
                <a:latin typeface="Playfair Display"/>
              </a:rPr>
              <a:t>Amigo — population health intelligence.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572768"/>
            <a:ext cx="1325880" cy="41148"/>
          </a:xfrm>
          <a:prstGeom prst="rect">
            <a:avLst/>
          </a:prstGeom>
          <a:solidFill>
            <a:srgbClr val="B1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3529584" cy="2011680"/>
          </a:xfrm>
          <a:prstGeom prst="roundRect">
            <a:avLst>
              <a:gd name="adj" fmla="val 5909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50008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01 · 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51760"/>
            <a:ext cx="31638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20304A"/>
                </a:solidFill>
                <a:latin typeface="Playfair Display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Live surveillance and risk stratification across a whole population — down to district, cohort and individual.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4" y="29260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14A2B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5" y="2148840"/>
            <a:ext cx="3529584" cy="2011680"/>
          </a:xfrm>
          <a:prstGeom prst="roundRect">
            <a:avLst>
              <a:gd name="adj" fmla="val 5909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350008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02 · 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1638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20304A"/>
                </a:solidFill>
                <a:latin typeface="Playfair Display"/>
              </a:rPr>
              <a:t>Prevent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200400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Simulate interventions before you spend — quantify the cost of inaction and rank options by return.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9260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14A2B"/>
                </a:solidFill>
                <a:latin typeface="Inte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148840"/>
            <a:ext cx="3529584" cy="2011680"/>
          </a:xfrm>
          <a:prstGeom prst="roundRect">
            <a:avLst>
              <a:gd name="adj" fmla="val 5909"/>
            </a:avLst>
          </a:prstGeom>
          <a:solidFill>
            <a:srgbClr val="F7F3EC"/>
          </a:solidFill>
          <a:ln w="12700">
            <a:solidFill>
              <a:srgbClr val="E1DACF"/>
            </a:solidFill>
          </a:ln>
          <a:effectLst/>
          <a:effectLst>
            <a:outerShdw blurRad="45720" dist="25603" dir="5400000" rotWithShape="0">
              <a:srgbClr val="221D17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350008"/>
            <a:ext cx="3163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spc="150">
                <a:solidFill>
                  <a:srgbClr val="B14A2B"/>
                </a:solidFill>
                <a:latin typeface="Space Mono"/>
              </a:rPr>
              <a:t>03 · 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651760"/>
            <a:ext cx="31638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20304A"/>
                </a:solidFill>
                <a:latin typeface="Playfair Display"/>
              </a:rPr>
              <a:t>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200400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47423B"/>
                </a:solidFill>
                <a:latin typeface="Inter"/>
              </a:rPr>
              <a:t>Launch the campaign, then track forecast-versus-observed in real time — closed-loop, not a data lake.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3159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 spc="200">
                <a:solidFill>
                  <a:srgbClr val="8B8478"/>
                </a:solidFill>
                <a:latin typeface="Space Mono"/>
              </a:rPr>
              <a:t>OUTCOMES FEED BACK INTO PREDICTION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90288"/>
            <a:ext cx="10881360" cy="10972"/>
          </a:xfrm>
          <a:prstGeom prst="rect">
            <a:avLst/>
          </a:prstGeom>
          <a:solidFill>
            <a:srgbClr val="E1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3529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 spc="150">
                <a:solidFill>
                  <a:srgbClr val="B14A2B"/>
                </a:solidFill>
                <a:latin typeface="Space Mono"/>
              </a:rPr>
              <a:t>WHO WE 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102352"/>
            <a:ext cx="3392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A healthcare-AI infrastructure company — safe, reliable AI across the care spectrum. Not a chatbot vendor.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4828032"/>
            <a:ext cx="3529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 spc="150">
                <a:solidFill>
                  <a:srgbClr val="B14A2B"/>
                </a:solidFill>
                <a:latin typeface="Space Mono"/>
              </a:rPr>
              <a:t>PROVEN AT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5102352"/>
            <a:ext cx="3392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22.2x ROI · 6M+ patient interactions · deploys in ~6 weeks · SOC 2 · HIPAA · GDPR.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4" y="4828032"/>
            <a:ext cx="3529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 spc="150">
                <a:solidFill>
                  <a:srgbClr val="B14A2B"/>
                </a:solidFill>
                <a:latin typeface="Space Mono"/>
              </a:rPr>
              <a:t>BACKED BY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5102352"/>
            <a:ext cx="3392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7423B"/>
                </a:solidFill>
                <a:latin typeface="Inter"/>
              </a:rPr>
              <a:t>General Catalyst · Madrona · United Healthcare / Optum Ventures.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C3BEB6"/>
                </a:solidFill>
                <a:latin typeface="Space Mono"/>
              </a:rPr>
              <a:t>AMIGO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65215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C3BEB6"/>
                </a:solidFill>
                <a:latin typeface="Space Mono"/>
              </a:rPr>
              <a:t>POPULATION HEALTH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spc="200">
                <a:solidFill>
                  <a:srgbClr val="CF9783"/>
                </a:solidFill>
                <a:latin typeface="Space Mono"/>
              </a:rPr>
              <a:t>THE INVITATION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FEAE2"/>
                </a:solidFill>
                <a:latin typeface="Playfair Display"/>
              </a:rPr>
              <a:t>From a validated test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FEAE2"/>
                </a:solidFill>
                <a:latin typeface="Playfair Display"/>
              </a:rPr>
              <a:t>to a screening engine you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2880360"/>
            <a:ext cx="1325880" cy="41148"/>
          </a:xfrm>
          <a:prstGeom prst="rect">
            <a:avLst/>
          </a:prstGeom>
          <a:solidFill>
            <a:srgbClr val="CF97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3BEB6"/>
                </a:solidFill>
                <a:latin typeface="Inter"/>
              </a:rPr>
              <a:t>The evidence is settled and IsoPSA is approved. The missing piece is execution — finding the patient, prompting the order, and proving the outcome, as one closed loop built on population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343400"/>
            <a:ext cx="3529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 spc="150">
                <a:solidFill>
                  <a:srgbClr val="CF9783"/>
                </a:solidFill>
                <a:latin typeface="Space Mono"/>
              </a:rPr>
              <a:t>WHY AMIGO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36008"/>
            <a:ext cx="3392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3BEB6"/>
                </a:solidFill>
                <a:latin typeface="Inter"/>
              </a:rPr>
              <a:t>Purpose-built for population-scale cancer screening — prostate risk-stratification is an extension, not a new build.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4255" y="4343400"/>
            <a:ext cx="3529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 spc="150">
                <a:solidFill>
                  <a:srgbClr val="CF9783"/>
                </a:solidFill>
                <a:latin typeface="Space Mono"/>
              </a:rPr>
              <a:t>WHAT'S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5" y="4636008"/>
            <a:ext cx="3392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3BEB6"/>
                </a:solidFill>
                <a:latin typeface="Inter"/>
              </a:rPr>
              <a:t>A workshop to scope eligible-patient criteria, then a first agent live on real data in ~6 weeks.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4343400"/>
            <a:ext cx="3529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 spc="150">
                <a:solidFill>
                  <a:srgbClr val="CF9783"/>
                </a:solidFill>
                <a:latin typeface="Space Mono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636008"/>
            <a:ext cx="3392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9783"/>
                </a:solidFill>
                <a:latin typeface="Space Mono"/>
              </a:rPr>
              <a:t>elzoghby.elaf@amigo.ai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06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EFEAE2"/>
                </a:solidFill>
                <a:latin typeface="Playfair Display"/>
              </a:rPr>
              <a:t>Let's build the screening engine for prostate cancer.  </a:t>
            </a:r>
            <a:r>
              <a:rPr sz="1800" b="0" i="0">
                <a:solidFill>
                  <a:srgbClr val="CF9783"/>
                </a:solidFill>
                <a:latin typeface="Playfair Display"/>
              </a:rPr>
              <a:t>amigo.ai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 spc="150">
                <a:solidFill>
                  <a:srgbClr val="C3BEB6"/>
                </a:solidFill>
                <a:latin typeface="Space Mono"/>
              </a:rPr>
              <a:t>AMIGO ·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